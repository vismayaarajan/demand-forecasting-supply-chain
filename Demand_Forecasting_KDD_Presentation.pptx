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4010DEE-1FF8-4E4F-157E-57BF021948AF}">
          <p14:sldIdLst>
            <p14:sldId id="256"/>
          </p14:sldIdLst>
        </p14:section>
        <p14:section name="Context" id="{506A0DA3-7DC6-33F9-437E-DFDEE7413A8A}">
          <p14:sldIdLst>
            <p14:sldId id="257"/>
            <p14:sldId id="258"/>
          </p14:sldIdLst>
        </p14:section>
        <p14:section name="Method" id="{83D40E69-4E87-330F-7331-C2B430EFD18C}">
          <p14:sldIdLst>
            <p14:sldId id="259"/>
            <p14:sldId id="260"/>
            <p14:sldId id="261"/>
            <p14:sldId id="262"/>
          </p14:sldIdLst>
        </p14:section>
        <p14:section name="Results" id="{A95C3B8C-97CD-CA00-EEFF-A9304B43DDD8}">
          <p14:sldIdLst>
            <p14:sldId id="263"/>
            <p14:sldId id="264"/>
            <p14:sldId id="265"/>
            <p14:sldId id="266"/>
            <p14:sldId id="267"/>
          </p14:sldIdLst>
        </p14:section>
        <p14:section name="Synthesis" id="{1DCE306F-C7AD-FBF9-F5CB-CC183ECDA0F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4" d="100"/>
          <a:sy n="84" d="100"/>
        </p:scale>
        <p:origin x="1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WAPE (%)</c:v>
                </c:pt>
              </c:strCache>
            </c:strRef>
          </c:tx>
          <c:spPr>
            <a:solidFill>
              <a:srgbClr val="D9674F"/>
            </a:solidFill>
            <a:effectLst/>
          </c:spPr>
          <c:invertIfNegative val="0"/>
          <c:dPt>
            <c:idx val="0"/>
            <c:invertIfNegative val="0"/>
            <c:bubble3D val="0"/>
            <c:extLst>
              <c:ext xmlns:c16="http://schemas.microsoft.com/office/drawing/2014/chart" uri="{C3380CC4-5D6E-409C-BE32-E72D297353CC}">
                <c16:uniqueId val="{00000001-B1B4-4B9A-921A-4199929A64F6}"/>
              </c:ext>
            </c:extLst>
          </c:dPt>
          <c:dPt>
            <c:idx val="1"/>
            <c:invertIfNegative val="0"/>
            <c:bubble3D val="0"/>
            <c:spPr>
              <a:solidFill>
                <a:srgbClr val="1F3D2E"/>
              </a:solidFill>
              <a:effectLst/>
            </c:spPr>
            <c:extLst>
              <c:ext xmlns:c16="http://schemas.microsoft.com/office/drawing/2014/chart" uri="{C3380CC4-5D6E-409C-BE32-E72D297353CC}">
                <c16:uniqueId val="{00000003-B1B4-4B9A-921A-4199929A64F6}"/>
              </c:ext>
            </c:extLst>
          </c:dPt>
          <c:dPt>
            <c:idx val="2"/>
            <c:invertIfNegative val="0"/>
            <c:bubble3D val="0"/>
            <c:spPr>
              <a:solidFill>
                <a:srgbClr val="1F3D2E"/>
              </a:solidFill>
              <a:effectLst/>
            </c:spPr>
            <c:extLst>
              <c:ext xmlns:c16="http://schemas.microsoft.com/office/drawing/2014/chart" uri="{C3380CC4-5D6E-409C-BE32-E72D297353CC}">
                <c16:uniqueId val="{00000005-B1B4-4B9A-921A-4199929A64F6}"/>
              </c:ext>
            </c:extLst>
          </c:dPt>
          <c:dPt>
            <c:idx val="3"/>
            <c:invertIfNegative val="0"/>
            <c:bubble3D val="0"/>
            <c:spPr>
              <a:solidFill>
                <a:srgbClr val="1F3D2E"/>
              </a:solidFill>
              <a:effectLst/>
            </c:spPr>
            <c:extLst>
              <c:ext xmlns:c16="http://schemas.microsoft.com/office/drawing/2014/chart" uri="{C3380CC4-5D6E-409C-BE32-E72D297353CC}">
                <c16:uniqueId val="{00000007-B1B4-4B9A-921A-4199929A64F6}"/>
              </c:ext>
            </c:extLst>
          </c:dPt>
          <c:dPt>
            <c:idx val="4"/>
            <c:invertIfNegative val="0"/>
            <c:bubble3D val="0"/>
            <c:spPr>
              <a:solidFill>
                <a:srgbClr val="1F3D2E"/>
              </a:solidFill>
              <a:effectLst/>
            </c:spPr>
            <c:extLst>
              <c:ext xmlns:c16="http://schemas.microsoft.com/office/drawing/2014/chart" uri="{C3380CC4-5D6E-409C-BE32-E72D297353CC}">
                <c16:uniqueId val="{00000009-B1B4-4B9A-921A-4199929A64F6}"/>
              </c:ext>
            </c:extLst>
          </c:dPt>
          <c:dLbls>
            <c:numFmt formatCode="0.00&quot;%&quot;" sourceLinked="0"/>
            <c:spPr>
              <a:noFill/>
              <a:ln>
                <a:noFill/>
              </a:ln>
              <a:effectLst/>
            </c:spPr>
            <c:txPr>
              <a:bodyPr/>
              <a:lstStyle/>
              <a:p>
                <a:pPr>
                  <a:defRPr sz="1400" b="1"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Extra Trees</c:v>
                </c:pt>
                <c:pt idx="1">
                  <c:v>Gradient Boosting</c:v>
                </c:pt>
                <c:pt idx="2">
                  <c:v>Random Forest</c:v>
                </c:pt>
                <c:pt idx="3">
                  <c:v>Decision Tree</c:v>
                </c:pt>
                <c:pt idx="4">
                  <c:v>Linear Regression</c:v>
                </c:pt>
              </c:strCache>
            </c:strRef>
          </c:cat>
          <c:val>
            <c:numRef>
              <c:f>Sheet1!$B$2:$B$6</c:f>
              <c:numCache>
                <c:formatCode>General</c:formatCode>
                <c:ptCount val="5"/>
                <c:pt idx="0">
                  <c:v>1.834913</c:v>
                </c:pt>
                <c:pt idx="1">
                  <c:v>2.0355799999999999</c:v>
                </c:pt>
                <c:pt idx="2">
                  <c:v>2.059266</c:v>
                </c:pt>
                <c:pt idx="3">
                  <c:v>2.8286470000000001</c:v>
                </c:pt>
                <c:pt idx="4">
                  <c:v>3.6509260000000001</c:v>
                </c:pt>
              </c:numCache>
            </c:numRef>
          </c:val>
          <c:extLst>
            <c:ext xmlns:c16="http://schemas.microsoft.com/office/drawing/2014/chart" uri="{C3380CC4-5D6E-409C-BE32-E72D297353CC}">
              <c16:uniqueId val="{0000000A-B1B4-4B9A-921A-4199929A64F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2B2B"/>
                </a:solidFill>
                <a:latin typeface="+mn-lt"/>
              </a:defRPr>
            </a:pPr>
            <a:endParaRPr lang="en-US"/>
          </a:p>
        </c:txPr>
        <c:crossAx val="2094734552"/>
        <c:crosses val="autoZero"/>
        <c:auto val="1"/>
        <c:lblAlgn val="ctr"/>
        <c:lblOffset val="100"/>
        <c:noMultiLvlLbl val="1"/>
      </c:catAx>
      <c:valAx>
        <c:axId val="2094734552"/>
        <c:scaling>
          <c:orientation val="minMax"/>
          <c:max val="4.3811112000000003"/>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WAPE (%)</c:v>
                </c:pt>
              </c:strCache>
            </c:strRef>
          </c:tx>
          <c:spPr>
            <a:solidFill>
              <a:srgbClr val="D9674F"/>
            </a:solidFill>
            <a:effectLst/>
          </c:spPr>
          <c:invertIfNegative val="0"/>
          <c:dPt>
            <c:idx val="0"/>
            <c:invertIfNegative val="0"/>
            <c:bubble3D val="0"/>
            <c:extLst>
              <c:ext xmlns:c16="http://schemas.microsoft.com/office/drawing/2014/chart" uri="{C3380CC4-5D6E-409C-BE32-E72D297353CC}">
                <c16:uniqueId val="{00000001-CC61-457A-938F-1F6DEDD80591}"/>
              </c:ext>
            </c:extLst>
          </c:dPt>
          <c:dPt>
            <c:idx val="1"/>
            <c:invertIfNegative val="0"/>
            <c:bubble3D val="0"/>
            <c:spPr>
              <a:solidFill>
                <a:srgbClr val="1F3D2E"/>
              </a:solidFill>
              <a:effectLst/>
            </c:spPr>
            <c:extLst>
              <c:ext xmlns:c16="http://schemas.microsoft.com/office/drawing/2014/chart" uri="{C3380CC4-5D6E-409C-BE32-E72D297353CC}">
                <c16:uniqueId val="{00000003-CC61-457A-938F-1F6DEDD80591}"/>
              </c:ext>
            </c:extLst>
          </c:dPt>
          <c:dPt>
            <c:idx val="2"/>
            <c:invertIfNegative val="0"/>
            <c:bubble3D val="0"/>
            <c:spPr>
              <a:solidFill>
                <a:srgbClr val="1F3D2E"/>
              </a:solidFill>
              <a:effectLst/>
            </c:spPr>
            <c:extLst>
              <c:ext xmlns:c16="http://schemas.microsoft.com/office/drawing/2014/chart" uri="{C3380CC4-5D6E-409C-BE32-E72D297353CC}">
                <c16:uniqueId val="{00000005-CC61-457A-938F-1F6DEDD80591}"/>
              </c:ext>
            </c:extLst>
          </c:dPt>
          <c:dPt>
            <c:idx val="3"/>
            <c:invertIfNegative val="0"/>
            <c:bubble3D val="0"/>
            <c:spPr>
              <a:solidFill>
                <a:srgbClr val="1F3D2E"/>
              </a:solidFill>
              <a:effectLst/>
            </c:spPr>
            <c:extLst>
              <c:ext xmlns:c16="http://schemas.microsoft.com/office/drawing/2014/chart" uri="{C3380CC4-5D6E-409C-BE32-E72D297353CC}">
                <c16:uniqueId val="{00000007-CC61-457A-938F-1F6DEDD80591}"/>
              </c:ext>
            </c:extLst>
          </c:dPt>
          <c:dPt>
            <c:idx val="4"/>
            <c:invertIfNegative val="0"/>
            <c:bubble3D val="0"/>
            <c:spPr>
              <a:solidFill>
                <a:srgbClr val="1F3D2E"/>
              </a:solidFill>
              <a:effectLst/>
            </c:spPr>
            <c:extLst>
              <c:ext xmlns:c16="http://schemas.microsoft.com/office/drawing/2014/chart" uri="{C3380CC4-5D6E-409C-BE32-E72D297353CC}">
                <c16:uniqueId val="{00000009-CC61-457A-938F-1F6DEDD80591}"/>
              </c:ext>
            </c:extLst>
          </c:dPt>
          <c:dLbls>
            <c:numFmt formatCode="0.00&quot;%&quot;" sourceLinked="0"/>
            <c:spPr>
              <a:noFill/>
              <a:ln>
                <a:noFill/>
              </a:ln>
              <a:effectLst/>
            </c:spPr>
            <c:txPr>
              <a:bodyPr/>
              <a:lstStyle/>
              <a:p>
                <a:pPr>
                  <a:defRPr sz="1400" b="1"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Extra Trees</c:v>
                </c:pt>
                <c:pt idx="1">
                  <c:v>Random Forest</c:v>
                </c:pt>
                <c:pt idx="2">
                  <c:v>Gradient Boosting</c:v>
                </c:pt>
                <c:pt idx="3">
                  <c:v>Decision Tree</c:v>
                </c:pt>
                <c:pt idx="4">
                  <c:v>Linear Regression</c:v>
                </c:pt>
              </c:strCache>
            </c:strRef>
          </c:cat>
          <c:val>
            <c:numRef>
              <c:f>Sheet1!$B$2:$B$6</c:f>
              <c:numCache>
                <c:formatCode>General</c:formatCode>
                <c:ptCount val="5"/>
                <c:pt idx="0">
                  <c:v>10.945489999999999</c:v>
                </c:pt>
                <c:pt idx="1">
                  <c:v>11.354011</c:v>
                </c:pt>
                <c:pt idx="2">
                  <c:v>12.330863000000001</c:v>
                </c:pt>
                <c:pt idx="3">
                  <c:v>13.758088000000001</c:v>
                </c:pt>
                <c:pt idx="4">
                  <c:v>21.175477999999998</c:v>
                </c:pt>
              </c:numCache>
            </c:numRef>
          </c:val>
          <c:extLst>
            <c:ext xmlns:c16="http://schemas.microsoft.com/office/drawing/2014/chart" uri="{C3380CC4-5D6E-409C-BE32-E72D297353CC}">
              <c16:uniqueId val="{0000000A-CC61-457A-938F-1F6DEDD80591}"/>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2B2B"/>
                </a:solidFill>
                <a:latin typeface="+mn-lt"/>
              </a:defRPr>
            </a:pPr>
            <a:endParaRPr lang="en-US"/>
          </a:p>
        </c:txPr>
        <c:crossAx val="2094734552"/>
        <c:crosses val="autoZero"/>
        <c:auto val="1"/>
        <c:lblAlgn val="ctr"/>
        <c:lblOffset val="100"/>
        <c:noMultiLvlLbl val="1"/>
      </c:catAx>
      <c:valAx>
        <c:axId val="2094734552"/>
        <c:scaling>
          <c:orientation val="minMax"/>
          <c:max val="25.41057359999999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610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forecasting daily retail demand with five regression models across two datasets, structured by the six KDD steps. Replace the PRN placeholder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problem and the three questions the project answers.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Item Demand has item-level daily sales per store; Rossmann has store-level daily sales with promotion and holiday flags. Mean values come from the describe() output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Fayyad et al. KDD process applied to both datasets. Steps 1 and 2 are covered together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selects the two datasets; step 2 finds no missing values or duplicates, so only dates are converted.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daily series start on 2013-01-15 after the 14-day lag is applied. Training and validation counts follow int(0.8 x n): 1,449 + 363 and 742 + 186. Coral segment = validation window.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 is trained independently on each dataset's training window with the same eight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selects the best model by sorting on MAE; the other three metrics confirm the ranking.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model for Store Item Demand is Extra Trees. Validation window is calendar year 2017 (chart from the original notebook, restyled to the deck palette).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model for Rossmann is Extra Trees. Validation window runs to 2015-07-31 (chart from the original notebook, restyled). The Open/Promo explanation is an interpretation: those columns were not in the feature set.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middle places differ: Gradient Boosting is second on Store Item Demand, Random Forest second on Rossmann. Coral bar = best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Improvements computed from the notebook metrics: MAE 540.58 vs 599.70 (9.9%) and 724,881 vs 751,936 (3.6%); RMSE 898.45 vs 929.09 (3.3%) and 1,332,483 vs 1,434,824 (7.1%); MAE vs Linear Regression 1,075.59 (49.7%) and 1,402,377 (48.3%).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research summary. References are standard sources for the KDD process, the algorithms, the library and the two Kaggle datasets.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ID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6419088"/>
            <a:ext cx="11091672" cy="0"/>
          </a:xfrm>
          <a:prstGeom prst="line">
            <a:avLst/>
          </a:prstGeom>
          <a:noFill/>
          <a:ln w="9525">
            <a:solidFill>
              <a:schemeClr val="accent3"/>
            </a:solidFill>
            <a:prstDash val="solid"/>
          </a:ln>
        </p:spPr>
      </p:sp>
      <p:sp>
        <p:nvSpPr>
          <p:cNvPr id="3" name="Text 1"/>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Demand Forecasting for Supply Chain Optimization  |  KDD Project</a:t>
            </a:r>
            <a:endParaRPr lang="en-US" sz="1000" dirty="0"/>
          </a:p>
        </p:txBody>
      </p:sp>
      <p:sp>
        <p:nvSpPr>
          <p:cNvPr id="4" name="Text 2"/>
          <p:cNvSpPr/>
          <p:nvPr/>
        </p:nvSpPr>
        <p:spPr>
          <a:xfrm>
            <a:off x="11155680" y="6473952"/>
            <a:ext cx="484632" cy="274320"/>
          </a:xfrm>
          <a:prstGeom prst="rect">
            <a:avLst/>
          </a:prstGeom>
          <a:noFill/>
          <a:ln/>
        </p:spPr>
        <p:txBody>
          <a:bodyPr wrap="square" lIns="0" tIns="0" rIns="0" bIns="0" rtlCol="0" anchor="ctr"/>
          <a:lstStyle/>
          <a:p>
            <a:pPr marL="0" indent="0" algn="l">
              <a:buNone/>
            </a:pPr>
            <a:r>
              <a:rPr lang="en-US" sz="1000" dirty="0">
                <a:solidFill>
                  <a:schemeClr val="accent5"/>
                </a:solidFill>
              </a:rPr>
              <a:t>/ 13</a:t>
            </a:r>
            <a:endParaRPr lang="en-US" sz="1000" dirty="0"/>
          </a:p>
        </p:txBody>
      </p:sp>
      <p:sp>
        <p:nvSpPr>
          <p:cNvPr id="5" name="Text 3"/>
          <p:cNvSpPr>
            <a:spLocks noGrp="1"/>
          </p:cNvSpPr>
          <p:nvPr>
            <p:ph idx="103" hasCustomPrompt="1"/>
          </p:nvPr>
        </p:nvSpPr>
        <p:spPr>
          <a:xfrm>
            <a:off x="548640" y="777240"/>
            <a:ext cx="11091672" cy="1005840"/>
          </a:xfrm>
          <a:prstGeom prst="rect">
            <a:avLst/>
          </a:prstGeom>
          <a:noFill/>
          <a:ln/>
        </p:spPr>
        <p:txBody>
          <a:bodyPr wrap="square" rtlCol="0"/>
          <a:lstStyle>
            <a:lvl1pPr marL="0" indent="0">
              <a:buNone/>
              <a:defRPr lang="en-US" sz="3200" b="1" dirty="0">
                <a:solidFill>
                  <a:schemeClr val="tx1"/>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ARROW">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6419088"/>
            <a:ext cx="11091672" cy="0"/>
          </a:xfrm>
          <a:prstGeom prst="line">
            <a:avLst/>
          </a:prstGeom>
          <a:noFill/>
          <a:ln w="9525">
            <a:solidFill>
              <a:schemeClr val="accent3"/>
            </a:solidFill>
            <a:prstDash val="solid"/>
          </a:ln>
        </p:spPr>
      </p:sp>
      <p:sp>
        <p:nvSpPr>
          <p:cNvPr id="3" name="Text 1"/>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Demand Forecasting for Supply Chain Optimization  |  KDD Project</a:t>
            </a:r>
            <a:endParaRPr lang="en-US" sz="1000" dirty="0"/>
          </a:p>
        </p:txBody>
      </p:sp>
      <p:sp>
        <p:nvSpPr>
          <p:cNvPr id="4" name="Text 2"/>
          <p:cNvSpPr/>
          <p:nvPr/>
        </p:nvSpPr>
        <p:spPr>
          <a:xfrm>
            <a:off x="11155680" y="6473952"/>
            <a:ext cx="484632" cy="274320"/>
          </a:xfrm>
          <a:prstGeom prst="rect">
            <a:avLst/>
          </a:prstGeom>
          <a:noFill/>
          <a:ln/>
        </p:spPr>
        <p:txBody>
          <a:bodyPr wrap="square" lIns="0" tIns="0" rIns="0" bIns="0" rtlCol="0" anchor="ctr"/>
          <a:lstStyle/>
          <a:p>
            <a:pPr marL="0" indent="0" algn="l">
              <a:buNone/>
            </a:pPr>
            <a:r>
              <a:rPr lang="en-US" sz="1000" dirty="0">
                <a:solidFill>
                  <a:schemeClr val="accent5"/>
                </a:solidFill>
              </a:rPr>
              <a:t>/ 13</a:t>
            </a:r>
            <a:endParaRPr lang="en-US" sz="1000" dirty="0"/>
          </a:p>
        </p:txBody>
      </p:sp>
      <p:sp>
        <p:nvSpPr>
          <p:cNvPr id="5" name="Text 3"/>
          <p:cNvSpPr>
            <a:spLocks noGrp="1"/>
          </p:cNvSpPr>
          <p:nvPr>
            <p:ph idx="103" hasCustomPrompt="1"/>
          </p:nvPr>
        </p:nvSpPr>
        <p:spPr>
          <a:xfrm>
            <a:off x="548640" y="777240"/>
            <a:ext cx="6400800" cy="2377440"/>
          </a:xfrm>
          <a:prstGeom prst="rect">
            <a:avLst/>
          </a:prstGeom>
          <a:noFill/>
          <a:ln/>
        </p:spPr>
        <p:txBody>
          <a:bodyPr wrap="square" rtlCol="0"/>
          <a:lstStyle>
            <a:lvl1pPr marL="0" indent="0">
              <a:buNone/>
              <a:defRPr lang="en-US" sz="3200" b="1" dirty="0">
                <a:solidFill>
                  <a:schemeClr val="tx1"/>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IGHTPANEL">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6419088"/>
            <a:ext cx="11091672" cy="0"/>
          </a:xfrm>
          <a:prstGeom prst="line">
            <a:avLst/>
          </a:prstGeom>
          <a:noFill/>
          <a:ln w="9525">
            <a:solidFill>
              <a:schemeClr val="accent3"/>
            </a:solidFill>
            <a:prstDash val="solid"/>
          </a:ln>
        </p:spPr>
      </p:sp>
      <p:sp>
        <p:nvSpPr>
          <p:cNvPr id="3" name="Text 1"/>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Demand Forecasting for Supply Chain Optimization  |  KDD Project</a:t>
            </a:r>
            <a:endParaRPr lang="en-US" sz="1000" dirty="0"/>
          </a:p>
        </p:txBody>
      </p:sp>
      <p:sp>
        <p:nvSpPr>
          <p:cNvPr id="4" name="Text 2"/>
          <p:cNvSpPr/>
          <p:nvPr/>
        </p:nvSpPr>
        <p:spPr>
          <a:xfrm>
            <a:off x="11155680" y="6473952"/>
            <a:ext cx="484632" cy="274320"/>
          </a:xfrm>
          <a:prstGeom prst="rect">
            <a:avLst/>
          </a:prstGeom>
          <a:noFill/>
          <a:ln/>
        </p:spPr>
        <p:txBody>
          <a:bodyPr wrap="square" lIns="0" tIns="0" rIns="0" bIns="0" rtlCol="0" anchor="ctr"/>
          <a:lstStyle/>
          <a:p>
            <a:pPr marL="0" indent="0" algn="l">
              <a:buNone/>
            </a:pPr>
            <a:r>
              <a:rPr lang="en-US" sz="1000" dirty="0">
                <a:solidFill>
                  <a:schemeClr val="accent5"/>
                </a:solidFill>
              </a:rPr>
              <a:t>/ 13</a:t>
            </a:r>
            <a:endParaRPr lang="en-US" sz="1000" dirty="0"/>
          </a:p>
        </p:txBody>
      </p:sp>
      <p:sp>
        <p:nvSpPr>
          <p:cNvPr id="5" name="Text 3"/>
          <p:cNvSpPr>
            <a:spLocks noGrp="1"/>
          </p:cNvSpPr>
          <p:nvPr>
            <p:ph idx="103" hasCustomPrompt="1"/>
          </p:nvPr>
        </p:nvSpPr>
        <p:spPr>
          <a:xfrm>
            <a:off x="4846320" y="777240"/>
            <a:ext cx="6793992" cy="1005840"/>
          </a:xfrm>
          <a:prstGeom prst="rect">
            <a:avLst/>
          </a:prstGeom>
          <a:noFill/>
          <a:ln/>
        </p:spPr>
        <p:txBody>
          <a:bodyPr wrap="square" rtlCol="0"/>
          <a:lstStyle>
            <a:lvl1pPr marL="0" indent="0">
              <a:buNone/>
              <a:defRPr lang="en-US" sz="3200" b="1" dirty="0">
                <a:solidFill>
                  <a:schemeClr val="tx1"/>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ver kicker"/>
          <p:cNvSpPr txBox="1"/>
          <p:nvPr/>
        </p:nvSpPr>
        <p:spPr>
          <a:xfrm>
            <a:off x="640080" y="685800"/>
            <a:ext cx="5669280" cy="274320"/>
          </a:xfrm>
          <a:prstGeom prst="rect">
            <a:avLst/>
          </a:prstGeom>
          <a:noFill/>
          <a:ln/>
        </p:spPr>
        <p:txBody>
          <a:bodyPr wrap="square" lIns="0" tIns="0" rIns="0" bIns="0" rtlCol="0" anchor="ctr"/>
          <a:lstStyle/>
          <a:p>
            <a:pPr marL="0" indent="0">
              <a:buNone/>
            </a:pPr>
            <a:r>
              <a:rPr lang="en-US" sz="1300" b="1" kern="0" spc="300" dirty="0">
                <a:solidFill>
                  <a:schemeClr val="accent2"/>
                </a:solidFill>
                <a:latin typeface="Calibri" pitchFamily="34" charset="0"/>
                <a:ea typeface="Calibri" pitchFamily="34" charset="-122"/>
                <a:cs typeface="Calibri" pitchFamily="34" charset="-120"/>
              </a:rPr>
              <a:t>PREDICTIVE ANALYTICS  |  KDD METHODOLOGY</a:t>
            </a:r>
            <a:endParaRPr lang="en-US" sz="1300" dirty="0"/>
          </a:p>
        </p:txBody>
      </p:sp>
      <p:sp>
        <p:nvSpPr>
          <p:cNvPr id="3" name="Cover title"/>
          <p:cNvSpPr txBox="1"/>
          <p:nvPr/>
        </p:nvSpPr>
        <p:spPr>
          <a:xfrm>
            <a:off x="640080" y="1188720"/>
            <a:ext cx="5577840" cy="2286000"/>
          </a:xfrm>
          <a:prstGeom prst="rect">
            <a:avLst/>
          </a:prstGeom>
          <a:noFill/>
          <a:ln/>
        </p:spPr>
        <p:txBody>
          <a:bodyPr wrap="square" lIns="0" tIns="0" rIns="0" bIns="0" rtlCol="0" anchor="t"/>
          <a:lstStyle/>
          <a:p>
            <a:pPr marL="0" indent="0">
              <a:buNone/>
            </a:pPr>
            <a:r>
              <a:rPr lang="en-US" sz="4400" b="1" dirty="0">
                <a:solidFill>
                  <a:schemeClr val="bg1"/>
                </a:solidFill>
                <a:latin typeface="Cambria" pitchFamily="34" charset="0"/>
                <a:ea typeface="Cambria" pitchFamily="34" charset="-122"/>
                <a:cs typeface="Cambria" pitchFamily="34" charset="-120"/>
              </a:rPr>
              <a:t>Demand Forecasting for Supply Chain Optimization</a:t>
            </a:r>
            <a:endParaRPr lang="en-US" sz="4400" dirty="0"/>
          </a:p>
        </p:txBody>
      </p:sp>
      <p:sp>
        <p:nvSpPr>
          <p:cNvPr id="4" name="Cover subtitle"/>
          <p:cNvSpPr txBox="1"/>
          <p:nvPr/>
        </p:nvSpPr>
        <p:spPr>
          <a:xfrm>
            <a:off x="640080" y="3383280"/>
            <a:ext cx="5577840" cy="457200"/>
          </a:xfrm>
          <a:prstGeom prst="rect">
            <a:avLst/>
          </a:prstGeom>
          <a:noFill/>
          <a:ln/>
        </p:spPr>
        <p:txBody>
          <a:bodyPr wrap="square" lIns="0" tIns="0" rIns="0" bIns="0" rtlCol="0" anchor="ctr"/>
          <a:lstStyle/>
          <a:p>
            <a:pPr marL="0" indent="0">
              <a:buNone/>
            </a:pPr>
            <a:r>
              <a:rPr lang="en-US" sz="2400" i="1" dirty="0">
                <a:solidFill>
                  <a:schemeClr val="bg2"/>
                </a:solidFill>
                <a:latin typeface="Cambria" pitchFamily="34" charset="0"/>
                <a:ea typeface="Cambria" pitchFamily="34" charset="-122"/>
                <a:cs typeface="Cambria" pitchFamily="34" charset="-120"/>
              </a:rPr>
              <a:t>Using Historical Sales Data</a:t>
            </a:r>
            <a:endParaRPr lang="en-US" sz="2400" dirty="0"/>
          </a:p>
        </p:txBody>
      </p:sp>
      <p:sp>
        <p:nvSpPr>
          <p:cNvPr id="5" name="Shape 3"/>
          <p:cNvSpPr/>
          <p:nvPr/>
        </p:nvSpPr>
        <p:spPr>
          <a:xfrm>
            <a:off x="640080" y="4572000"/>
            <a:ext cx="2011680" cy="0"/>
          </a:xfrm>
          <a:prstGeom prst="line">
            <a:avLst/>
          </a:prstGeom>
          <a:noFill/>
          <a:ln w="31750">
            <a:solidFill>
              <a:schemeClr val="accent2"/>
            </a:solidFill>
            <a:prstDash val="solid"/>
          </a:ln>
        </p:spPr>
      </p:sp>
      <p:sp>
        <p:nvSpPr>
          <p:cNvPr id="6" name="Presenter name"/>
          <p:cNvSpPr txBox="1"/>
          <p:nvPr/>
        </p:nvSpPr>
        <p:spPr>
          <a:xfrm>
            <a:off x="640080" y="4709160"/>
            <a:ext cx="4572000" cy="411480"/>
          </a:xfrm>
          <a:prstGeom prst="rect">
            <a:avLst/>
          </a:prstGeom>
          <a:noFill/>
          <a:ln/>
        </p:spPr>
        <p:txBody>
          <a:bodyPr wrap="square" lIns="0" tIns="0" rIns="0" bIns="0" rtlCol="0" anchor="ctr"/>
          <a:lstStyle/>
          <a:p>
            <a:pPr marL="0" indent="0">
              <a:buNone/>
            </a:pPr>
            <a:r>
              <a:rPr lang="en-US" sz="2200" b="1" dirty="0" err="1" smtClean="0">
                <a:solidFill>
                  <a:schemeClr val="bg1"/>
                </a:solidFill>
                <a:latin typeface="Calibri" pitchFamily="34" charset="0"/>
                <a:ea typeface="Calibri" pitchFamily="34" charset="-122"/>
                <a:cs typeface="Calibri" pitchFamily="34" charset="-120"/>
              </a:rPr>
              <a:t>Vismayaa</a:t>
            </a:r>
            <a:r>
              <a:rPr lang="en-US" sz="2200" b="1" dirty="0" smtClean="0">
                <a:solidFill>
                  <a:schemeClr val="bg1"/>
                </a:solidFill>
                <a:latin typeface="Calibri" pitchFamily="34" charset="0"/>
                <a:ea typeface="Calibri" pitchFamily="34" charset="-122"/>
                <a:cs typeface="Calibri" pitchFamily="34" charset="-120"/>
              </a:rPr>
              <a:t> </a:t>
            </a:r>
            <a:r>
              <a:rPr lang="en-US" sz="2200" b="1" dirty="0" err="1" smtClean="0">
                <a:solidFill>
                  <a:schemeClr val="bg1"/>
                </a:solidFill>
                <a:latin typeface="Calibri" pitchFamily="34" charset="0"/>
                <a:ea typeface="Calibri" pitchFamily="34" charset="-122"/>
                <a:cs typeface="Calibri" pitchFamily="34" charset="-120"/>
              </a:rPr>
              <a:t>Rajan</a:t>
            </a:r>
            <a:endParaRPr lang="en-US" sz="2200" dirty="0"/>
          </a:p>
        </p:txBody>
      </p:sp>
      <p:sp>
        <p:nvSpPr>
          <p:cNvPr id="7" name="Presenter PRN"/>
          <p:cNvSpPr txBox="1"/>
          <p:nvPr/>
        </p:nvSpPr>
        <p:spPr>
          <a:xfrm>
            <a:off x="640080" y="5086348"/>
            <a:ext cx="4572000" cy="365760"/>
          </a:xfrm>
          <a:prstGeom prst="rect">
            <a:avLst/>
          </a:prstGeom>
          <a:noFill/>
          <a:ln/>
        </p:spPr>
        <p:txBody>
          <a:bodyPr wrap="square" lIns="0" tIns="0" rIns="0" bIns="0" rtlCol="0" anchor="ctr"/>
          <a:lstStyle/>
          <a:p>
            <a:pPr marL="0" indent="0">
              <a:buNone/>
            </a:pPr>
            <a:r>
              <a:rPr lang="en-US" sz="1600" dirty="0">
                <a:solidFill>
                  <a:schemeClr val="bg2"/>
                </a:solidFill>
                <a:latin typeface="Calibri" pitchFamily="34" charset="0"/>
                <a:ea typeface="Calibri" pitchFamily="34" charset="-122"/>
                <a:cs typeface="Calibri" pitchFamily="34" charset="-120"/>
              </a:rPr>
              <a:t>PRN: </a:t>
            </a:r>
            <a:r>
              <a:rPr lang="en-US" sz="1600" dirty="0" smtClean="0">
                <a:solidFill>
                  <a:schemeClr val="bg2"/>
                </a:solidFill>
                <a:latin typeface="Calibri" pitchFamily="34" charset="0"/>
                <a:ea typeface="Calibri" pitchFamily="34" charset="-122"/>
                <a:cs typeface="Calibri" pitchFamily="34" charset="-120"/>
              </a:rPr>
              <a:t>23070521169</a:t>
            </a:r>
            <a:endParaRPr lang="en-US" sz="1600" dirty="0"/>
          </a:p>
        </p:txBody>
      </p:sp>
      <p:sp>
        <p:nvSpPr>
          <p:cNvPr id="8" name="Cover datasets"/>
          <p:cNvSpPr txBox="1"/>
          <p:nvPr/>
        </p:nvSpPr>
        <p:spPr>
          <a:xfrm>
            <a:off x="640080" y="3931920"/>
            <a:ext cx="5577840" cy="320040"/>
          </a:xfrm>
          <a:prstGeom prst="rect">
            <a:avLst/>
          </a:prstGeom>
          <a:noFill/>
          <a:ln/>
        </p:spPr>
        <p:txBody>
          <a:bodyPr wrap="square" lIns="0" tIns="0" rIns="0" bIns="0" rtlCol="0" anchor="ctr"/>
          <a:lstStyle/>
          <a:p>
            <a:pPr marL="0" indent="0">
              <a:buNone/>
            </a:pPr>
            <a:r>
              <a:rPr lang="en-US" sz="1400" dirty="0">
                <a:solidFill>
                  <a:schemeClr val="accent3"/>
                </a:solidFill>
                <a:latin typeface="Calibri" pitchFamily="34" charset="0"/>
                <a:ea typeface="Calibri" pitchFamily="34" charset="-122"/>
                <a:cs typeface="Calibri" pitchFamily="34" charset="-120"/>
              </a:rPr>
              <a:t>Datasets: Store Item Demand Forecasting  and  Rossmann Store Sales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01  THE PROBLEM</a:t>
            </a:r>
            <a:endParaRPr lang="en-US" sz="1200" dirty="0"/>
          </a:p>
        </p:txBody>
      </p:sp>
      <p:sp>
        <p:nvSpPr>
          <p:cNvPr id="4" name="Text 3"/>
          <p:cNvSpPr>
            <a:spLocks noGrp="1"/>
          </p:cNvSpPr>
          <p:nvPr>
            <p:ph idx="103" hasCustomPrompt="1"/>
          </p:nvPr>
        </p:nvSpPr>
        <p:spPr>
          <a:xfrm>
            <a:off x="548640" y="777240"/>
            <a:ext cx="6400800" cy="23774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Forecast errors surface as empty shelves or idle stock</a:t>
            </a:r>
            <a:endParaRPr lang="en-US" sz="3200" dirty="0"/>
          </a:p>
        </p:txBody>
      </p:sp>
      <p:sp>
        <p:nvSpPr>
          <p:cNvPr id="5" name="Objective paragraph"/>
          <p:cNvSpPr txBox="1"/>
          <p:nvPr/>
        </p:nvSpPr>
        <p:spPr>
          <a:xfrm>
            <a:off x="548640" y="2286000"/>
            <a:ext cx="6309360" cy="146304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Retail supply chains depend on knowing how much will sell, and when. This project analyses historical retail sales, identifies demand patterns, builds and compares machine learning regression models, and evaluates them to support inventory management and supply chain planning.</a:t>
            </a:r>
            <a:endParaRPr lang="en-US" sz="1600" dirty="0"/>
          </a:p>
        </p:txBody>
      </p:sp>
      <p:sp>
        <p:nvSpPr>
          <p:cNvPr id="6" name="Shape 4"/>
          <p:cNvSpPr/>
          <p:nvPr/>
        </p:nvSpPr>
        <p:spPr>
          <a:xfrm>
            <a:off x="548640" y="4114800"/>
            <a:ext cx="6309360" cy="0"/>
          </a:xfrm>
          <a:prstGeom prst="line">
            <a:avLst/>
          </a:prstGeom>
          <a:noFill/>
          <a:ln w="9525">
            <a:solidFill>
              <a:schemeClr val="accent3"/>
            </a:solidFill>
            <a:prstDash val="solid"/>
          </a:ln>
        </p:spPr>
      </p:sp>
      <p:sp>
        <p:nvSpPr>
          <p:cNvPr id="7" name="Text 5"/>
          <p:cNvSpPr txBox="1"/>
          <p:nvPr/>
        </p:nvSpPr>
        <p:spPr>
          <a:xfrm>
            <a:off x="548640" y="4206240"/>
            <a:ext cx="457200" cy="457200"/>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1097280" y="4206240"/>
            <a:ext cx="576072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Which demand patterns repeat in historical sales?</a:t>
            </a:r>
            <a:endParaRPr lang="en-US" sz="1600" dirty="0"/>
          </a:p>
        </p:txBody>
      </p:sp>
      <p:sp>
        <p:nvSpPr>
          <p:cNvPr id="9" name="Shape 7"/>
          <p:cNvSpPr/>
          <p:nvPr/>
        </p:nvSpPr>
        <p:spPr>
          <a:xfrm>
            <a:off x="548640" y="4800600"/>
            <a:ext cx="6309360" cy="0"/>
          </a:xfrm>
          <a:prstGeom prst="line">
            <a:avLst/>
          </a:prstGeom>
          <a:noFill/>
          <a:ln w="9525">
            <a:solidFill>
              <a:schemeClr val="accent3"/>
            </a:solidFill>
            <a:prstDash val="solid"/>
          </a:ln>
        </p:spPr>
      </p:sp>
      <p:sp>
        <p:nvSpPr>
          <p:cNvPr id="10" name="Text 8"/>
          <p:cNvSpPr txBox="1"/>
          <p:nvPr/>
        </p:nvSpPr>
        <p:spPr>
          <a:xfrm>
            <a:off x="548640" y="4892040"/>
            <a:ext cx="457200" cy="457200"/>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1097280" y="4892040"/>
            <a:ext cx="576072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Which regression model forecasts them most accurately?</a:t>
            </a:r>
            <a:endParaRPr lang="en-US" sz="1600" dirty="0"/>
          </a:p>
        </p:txBody>
      </p:sp>
      <p:sp>
        <p:nvSpPr>
          <p:cNvPr id="12" name="Shape 10"/>
          <p:cNvSpPr/>
          <p:nvPr/>
        </p:nvSpPr>
        <p:spPr>
          <a:xfrm>
            <a:off x="548640" y="5486400"/>
            <a:ext cx="6309360" cy="0"/>
          </a:xfrm>
          <a:prstGeom prst="line">
            <a:avLst/>
          </a:prstGeom>
          <a:noFill/>
          <a:ln w="9525">
            <a:solidFill>
              <a:schemeClr val="accent3"/>
            </a:solidFill>
            <a:prstDash val="solid"/>
          </a:ln>
        </p:spPr>
      </p:sp>
      <p:sp>
        <p:nvSpPr>
          <p:cNvPr id="13" name="Text 11"/>
          <p:cNvSpPr txBox="1"/>
          <p:nvPr/>
        </p:nvSpPr>
        <p:spPr>
          <a:xfrm>
            <a:off x="548640" y="5577840"/>
            <a:ext cx="457200" cy="457200"/>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1097280" y="5577840"/>
            <a:ext cx="576072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How does that accuracy support inventory planning?</a:t>
            </a:r>
            <a:endParaRPr lang="en-US" sz="1600" dirty="0"/>
          </a:p>
        </p:txBody>
      </p:sp>
      <p:sp>
        <p:nvSpPr>
          <p:cNvPr id="15" name="Forest panel"/>
          <p:cNvSpPr/>
          <p:nvPr/>
        </p:nvSpPr>
        <p:spPr>
          <a:xfrm>
            <a:off x="7589520" y="0"/>
            <a:ext cx="4599432" cy="6419088"/>
          </a:xfrm>
          <a:prstGeom prst="rect">
            <a:avLst/>
          </a:prstGeom>
          <a:solidFill>
            <a:schemeClr val="tx2"/>
          </a:solidFill>
          <a:ln w="12700">
            <a:solidFill>
              <a:schemeClr val="tx2"/>
            </a:solidFill>
            <a:prstDash val="solid"/>
          </a:ln>
        </p:spPr>
      </p:sp>
      <p:sp>
        <p:nvSpPr>
          <p:cNvPr id="16" name="Text 14"/>
          <p:cNvSpPr txBox="1"/>
          <p:nvPr/>
        </p:nvSpPr>
        <p:spPr>
          <a:xfrm>
            <a:off x="8138160" y="731520"/>
            <a:ext cx="1280160" cy="1188720"/>
          </a:xfrm>
          <a:prstGeom prst="rect">
            <a:avLst/>
          </a:prstGeom>
          <a:noFill/>
          <a:ln/>
        </p:spPr>
        <p:txBody>
          <a:bodyPr wrap="square" lIns="0" tIns="0" rIns="0" bIns="0" rtlCol="0" anchor="ctr"/>
          <a:lstStyle/>
          <a:p>
            <a:pPr marL="0" indent="0">
              <a:buNone/>
            </a:pPr>
            <a:r>
              <a:rPr lang="en-US" sz="8000" b="1" dirty="0">
                <a:solidFill>
                  <a:schemeClr val="accent2"/>
                </a:solidFill>
                <a:latin typeface="Cambria" pitchFamily="34" charset="0"/>
                <a:ea typeface="Cambria" pitchFamily="34" charset="-122"/>
                <a:cs typeface="Cambria" pitchFamily="34" charset="-120"/>
              </a:rPr>
              <a:t>2</a:t>
            </a:r>
            <a:endParaRPr lang="en-US" sz="8000" dirty="0"/>
          </a:p>
        </p:txBody>
      </p:sp>
      <p:sp>
        <p:nvSpPr>
          <p:cNvPr id="17" name="Text 15"/>
          <p:cNvSpPr txBox="1"/>
          <p:nvPr/>
        </p:nvSpPr>
        <p:spPr>
          <a:xfrm>
            <a:off x="9326880" y="822960"/>
            <a:ext cx="2468880" cy="10058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retail datasets, 913,000 and 1,017,209 records</a:t>
            </a:r>
            <a:endParaRPr lang="en-US" sz="1600" dirty="0"/>
          </a:p>
        </p:txBody>
      </p:sp>
      <p:sp>
        <p:nvSpPr>
          <p:cNvPr id="18" name="Shape 16"/>
          <p:cNvSpPr/>
          <p:nvPr/>
        </p:nvSpPr>
        <p:spPr>
          <a:xfrm>
            <a:off x="8138160" y="2240280"/>
            <a:ext cx="3566160" cy="0"/>
          </a:xfrm>
          <a:prstGeom prst="line">
            <a:avLst/>
          </a:prstGeom>
          <a:noFill/>
          <a:ln w="6350">
            <a:solidFill>
              <a:schemeClr val="accent3"/>
            </a:solidFill>
            <a:prstDash val="solid"/>
          </a:ln>
        </p:spPr>
      </p:sp>
      <p:sp>
        <p:nvSpPr>
          <p:cNvPr id="19" name="Text 17"/>
          <p:cNvSpPr txBox="1"/>
          <p:nvPr/>
        </p:nvSpPr>
        <p:spPr>
          <a:xfrm>
            <a:off x="8138160" y="2560320"/>
            <a:ext cx="1280160" cy="1188720"/>
          </a:xfrm>
          <a:prstGeom prst="rect">
            <a:avLst/>
          </a:prstGeom>
          <a:noFill/>
          <a:ln/>
        </p:spPr>
        <p:txBody>
          <a:bodyPr wrap="square" lIns="0" tIns="0" rIns="0" bIns="0" rtlCol="0" anchor="ctr"/>
          <a:lstStyle/>
          <a:p>
            <a:pPr marL="0" indent="0">
              <a:buNone/>
            </a:pPr>
            <a:r>
              <a:rPr lang="en-US" sz="8000" b="1" dirty="0">
                <a:solidFill>
                  <a:schemeClr val="accent2"/>
                </a:solidFill>
                <a:latin typeface="Cambria" pitchFamily="34" charset="0"/>
                <a:ea typeface="Cambria" pitchFamily="34" charset="-122"/>
                <a:cs typeface="Cambria" pitchFamily="34" charset="-120"/>
              </a:rPr>
              <a:t>5</a:t>
            </a:r>
            <a:endParaRPr lang="en-US" sz="8000" dirty="0"/>
          </a:p>
        </p:txBody>
      </p:sp>
      <p:sp>
        <p:nvSpPr>
          <p:cNvPr id="20" name="Text 18"/>
          <p:cNvSpPr txBox="1"/>
          <p:nvPr/>
        </p:nvSpPr>
        <p:spPr>
          <a:xfrm>
            <a:off x="9326880" y="2651760"/>
            <a:ext cx="2468880" cy="10058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regression algorithms compared</a:t>
            </a:r>
            <a:endParaRPr lang="en-US" sz="1600" dirty="0"/>
          </a:p>
        </p:txBody>
      </p:sp>
      <p:sp>
        <p:nvSpPr>
          <p:cNvPr id="21" name="Shape 19"/>
          <p:cNvSpPr/>
          <p:nvPr/>
        </p:nvSpPr>
        <p:spPr>
          <a:xfrm>
            <a:off x="8138160" y="4069080"/>
            <a:ext cx="3566160" cy="0"/>
          </a:xfrm>
          <a:prstGeom prst="line">
            <a:avLst/>
          </a:prstGeom>
          <a:noFill/>
          <a:ln w="6350">
            <a:solidFill>
              <a:schemeClr val="accent3"/>
            </a:solidFill>
            <a:prstDash val="solid"/>
          </a:ln>
        </p:spPr>
      </p:sp>
      <p:sp>
        <p:nvSpPr>
          <p:cNvPr id="22" name="Text 20"/>
          <p:cNvSpPr txBox="1"/>
          <p:nvPr/>
        </p:nvSpPr>
        <p:spPr>
          <a:xfrm>
            <a:off x="8138160" y="4389120"/>
            <a:ext cx="1280160" cy="1188720"/>
          </a:xfrm>
          <a:prstGeom prst="rect">
            <a:avLst/>
          </a:prstGeom>
          <a:noFill/>
          <a:ln/>
        </p:spPr>
        <p:txBody>
          <a:bodyPr wrap="square" lIns="0" tIns="0" rIns="0" bIns="0" rtlCol="0" anchor="ctr"/>
          <a:lstStyle/>
          <a:p>
            <a:pPr marL="0" indent="0">
              <a:buNone/>
            </a:pPr>
            <a:r>
              <a:rPr lang="en-US" sz="8000" b="1" dirty="0">
                <a:solidFill>
                  <a:schemeClr val="accent2"/>
                </a:solidFill>
                <a:latin typeface="Cambria" pitchFamily="34" charset="0"/>
                <a:ea typeface="Cambria" pitchFamily="34" charset="-122"/>
                <a:cs typeface="Cambria" pitchFamily="34" charset="-120"/>
              </a:rPr>
              <a:t>6</a:t>
            </a:r>
            <a:endParaRPr lang="en-US" sz="8000" dirty="0"/>
          </a:p>
        </p:txBody>
      </p:sp>
      <p:sp>
        <p:nvSpPr>
          <p:cNvPr id="23" name="Text 21"/>
          <p:cNvSpPr txBox="1"/>
          <p:nvPr/>
        </p:nvSpPr>
        <p:spPr>
          <a:xfrm>
            <a:off x="9326880" y="4480560"/>
            <a:ext cx="2468880" cy="10058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KDD steps, from selection to presentation</a:t>
            </a:r>
            <a:endParaRPr lang="en-US" sz="16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02  THE DATA</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Two retail datasets at very different scales</a:t>
            </a:r>
            <a:endParaRPr lang="en-US" sz="3200" dirty="0"/>
          </a:p>
        </p:txBody>
      </p:sp>
      <p:graphicFrame>
        <p:nvGraphicFramePr>
          <p:cNvPr id="5" name="Dataset comparison table"/>
          <p:cNvGraphicFramePr>
            <a:graphicFrameLocks noGrp="1"/>
          </p:cNvGraphicFramePr>
          <p:nvPr>
            <p:extLst>
              <p:ext uri="{D42A27DB-BD31-4B8C-83A1-F6EECF244321}">
                <p14:modId xmlns:p14="http://schemas.microsoft.com/office/powerpoint/2010/main" val="1579011935"/>
              </p:ext>
            </p:extLst>
          </p:nvPr>
        </p:nvGraphicFramePr>
        <p:xfrm>
          <a:off x="548640" y="1920240"/>
          <a:ext cx="7406640" cy="3154680"/>
        </p:xfrm>
        <a:graphic>
          <a:graphicData uri="http://schemas.openxmlformats.org/drawingml/2006/table">
            <a:tbl>
              <a:tblPr/>
              <a:tblGrid>
                <a:gridCol w="1920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11480">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Attribute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Store Item Demand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Rossmann Store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Raw records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913,000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1,017,209</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Columns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4: date, store, item,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9: Store, DayOfWeek, Date, Sales, Customers, Open, Promo, StateHoliday, SchoolHoliday</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Mean sales per record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52.25</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5,773.82</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Maximum sales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231</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41,551</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Daily series used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1,812 days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928 days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bl>
          </a:graphicData>
        </a:graphic>
      </p:graphicFrame>
      <p:sp>
        <p:nvSpPr>
          <p:cNvPr id="7" name="Shape 4"/>
          <p:cNvSpPr/>
          <p:nvPr/>
        </p:nvSpPr>
        <p:spPr>
          <a:xfrm>
            <a:off x="8412480" y="1920240"/>
            <a:ext cx="0" cy="4023360"/>
          </a:xfrm>
          <a:prstGeom prst="line">
            <a:avLst/>
          </a:prstGeom>
          <a:noFill/>
          <a:ln w="9525">
            <a:solidFill>
              <a:schemeClr val="accent3"/>
            </a:solidFill>
            <a:prstDash val="solid"/>
          </a:ln>
        </p:spPr>
      </p:sp>
      <p:sp>
        <p:nvSpPr>
          <p:cNvPr id="8" name="Scale callout"/>
          <p:cNvSpPr txBox="1"/>
          <p:nvPr/>
        </p:nvSpPr>
        <p:spPr>
          <a:xfrm>
            <a:off x="8686800" y="1828800"/>
            <a:ext cx="3017520" cy="1280160"/>
          </a:xfrm>
          <a:prstGeom prst="rect">
            <a:avLst/>
          </a:prstGeom>
          <a:noFill/>
          <a:ln/>
        </p:spPr>
        <p:txBody>
          <a:bodyPr wrap="square" lIns="0" tIns="0" rIns="0" bIns="0" rtlCol="0" anchor="ctr"/>
          <a:lstStyle/>
          <a:p>
            <a:pPr marL="0" indent="0">
              <a:buNone/>
            </a:pPr>
            <a:r>
              <a:rPr lang="en-US" sz="7200" b="1" dirty="0">
                <a:solidFill>
                  <a:schemeClr val="accent2"/>
                </a:solidFill>
                <a:latin typeface="Cambria" pitchFamily="34" charset="0"/>
                <a:ea typeface="Cambria" pitchFamily="34" charset="-122"/>
                <a:cs typeface="Cambria" pitchFamily="34" charset="-120"/>
              </a:rPr>
              <a:t>110x</a:t>
            </a:r>
            <a:endParaRPr lang="en-US" sz="7200" dirty="0"/>
          </a:p>
        </p:txBody>
      </p:sp>
      <p:sp>
        <p:nvSpPr>
          <p:cNvPr id="9" name="Text 6"/>
          <p:cNvSpPr txBox="1"/>
          <p:nvPr/>
        </p:nvSpPr>
        <p:spPr>
          <a:xfrm>
            <a:off x="8686800" y="3200400"/>
            <a:ext cx="2971800" cy="137160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Rossmann sales per record are about 110 times larger than Store Item Demand (5,773.82 against 52.25).</a:t>
            </a:r>
            <a:endParaRPr lang="en-US" sz="1600" dirty="0"/>
          </a:p>
        </p:txBody>
      </p:sp>
      <p:sp>
        <p:nvSpPr>
          <p:cNvPr id="10" name="Text 7"/>
          <p:cNvSpPr txBox="1"/>
          <p:nvPr/>
        </p:nvSpPr>
        <p:spPr>
          <a:xfrm>
            <a:off x="8686800" y="4663440"/>
            <a:ext cx="2971800" cy="128016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03  METHOD: KDD</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Six KDD steps, each one feeding the next</a:t>
            </a:r>
            <a:endParaRPr lang="en-US" sz="3200" dirty="0"/>
          </a:p>
        </p:txBody>
      </p:sp>
      <p:sp>
        <p:nvSpPr>
          <p:cNvPr id="5" name="Stage 1 block"/>
          <p:cNvSpPr/>
          <p:nvPr/>
        </p:nvSpPr>
        <p:spPr>
          <a:xfrm>
            <a:off x="548640" y="3520440"/>
            <a:ext cx="1764792" cy="2651760"/>
          </a:xfrm>
          <a:prstGeom prst="rect">
            <a:avLst/>
          </a:prstGeom>
          <a:solidFill>
            <a:schemeClr val="tx2"/>
          </a:solidFill>
          <a:ln w="12700">
            <a:solidFill>
              <a:schemeClr val="tx2"/>
            </a:solidFill>
            <a:prstDash val="solid"/>
          </a:ln>
        </p:spPr>
      </p:sp>
      <p:sp>
        <p:nvSpPr>
          <p:cNvPr id="6" name="Text 4"/>
          <p:cNvSpPr txBox="1"/>
          <p:nvPr/>
        </p:nvSpPr>
        <p:spPr>
          <a:xfrm>
            <a:off x="685800" y="3611880"/>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1</a:t>
            </a:r>
            <a:endParaRPr lang="en-US" sz="4000" dirty="0"/>
          </a:p>
        </p:txBody>
      </p:sp>
      <p:sp>
        <p:nvSpPr>
          <p:cNvPr id="7" name="Text 5"/>
          <p:cNvSpPr txBox="1"/>
          <p:nvPr/>
        </p:nvSpPr>
        <p:spPr>
          <a:xfrm>
            <a:off x="685800" y="4297680"/>
            <a:ext cx="1490472" cy="41148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Selection</a:t>
            </a:r>
            <a:endParaRPr lang="en-US" sz="1600" dirty="0"/>
          </a:p>
        </p:txBody>
      </p:sp>
      <p:sp>
        <p:nvSpPr>
          <p:cNvPr id="8" name="Text 6"/>
          <p:cNvSpPr txBox="1"/>
          <p:nvPr/>
        </p:nvSpPr>
        <p:spPr>
          <a:xfrm>
            <a:off x="685800" y="4754880"/>
            <a:ext cx="1490472" cy="132588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Choose Store Item Demand and Rossmann; load each train file.</a:t>
            </a:r>
            <a:endParaRPr lang="en-US" sz="1400" dirty="0"/>
          </a:p>
        </p:txBody>
      </p:sp>
      <p:sp>
        <p:nvSpPr>
          <p:cNvPr id="9" name="Stage 2 block"/>
          <p:cNvSpPr/>
          <p:nvPr/>
        </p:nvSpPr>
        <p:spPr>
          <a:xfrm>
            <a:off x="2414016" y="3227832"/>
            <a:ext cx="1764792" cy="2944368"/>
          </a:xfrm>
          <a:prstGeom prst="rect">
            <a:avLst/>
          </a:prstGeom>
          <a:solidFill>
            <a:schemeClr val="tx2"/>
          </a:solidFill>
          <a:ln w="12700">
            <a:solidFill>
              <a:schemeClr val="tx2"/>
            </a:solidFill>
            <a:prstDash val="solid"/>
          </a:ln>
        </p:spPr>
      </p:sp>
      <p:sp>
        <p:nvSpPr>
          <p:cNvPr id="10" name="Text 8"/>
          <p:cNvSpPr txBox="1"/>
          <p:nvPr/>
        </p:nvSpPr>
        <p:spPr>
          <a:xfrm>
            <a:off x="2551176" y="3319272"/>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2</a:t>
            </a:r>
            <a:endParaRPr lang="en-US" sz="4000" dirty="0"/>
          </a:p>
        </p:txBody>
      </p:sp>
      <p:sp>
        <p:nvSpPr>
          <p:cNvPr id="11" name="Text 9"/>
          <p:cNvSpPr txBox="1"/>
          <p:nvPr/>
        </p:nvSpPr>
        <p:spPr>
          <a:xfrm>
            <a:off x="2551176" y="4005072"/>
            <a:ext cx="1490472" cy="41148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Cleaning</a:t>
            </a:r>
            <a:endParaRPr lang="en-US" sz="1600" dirty="0"/>
          </a:p>
        </p:txBody>
      </p:sp>
      <p:sp>
        <p:nvSpPr>
          <p:cNvPr id="12" name="Text 10"/>
          <p:cNvSpPr txBox="1"/>
          <p:nvPr/>
        </p:nvSpPr>
        <p:spPr>
          <a:xfrm>
            <a:off x="2551176" y="4462272"/>
            <a:ext cx="1490472" cy="1618488"/>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Check missing values, duplicates, types; convert dates.</a:t>
            </a:r>
            <a:endParaRPr lang="en-US" sz="1400" dirty="0"/>
          </a:p>
        </p:txBody>
      </p:sp>
      <p:sp>
        <p:nvSpPr>
          <p:cNvPr id="13" name="Stage 3 block"/>
          <p:cNvSpPr/>
          <p:nvPr/>
        </p:nvSpPr>
        <p:spPr>
          <a:xfrm>
            <a:off x="4279392" y="2935224"/>
            <a:ext cx="1764792" cy="3236976"/>
          </a:xfrm>
          <a:prstGeom prst="rect">
            <a:avLst/>
          </a:prstGeom>
          <a:solidFill>
            <a:schemeClr val="tx2"/>
          </a:solidFill>
          <a:ln w="12700">
            <a:solidFill>
              <a:schemeClr val="tx2"/>
            </a:solidFill>
            <a:prstDash val="solid"/>
          </a:ln>
        </p:spPr>
      </p:sp>
      <p:sp>
        <p:nvSpPr>
          <p:cNvPr id="14" name="Text 12"/>
          <p:cNvSpPr txBox="1"/>
          <p:nvPr/>
        </p:nvSpPr>
        <p:spPr>
          <a:xfrm>
            <a:off x="4416552" y="3026664"/>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3</a:t>
            </a:r>
            <a:endParaRPr lang="en-US" sz="4000" dirty="0"/>
          </a:p>
        </p:txBody>
      </p:sp>
      <p:sp>
        <p:nvSpPr>
          <p:cNvPr id="15" name="Text 13"/>
          <p:cNvSpPr txBox="1"/>
          <p:nvPr/>
        </p:nvSpPr>
        <p:spPr>
          <a:xfrm>
            <a:off x="4416552" y="3712464"/>
            <a:ext cx="1490472" cy="41148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Transformation</a:t>
            </a:r>
            <a:endParaRPr lang="en-US" sz="1600" dirty="0"/>
          </a:p>
        </p:txBody>
      </p:sp>
      <p:sp>
        <p:nvSpPr>
          <p:cNvPr id="16" name="Text 14"/>
          <p:cNvSpPr txBox="1"/>
          <p:nvPr/>
        </p:nvSpPr>
        <p:spPr>
          <a:xfrm>
            <a:off x="4416552" y="4169664"/>
            <a:ext cx="1490472" cy="1911096"/>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Daily totals, calendar and lag features, 80/20 split.</a:t>
            </a:r>
            <a:endParaRPr lang="en-US" sz="1400" dirty="0"/>
          </a:p>
        </p:txBody>
      </p:sp>
      <p:sp>
        <p:nvSpPr>
          <p:cNvPr id="17" name="Stage 4 block"/>
          <p:cNvSpPr/>
          <p:nvPr/>
        </p:nvSpPr>
        <p:spPr>
          <a:xfrm>
            <a:off x="6144768" y="2642616"/>
            <a:ext cx="1764792" cy="3529584"/>
          </a:xfrm>
          <a:prstGeom prst="rect">
            <a:avLst/>
          </a:prstGeom>
          <a:solidFill>
            <a:schemeClr val="tx2"/>
          </a:solidFill>
          <a:ln w="12700">
            <a:solidFill>
              <a:schemeClr val="tx2"/>
            </a:solidFill>
            <a:prstDash val="solid"/>
          </a:ln>
        </p:spPr>
      </p:sp>
      <p:sp>
        <p:nvSpPr>
          <p:cNvPr id="18" name="Text 16"/>
          <p:cNvSpPr txBox="1"/>
          <p:nvPr/>
        </p:nvSpPr>
        <p:spPr>
          <a:xfrm>
            <a:off x="6281928" y="2734056"/>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4</a:t>
            </a:r>
            <a:endParaRPr lang="en-US" sz="4000" dirty="0"/>
          </a:p>
        </p:txBody>
      </p:sp>
      <p:sp>
        <p:nvSpPr>
          <p:cNvPr id="19" name="Text 17"/>
          <p:cNvSpPr txBox="1"/>
          <p:nvPr/>
        </p:nvSpPr>
        <p:spPr>
          <a:xfrm>
            <a:off x="6281928" y="3419856"/>
            <a:ext cx="1490472" cy="41148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Data Mining</a:t>
            </a:r>
            <a:endParaRPr lang="en-US" sz="1600" dirty="0"/>
          </a:p>
        </p:txBody>
      </p:sp>
      <p:sp>
        <p:nvSpPr>
          <p:cNvPr id="20" name="Text 18"/>
          <p:cNvSpPr txBox="1"/>
          <p:nvPr/>
        </p:nvSpPr>
        <p:spPr>
          <a:xfrm>
            <a:off x="6281928" y="3877056"/>
            <a:ext cx="1490472" cy="2203704"/>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Train five regressors on each dataset.</a:t>
            </a:r>
            <a:endParaRPr lang="en-US" sz="1400" dirty="0"/>
          </a:p>
        </p:txBody>
      </p:sp>
      <p:sp>
        <p:nvSpPr>
          <p:cNvPr id="21" name="Stage 5 block"/>
          <p:cNvSpPr/>
          <p:nvPr/>
        </p:nvSpPr>
        <p:spPr>
          <a:xfrm>
            <a:off x="8010144" y="2350008"/>
            <a:ext cx="1764792" cy="3822192"/>
          </a:xfrm>
          <a:prstGeom prst="rect">
            <a:avLst/>
          </a:prstGeom>
          <a:solidFill>
            <a:schemeClr val="tx2"/>
          </a:solidFill>
          <a:ln w="12700">
            <a:solidFill>
              <a:schemeClr val="tx2"/>
            </a:solidFill>
            <a:prstDash val="solid"/>
          </a:ln>
        </p:spPr>
      </p:sp>
      <p:sp>
        <p:nvSpPr>
          <p:cNvPr id="22" name="Text 20"/>
          <p:cNvSpPr txBox="1"/>
          <p:nvPr/>
        </p:nvSpPr>
        <p:spPr>
          <a:xfrm>
            <a:off x="8147304" y="2441448"/>
            <a:ext cx="731520" cy="6400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5</a:t>
            </a:r>
            <a:endParaRPr lang="en-US" sz="4000" dirty="0"/>
          </a:p>
        </p:txBody>
      </p:sp>
      <p:sp>
        <p:nvSpPr>
          <p:cNvPr id="23" name="Text 21"/>
          <p:cNvSpPr txBox="1"/>
          <p:nvPr/>
        </p:nvSpPr>
        <p:spPr>
          <a:xfrm>
            <a:off x="8147304" y="3127248"/>
            <a:ext cx="1490472" cy="41148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Evaluation</a:t>
            </a:r>
            <a:endParaRPr lang="en-US" sz="1600" dirty="0"/>
          </a:p>
        </p:txBody>
      </p:sp>
      <p:sp>
        <p:nvSpPr>
          <p:cNvPr id="24" name="Text 22"/>
          <p:cNvSpPr txBox="1"/>
          <p:nvPr/>
        </p:nvSpPr>
        <p:spPr>
          <a:xfrm>
            <a:off x="8147304" y="3584448"/>
            <a:ext cx="1490472" cy="2496312"/>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MAE, RMSE, WAPE, R² and actual vs predicted.</a:t>
            </a:r>
            <a:endParaRPr lang="en-US" sz="1400" dirty="0"/>
          </a:p>
        </p:txBody>
      </p:sp>
      <p:sp>
        <p:nvSpPr>
          <p:cNvPr id="25" name="Stage 6 block"/>
          <p:cNvSpPr/>
          <p:nvPr/>
        </p:nvSpPr>
        <p:spPr>
          <a:xfrm>
            <a:off x="9875520" y="2057400"/>
            <a:ext cx="1764792" cy="4114800"/>
          </a:xfrm>
          <a:prstGeom prst="rect">
            <a:avLst/>
          </a:prstGeom>
          <a:solidFill>
            <a:schemeClr val="accent2"/>
          </a:solidFill>
          <a:ln w="12700">
            <a:solidFill>
              <a:schemeClr val="accent2"/>
            </a:solidFill>
            <a:prstDash val="solid"/>
          </a:ln>
        </p:spPr>
      </p:sp>
      <p:sp>
        <p:nvSpPr>
          <p:cNvPr id="26" name="Text 24"/>
          <p:cNvSpPr txBox="1"/>
          <p:nvPr/>
        </p:nvSpPr>
        <p:spPr>
          <a:xfrm>
            <a:off x="10012680" y="2148840"/>
            <a:ext cx="731520" cy="64008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6</a:t>
            </a:r>
            <a:endParaRPr lang="en-US" sz="4000" dirty="0"/>
          </a:p>
        </p:txBody>
      </p:sp>
      <p:sp>
        <p:nvSpPr>
          <p:cNvPr id="27" name="Text 25"/>
          <p:cNvSpPr txBox="1"/>
          <p:nvPr/>
        </p:nvSpPr>
        <p:spPr>
          <a:xfrm>
            <a:off x="10012680" y="2834640"/>
            <a:ext cx="1490472" cy="41148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Presentation</a:t>
            </a:r>
            <a:endParaRPr lang="en-US" sz="1600" dirty="0"/>
          </a:p>
        </p:txBody>
      </p:sp>
      <p:sp>
        <p:nvSpPr>
          <p:cNvPr id="28" name="Text 26"/>
          <p:cNvSpPr txBox="1"/>
          <p:nvPr/>
        </p:nvSpPr>
        <p:spPr>
          <a:xfrm>
            <a:off x="10012680" y="3291840"/>
            <a:ext cx="1490472" cy="278892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Tables, graphs and conclusions for planning.</a:t>
            </a:r>
            <a:endParaRPr lang="en-US" sz="1400" dirty="0"/>
          </a:p>
        </p:txBody>
      </p:sp>
      <p:sp>
        <p:nvSpPr>
          <p:cNvPr id="29"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Forest panel"/>
          <p:cNvSpPr/>
          <p:nvPr/>
        </p:nvSpPr>
        <p:spPr>
          <a:xfrm>
            <a:off x="0" y="0"/>
            <a:ext cx="4297680" cy="6419088"/>
          </a:xfrm>
          <a:prstGeom prst="rect">
            <a:avLst/>
          </a:prstGeom>
          <a:solidFill>
            <a:schemeClr val="tx2"/>
          </a:solidFill>
          <a:ln w="12700">
            <a:solidFill>
              <a:schemeClr val="tx2"/>
            </a:solidFill>
            <a:prstDash val="solid"/>
          </a:ln>
        </p:spPr>
      </p:sp>
      <p:sp>
        <p:nvSpPr>
          <p:cNvPr id="3"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4"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bg2"/>
                </a:solidFill>
              </a:rPr>
              <a:t>04  KDD STEPS 1 AND 2</a:t>
            </a:r>
            <a:endParaRPr lang="en-US" sz="1200" dirty="0"/>
          </a:p>
        </p:txBody>
      </p:sp>
      <p:sp>
        <p:nvSpPr>
          <p:cNvPr id="5" name="Text 3"/>
          <p:cNvSpPr>
            <a:spLocks noGrp="1"/>
          </p:cNvSpPr>
          <p:nvPr>
            <p:ph idx="103" hasCustomPrompt="1"/>
          </p:nvPr>
        </p:nvSpPr>
        <p:spPr>
          <a:xfrm>
            <a:off x="4846320" y="777240"/>
            <a:ext cx="679399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Clean data in, nothing discarded</a:t>
            </a:r>
            <a:endParaRPr lang="en-US" sz="3200" dirty="0"/>
          </a:p>
        </p:txBody>
      </p:sp>
      <p:sp>
        <p:nvSpPr>
          <p:cNvPr id="6" name="Text 4"/>
          <p:cNvSpPr txBox="1"/>
          <p:nvPr/>
        </p:nvSpPr>
        <p:spPr>
          <a:xfrm>
            <a:off x="548640" y="1097280"/>
            <a:ext cx="146304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0</a:t>
            </a:r>
            <a:endParaRPr lang="en-US" sz="8800" dirty="0"/>
          </a:p>
        </p:txBody>
      </p:sp>
      <p:sp>
        <p:nvSpPr>
          <p:cNvPr id="7" name="Text 5"/>
          <p:cNvSpPr txBox="1"/>
          <p:nvPr/>
        </p:nvSpPr>
        <p:spPr>
          <a:xfrm>
            <a:off x="2011680" y="1188720"/>
            <a:ext cx="2103120" cy="109728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missing values in either dataset</a:t>
            </a:r>
            <a:endParaRPr lang="en-US" sz="1600" dirty="0"/>
          </a:p>
        </p:txBody>
      </p:sp>
      <p:sp>
        <p:nvSpPr>
          <p:cNvPr id="8" name="Text 6"/>
          <p:cNvSpPr txBox="1"/>
          <p:nvPr/>
        </p:nvSpPr>
        <p:spPr>
          <a:xfrm>
            <a:off x="548640" y="2788920"/>
            <a:ext cx="146304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0</a:t>
            </a:r>
            <a:endParaRPr lang="en-US" sz="8800" dirty="0"/>
          </a:p>
        </p:txBody>
      </p:sp>
      <p:sp>
        <p:nvSpPr>
          <p:cNvPr id="9" name="Text 7"/>
          <p:cNvSpPr txBox="1"/>
          <p:nvPr/>
        </p:nvSpPr>
        <p:spPr>
          <a:xfrm>
            <a:off x="2011680" y="2880360"/>
            <a:ext cx="2103120" cy="109728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duplicate rows in either dataset</a:t>
            </a:r>
            <a:endParaRPr lang="en-US" sz="1600" dirty="0"/>
          </a:p>
        </p:txBody>
      </p:sp>
      <p:sp>
        <p:nvSpPr>
          <p:cNvPr id="10" name="Text 8"/>
          <p:cNvSpPr txBox="1"/>
          <p:nvPr/>
        </p:nvSpPr>
        <p:spPr>
          <a:xfrm>
            <a:off x="548640" y="4480560"/>
            <a:ext cx="146304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0</a:t>
            </a:r>
            <a:endParaRPr lang="en-US" sz="8800" dirty="0"/>
          </a:p>
        </p:txBody>
      </p:sp>
      <p:sp>
        <p:nvSpPr>
          <p:cNvPr id="11" name="Text 9"/>
          <p:cNvSpPr txBox="1"/>
          <p:nvPr/>
        </p:nvSpPr>
        <p:spPr>
          <a:xfrm>
            <a:off x="2011680" y="4572000"/>
            <a:ext cx="2103120" cy="109728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rows dropped during cleaning</a:t>
            </a:r>
            <a:endParaRPr lang="en-US" sz="1600" dirty="0"/>
          </a:p>
        </p:txBody>
      </p:sp>
      <p:graphicFrame>
        <p:nvGraphicFramePr>
          <p:cNvPr id="12" name="Cleaning checks table"/>
          <p:cNvGraphicFramePr>
            <a:graphicFrameLocks noGrp="1"/>
          </p:cNvGraphicFramePr>
          <p:nvPr>
            <p:extLst>
              <p:ext uri="{D42A27DB-BD31-4B8C-83A1-F6EECF244321}">
                <p14:modId xmlns:p14="http://schemas.microsoft.com/office/powerpoint/2010/main" val="1579011935"/>
              </p:ext>
            </p:extLst>
          </p:nvPr>
        </p:nvGraphicFramePr>
        <p:xfrm>
          <a:off x="4846320" y="2057400"/>
          <a:ext cx="6793992" cy="2743200"/>
        </p:xfrm>
        <a:graphic>
          <a:graphicData uri="http://schemas.openxmlformats.org/drawingml/2006/table">
            <a:tbl>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40487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Store Item Demand</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Rossmann</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 in all 4 columns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 in all 9 columns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Duplicate rows</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Date column</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object to datetime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object to datetime</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Sales column</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int64, numeric</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int64, numeric</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6B6B63"/>
                          </a:solidFill>
                          <a:latin typeface="Calibri" pitchFamily="34" charset="0"/>
                          <a:ea typeface="Calibri" pitchFamily="34" charset="-122"/>
                          <a:cs typeface="Calibri" pitchFamily="34" charset="-120"/>
                        </a:rPr>
                        <a:t>Rows after cleaning</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913,000</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1,017,209</a:t>
                      </a:r>
                      <a:endParaRPr lang="en-US" sz="1400" dirty="0">
                        <a:latin typeface="Calibri" charset="0"/>
                        <a:ea typeface="Calibri" charset="0"/>
                        <a:cs typeface="Calibri" charset="0"/>
                      </a:endParaRPr>
                    </a:p>
                  </a:txBody>
                  <a:tcPr marL="109728" marR="109728"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bl>
          </a:graphicData>
        </a:graphic>
      </p:graphicFrame>
      <p:sp>
        <p:nvSpPr>
          <p:cNvPr id="13" name="Selection note"/>
          <p:cNvSpPr txBox="1"/>
          <p:nvPr/>
        </p:nvSpPr>
        <p:spPr>
          <a:xfrm>
            <a:off x="4846320" y="5029200"/>
            <a:ext cx="6793992" cy="11887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Selection: the train.csv of each dataset is loaded as a separate problem. Only issues found in inspection are handled, so the sole change was converting date strings to datetime. Valid historical sales, including zero-sales days, are preserved.</a:t>
            </a: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05  KDD STEP 3</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Transformation: daily totals, memory features, a chronological split</a:t>
            </a:r>
            <a:endParaRPr lang="en-US" sz="3200" dirty="0"/>
          </a:p>
        </p:txBody>
      </p:sp>
      <p:sp>
        <p:nvSpPr>
          <p:cNvPr id="5" name="Shape 3"/>
          <p:cNvSpPr/>
          <p:nvPr/>
        </p:nvSpPr>
        <p:spPr>
          <a:xfrm>
            <a:off x="548640" y="1920240"/>
            <a:ext cx="5394960" cy="0"/>
          </a:xfrm>
          <a:prstGeom prst="line">
            <a:avLst/>
          </a:prstGeom>
          <a:noFill/>
          <a:ln w="9525">
            <a:solidFill>
              <a:schemeClr val="accent3"/>
            </a:solidFill>
            <a:prstDash val="solid"/>
          </a:ln>
        </p:spPr>
      </p:sp>
      <p:sp>
        <p:nvSpPr>
          <p:cNvPr id="6" name="Text 4"/>
          <p:cNvSpPr txBox="1"/>
          <p:nvPr/>
        </p:nvSpPr>
        <p:spPr>
          <a:xfrm>
            <a:off x="548640" y="2057400"/>
            <a:ext cx="548640" cy="640080"/>
          </a:xfrm>
          <a:prstGeom prst="rect">
            <a:avLst/>
          </a:prstGeom>
          <a:noFill/>
          <a:ln/>
        </p:spPr>
        <p:txBody>
          <a:bodyPr wrap="square" lIns="0" tIns="0" rIns="0" bIns="0" rtlCol="0" anchor="t"/>
          <a:lstStyle/>
          <a:p>
            <a:pPr marL="0" indent="0">
              <a:buNone/>
            </a:pPr>
            <a:r>
              <a:rPr lang="en-US" sz="3600" b="1" dirty="0">
                <a:solidFill>
                  <a:schemeClr val="accent2"/>
                </a:solidFill>
                <a:latin typeface="Cambria" pitchFamily="34" charset="0"/>
                <a:ea typeface="Cambria" pitchFamily="34" charset="-122"/>
                <a:cs typeface="Cambria" pitchFamily="34" charset="-120"/>
              </a:rPr>
              <a:t>A</a:t>
            </a:r>
            <a:endParaRPr lang="en-US" sz="3600" dirty="0"/>
          </a:p>
        </p:txBody>
      </p:sp>
      <p:sp>
        <p:nvSpPr>
          <p:cNvPr id="7" name="Text 5"/>
          <p:cNvSpPr txBox="1"/>
          <p:nvPr/>
        </p:nvSpPr>
        <p:spPr>
          <a:xfrm>
            <a:off x="1188720" y="2057400"/>
            <a:ext cx="47548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Aggregate to daily totals</a:t>
            </a:r>
            <a:endParaRPr lang="en-US" sz="1800" dirty="0"/>
          </a:p>
        </p:txBody>
      </p:sp>
      <p:sp>
        <p:nvSpPr>
          <p:cNvPr id="8" name="Text 6"/>
          <p:cNvSpPr txBox="1"/>
          <p:nvPr/>
        </p:nvSpPr>
        <p:spPr>
          <a:xfrm>
            <a:off x="1188720" y="2423160"/>
            <a:ext cx="475488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Every record is summed by date, giving one total-sales value per day for each dataset.</a:t>
            </a:r>
            <a:endParaRPr lang="en-US" sz="1400" dirty="0"/>
          </a:p>
        </p:txBody>
      </p:sp>
      <p:sp>
        <p:nvSpPr>
          <p:cNvPr id="9" name="Shape 7"/>
          <p:cNvSpPr/>
          <p:nvPr/>
        </p:nvSpPr>
        <p:spPr>
          <a:xfrm>
            <a:off x="548640" y="3383280"/>
            <a:ext cx="5394960" cy="0"/>
          </a:xfrm>
          <a:prstGeom prst="line">
            <a:avLst/>
          </a:prstGeom>
          <a:noFill/>
          <a:ln w="9525">
            <a:solidFill>
              <a:schemeClr val="accent3"/>
            </a:solidFill>
            <a:prstDash val="solid"/>
          </a:ln>
        </p:spPr>
      </p:sp>
      <p:sp>
        <p:nvSpPr>
          <p:cNvPr id="10" name="Text 8"/>
          <p:cNvSpPr txBox="1"/>
          <p:nvPr/>
        </p:nvSpPr>
        <p:spPr>
          <a:xfrm>
            <a:off x="548640" y="3520440"/>
            <a:ext cx="548640" cy="640080"/>
          </a:xfrm>
          <a:prstGeom prst="rect">
            <a:avLst/>
          </a:prstGeom>
          <a:noFill/>
          <a:ln/>
        </p:spPr>
        <p:txBody>
          <a:bodyPr wrap="square" lIns="0" tIns="0" rIns="0" bIns="0" rtlCol="0" anchor="t"/>
          <a:lstStyle/>
          <a:p>
            <a:pPr marL="0" indent="0">
              <a:buNone/>
            </a:pPr>
            <a:r>
              <a:rPr lang="en-US" sz="3600" b="1" dirty="0">
                <a:solidFill>
                  <a:schemeClr val="accent2"/>
                </a:solidFill>
                <a:latin typeface="Cambria" pitchFamily="34" charset="0"/>
                <a:ea typeface="Cambria" pitchFamily="34" charset="-122"/>
                <a:cs typeface="Cambria" pitchFamily="34" charset="-120"/>
              </a:rPr>
              <a:t>B</a:t>
            </a:r>
            <a:endParaRPr lang="en-US" sz="3600" dirty="0"/>
          </a:p>
        </p:txBody>
      </p:sp>
      <p:sp>
        <p:nvSpPr>
          <p:cNvPr id="11" name="Text 9"/>
          <p:cNvSpPr txBox="1"/>
          <p:nvPr/>
        </p:nvSpPr>
        <p:spPr>
          <a:xfrm>
            <a:off x="1188720" y="3520440"/>
            <a:ext cx="47548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Add calendar and lag features</a:t>
            </a:r>
            <a:endParaRPr lang="en-US" sz="1800" dirty="0"/>
          </a:p>
        </p:txBody>
      </p:sp>
      <p:sp>
        <p:nvSpPr>
          <p:cNvPr id="12" name="Text 10"/>
          <p:cNvSpPr txBox="1"/>
          <p:nvPr/>
        </p:nvSpPr>
        <p:spPr>
          <a:xfrm>
            <a:off x="1188720" y="3886200"/>
            <a:ext cx="475488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Year, month, day, day of week and day of year, plus sales 1, 7 and 14 days earlier. Rows without a full lag history are dropped.</a:t>
            </a:r>
            <a:endParaRPr lang="en-US" sz="1400" dirty="0"/>
          </a:p>
        </p:txBody>
      </p:sp>
      <p:sp>
        <p:nvSpPr>
          <p:cNvPr id="13" name="Shape 11"/>
          <p:cNvSpPr/>
          <p:nvPr/>
        </p:nvSpPr>
        <p:spPr>
          <a:xfrm>
            <a:off x="548640" y="4846320"/>
            <a:ext cx="5394960" cy="0"/>
          </a:xfrm>
          <a:prstGeom prst="line">
            <a:avLst/>
          </a:prstGeom>
          <a:noFill/>
          <a:ln w="9525">
            <a:solidFill>
              <a:schemeClr val="accent3"/>
            </a:solidFill>
            <a:prstDash val="solid"/>
          </a:ln>
        </p:spPr>
      </p:sp>
      <p:sp>
        <p:nvSpPr>
          <p:cNvPr id="14" name="Text 12"/>
          <p:cNvSpPr txBox="1"/>
          <p:nvPr/>
        </p:nvSpPr>
        <p:spPr>
          <a:xfrm>
            <a:off x="548640" y="4983480"/>
            <a:ext cx="548640" cy="640080"/>
          </a:xfrm>
          <a:prstGeom prst="rect">
            <a:avLst/>
          </a:prstGeom>
          <a:noFill/>
          <a:ln/>
        </p:spPr>
        <p:txBody>
          <a:bodyPr wrap="square" lIns="0" tIns="0" rIns="0" bIns="0" rtlCol="0" anchor="t"/>
          <a:lstStyle/>
          <a:p>
            <a:pPr marL="0" indent="0">
              <a:buNone/>
            </a:pPr>
            <a:r>
              <a:rPr lang="en-US" sz="3600" b="1" dirty="0">
                <a:solidFill>
                  <a:schemeClr val="accent2"/>
                </a:solidFill>
                <a:latin typeface="Cambria" pitchFamily="34" charset="0"/>
                <a:ea typeface="Cambria" pitchFamily="34" charset="-122"/>
                <a:cs typeface="Cambria" pitchFamily="34" charset="-120"/>
              </a:rPr>
              <a:t>C</a:t>
            </a:r>
            <a:endParaRPr lang="en-US" sz="3600" dirty="0"/>
          </a:p>
        </p:txBody>
      </p:sp>
      <p:sp>
        <p:nvSpPr>
          <p:cNvPr id="15" name="Text 13"/>
          <p:cNvSpPr txBox="1"/>
          <p:nvPr/>
        </p:nvSpPr>
        <p:spPr>
          <a:xfrm>
            <a:off x="1188720" y="4983480"/>
            <a:ext cx="47548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Split by time, not at random</a:t>
            </a:r>
            <a:endParaRPr lang="en-US" sz="1800" dirty="0"/>
          </a:p>
        </p:txBody>
      </p:sp>
      <p:sp>
        <p:nvSpPr>
          <p:cNvPr id="16" name="Text 14"/>
          <p:cNvSpPr txBox="1"/>
          <p:nvPr/>
        </p:nvSpPr>
        <p:spPr>
          <a:xfrm>
            <a:off x="1188720" y="5349240"/>
            <a:ext cx="475488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 earliest 80% of days train the models; the latest 20% validate them, so no future information leaks into training.</a:t>
            </a:r>
            <a:endParaRPr lang="en-US" sz="1400" dirty="0"/>
          </a:p>
        </p:txBody>
      </p:sp>
      <p:sp>
        <p:nvSpPr>
          <p:cNvPr id="17" name="Text 15"/>
          <p:cNvSpPr txBox="1"/>
          <p:nvPr/>
        </p:nvSpPr>
        <p:spPr>
          <a:xfrm>
            <a:off x="6583680" y="1920240"/>
            <a:ext cx="2743200"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FEATURES (8)</a:t>
            </a:r>
            <a:endParaRPr lang="en-US" sz="1200" dirty="0"/>
          </a:p>
        </p:txBody>
      </p:sp>
      <p:sp>
        <p:nvSpPr>
          <p:cNvPr id="18" name="Feature year"/>
          <p:cNvSpPr/>
          <p:nvPr/>
        </p:nvSpPr>
        <p:spPr>
          <a:xfrm>
            <a:off x="6583680" y="2286000"/>
            <a:ext cx="640080" cy="384048"/>
          </a:xfrm>
          <a:prstGeom prst="rect">
            <a:avLst/>
          </a:prstGeom>
          <a:solidFill>
            <a:schemeClr val="bg2"/>
          </a:solidFill>
          <a:ln w="12700">
            <a:solidFill>
              <a:schemeClr val="bg2"/>
            </a:solidFill>
            <a:prstDash val="solid"/>
          </a:ln>
        </p:spPr>
      </p:sp>
      <p:sp>
        <p:nvSpPr>
          <p:cNvPr id="19" name="Text 17"/>
          <p:cNvSpPr txBox="1"/>
          <p:nvPr/>
        </p:nvSpPr>
        <p:spPr>
          <a:xfrm>
            <a:off x="6583680" y="2286000"/>
            <a:ext cx="64008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year</a:t>
            </a:r>
            <a:endParaRPr lang="en-US" sz="1400" dirty="0"/>
          </a:p>
        </p:txBody>
      </p:sp>
      <p:sp>
        <p:nvSpPr>
          <p:cNvPr id="20" name="Feature month"/>
          <p:cNvSpPr/>
          <p:nvPr/>
        </p:nvSpPr>
        <p:spPr>
          <a:xfrm>
            <a:off x="7360920" y="2286000"/>
            <a:ext cx="736092" cy="384048"/>
          </a:xfrm>
          <a:prstGeom prst="rect">
            <a:avLst/>
          </a:prstGeom>
          <a:solidFill>
            <a:schemeClr val="bg2"/>
          </a:solidFill>
          <a:ln w="12700">
            <a:solidFill>
              <a:schemeClr val="bg2"/>
            </a:solidFill>
            <a:prstDash val="solid"/>
          </a:ln>
        </p:spPr>
      </p:sp>
      <p:sp>
        <p:nvSpPr>
          <p:cNvPr id="21" name="Text 19"/>
          <p:cNvSpPr txBox="1"/>
          <p:nvPr/>
        </p:nvSpPr>
        <p:spPr>
          <a:xfrm>
            <a:off x="7360920" y="2286000"/>
            <a:ext cx="736092"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month</a:t>
            </a:r>
            <a:endParaRPr lang="en-US" sz="1400" dirty="0"/>
          </a:p>
        </p:txBody>
      </p:sp>
      <p:sp>
        <p:nvSpPr>
          <p:cNvPr id="22" name="Feature day"/>
          <p:cNvSpPr/>
          <p:nvPr/>
        </p:nvSpPr>
        <p:spPr>
          <a:xfrm>
            <a:off x="8234172" y="2286000"/>
            <a:ext cx="544068" cy="384048"/>
          </a:xfrm>
          <a:prstGeom prst="rect">
            <a:avLst/>
          </a:prstGeom>
          <a:solidFill>
            <a:schemeClr val="bg2"/>
          </a:solidFill>
          <a:ln w="12700">
            <a:solidFill>
              <a:schemeClr val="bg2"/>
            </a:solidFill>
            <a:prstDash val="solid"/>
          </a:ln>
        </p:spPr>
      </p:sp>
      <p:sp>
        <p:nvSpPr>
          <p:cNvPr id="23" name="Text 21"/>
          <p:cNvSpPr txBox="1"/>
          <p:nvPr/>
        </p:nvSpPr>
        <p:spPr>
          <a:xfrm>
            <a:off x="8234172" y="2286000"/>
            <a:ext cx="544068"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day</a:t>
            </a:r>
            <a:endParaRPr lang="en-US" sz="1400" dirty="0"/>
          </a:p>
        </p:txBody>
      </p:sp>
      <p:sp>
        <p:nvSpPr>
          <p:cNvPr id="24" name="Feature day_of_week"/>
          <p:cNvSpPr/>
          <p:nvPr/>
        </p:nvSpPr>
        <p:spPr>
          <a:xfrm>
            <a:off x="8915400" y="2286000"/>
            <a:ext cx="1312164" cy="384048"/>
          </a:xfrm>
          <a:prstGeom prst="rect">
            <a:avLst/>
          </a:prstGeom>
          <a:solidFill>
            <a:schemeClr val="bg2"/>
          </a:solidFill>
          <a:ln w="12700">
            <a:solidFill>
              <a:schemeClr val="bg2"/>
            </a:solidFill>
            <a:prstDash val="solid"/>
          </a:ln>
        </p:spPr>
      </p:sp>
      <p:sp>
        <p:nvSpPr>
          <p:cNvPr id="25" name="Text 23"/>
          <p:cNvSpPr txBox="1"/>
          <p:nvPr/>
        </p:nvSpPr>
        <p:spPr>
          <a:xfrm>
            <a:off x="8915400" y="2286000"/>
            <a:ext cx="1312164"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day_of_week</a:t>
            </a:r>
            <a:endParaRPr lang="en-US" sz="1400" dirty="0"/>
          </a:p>
        </p:txBody>
      </p:sp>
      <p:sp>
        <p:nvSpPr>
          <p:cNvPr id="26" name="Feature day_of_year"/>
          <p:cNvSpPr/>
          <p:nvPr/>
        </p:nvSpPr>
        <p:spPr>
          <a:xfrm>
            <a:off x="6583680" y="2788920"/>
            <a:ext cx="1312164" cy="384048"/>
          </a:xfrm>
          <a:prstGeom prst="rect">
            <a:avLst/>
          </a:prstGeom>
          <a:solidFill>
            <a:schemeClr val="bg2"/>
          </a:solidFill>
          <a:ln w="12700">
            <a:solidFill>
              <a:schemeClr val="bg2"/>
            </a:solidFill>
            <a:prstDash val="solid"/>
          </a:ln>
        </p:spPr>
      </p:sp>
      <p:sp>
        <p:nvSpPr>
          <p:cNvPr id="27" name="Text 25"/>
          <p:cNvSpPr txBox="1"/>
          <p:nvPr/>
        </p:nvSpPr>
        <p:spPr>
          <a:xfrm>
            <a:off x="6583680" y="2788920"/>
            <a:ext cx="1312164"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onsolas" pitchFamily="34" charset="0"/>
                <a:ea typeface="Consolas" pitchFamily="34" charset="-122"/>
                <a:cs typeface="Consolas" pitchFamily="34" charset="-120"/>
              </a:rPr>
              <a:t>day_of_year</a:t>
            </a:r>
            <a:endParaRPr lang="en-US" sz="1400" dirty="0"/>
          </a:p>
        </p:txBody>
      </p:sp>
      <p:sp>
        <p:nvSpPr>
          <p:cNvPr id="28" name="Feature lag_1"/>
          <p:cNvSpPr/>
          <p:nvPr/>
        </p:nvSpPr>
        <p:spPr>
          <a:xfrm>
            <a:off x="8033004" y="2788920"/>
            <a:ext cx="736092" cy="384048"/>
          </a:xfrm>
          <a:prstGeom prst="rect">
            <a:avLst/>
          </a:prstGeom>
          <a:solidFill>
            <a:schemeClr val="accent2"/>
          </a:solidFill>
          <a:ln w="12700">
            <a:solidFill>
              <a:schemeClr val="accent2"/>
            </a:solidFill>
            <a:prstDash val="solid"/>
          </a:ln>
        </p:spPr>
      </p:sp>
      <p:sp>
        <p:nvSpPr>
          <p:cNvPr id="29" name="Text 27"/>
          <p:cNvSpPr txBox="1"/>
          <p:nvPr/>
        </p:nvSpPr>
        <p:spPr>
          <a:xfrm>
            <a:off x="8033004" y="2788920"/>
            <a:ext cx="736092"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onsolas" pitchFamily="34" charset="0"/>
                <a:ea typeface="Consolas" pitchFamily="34" charset="-122"/>
                <a:cs typeface="Consolas" pitchFamily="34" charset="-120"/>
              </a:rPr>
              <a:t>lag_1</a:t>
            </a:r>
            <a:endParaRPr lang="en-US" sz="1400" dirty="0"/>
          </a:p>
        </p:txBody>
      </p:sp>
      <p:sp>
        <p:nvSpPr>
          <p:cNvPr id="30" name="Feature lag_7"/>
          <p:cNvSpPr/>
          <p:nvPr/>
        </p:nvSpPr>
        <p:spPr>
          <a:xfrm>
            <a:off x="8906256" y="2788920"/>
            <a:ext cx="736092" cy="384048"/>
          </a:xfrm>
          <a:prstGeom prst="rect">
            <a:avLst/>
          </a:prstGeom>
          <a:solidFill>
            <a:schemeClr val="accent2"/>
          </a:solidFill>
          <a:ln w="12700">
            <a:solidFill>
              <a:schemeClr val="accent2"/>
            </a:solidFill>
            <a:prstDash val="solid"/>
          </a:ln>
        </p:spPr>
      </p:sp>
      <p:sp>
        <p:nvSpPr>
          <p:cNvPr id="31" name="Text 29"/>
          <p:cNvSpPr txBox="1"/>
          <p:nvPr/>
        </p:nvSpPr>
        <p:spPr>
          <a:xfrm>
            <a:off x="8906256" y="2788920"/>
            <a:ext cx="736092"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onsolas" pitchFamily="34" charset="0"/>
                <a:ea typeface="Consolas" pitchFamily="34" charset="-122"/>
                <a:cs typeface="Consolas" pitchFamily="34" charset="-120"/>
              </a:rPr>
              <a:t>lag_7</a:t>
            </a:r>
            <a:endParaRPr lang="en-US" sz="1400" dirty="0"/>
          </a:p>
        </p:txBody>
      </p:sp>
      <p:sp>
        <p:nvSpPr>
          <p:cNvPr id="32" name="Feature lag_14"/>
          <p:cNvSpPr/>
          <p:nvPr/>
        </p:nvSpPr>
        <p:spPr>
          <a:xfrm>
            <a:off x="9779508" y="2788920"/>
            <a:ext cx="832104" cy="384048"/>
          </a:xfrm>
          <a:prstGeom prst="rect">
            <a:avLst/>
          </a:prstGeom>
          <a:solidFill>
            <a:schemeClr val="accent2"/>
          </a:solidFill>
          <a:ln w="12700">
            <a:solidFill>
              <a:schemeClr val="accent2"/>
            </a:solidFill>
            <a:prstDash val="solid"/>
          </a:ln>
        </p:spPr>
      </p:sp>
      <p:sp>
        <p:nvSpPr>
          <p:cNvPr id="33" name="Text 31"/>
          <p:cNvSpPr txBox="1"/>
          <p:nvPr/>
        </p:nvSpPr>
        <p:spPr>
          <a:xfrm>
            <a:off x="9779508" y="2788920"/>
            <a:ext cx="832104"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onsolas" pitchFamily="34" charset="0"/>
                <a:ea typeface="Consolas" pitchFamily="34" charset="-122"/>
                <a:cs typeface="Consolas" pitchFamily="34" charset="-120"/>
              </a:rPr>
              <a:t>lag_14</a:t>
            </a:r>
            <a:endParaRPr lang="en-US" sz="1400" dirty="0"/>
          </a:p>
        </p:txBody>
      </p:sp>
      <p:sp>
        <p:nvSpPr>
          <p:cNvPr id="34" name="Text 32"/>
          <p:cNvSpPr txBox="1"/>
          <p:nvPr/>
        </p:nvSpPr>
        <p:spPr>
          <a:xfrm>
            <a:off x="6583680" y="3383280"/>
            <a:ext cx="5029200" cy="548640"/>
          </a:xfrm>
          <a:prstGeom prst="rect">
            <a:avLst/>
          </a:prstGeom>
          <a:noFill/>
          <a:ln/>
        </p:spPr>
        <p:txBody>
          <a:bodyPr wrap="square" lIns="0" tIns="0" rIns="0" bIns="0" rtlCol="0" anchor="t"/>
          <a:lstStyle/>
          <a:p>
            <a:pPr marL="0" indent="0">
              <a:buNone/>
            </a:pPr>
            <a:r>
              <a:rPr lang="en-US" sz="1400" dirty="0">
                <a:solidFill>
                  <a:schemeClr val="accent5"/>
                </a:solidFill>
                <a:latin typeface="Calibri" pitchFamily="34" charset="0"/>
                <a:ea typeface="Calibri" pitchFamily="34" charset="-122"/>
                <a:cs typeface="Calibri" pitchFamily="34" charset="-120"/>
              </a:rPr>
              <a:t>Calendar features (sand) capture seasonality. Lag features (coral) carry recent demand forward.</a:t>
            </a:r>
            <a:endParaRPr lang="en-US" sz="1400" dirty="0"/>
          </a:p>
        </p:txBody>
      </p:sp>
      <p:sp>
        <p:nvSpPr>
          <p:cNvPr id="35" name="Text 33"/>
          <p:cNvSpPr txBox="1"/>
          <p:nvPr/>
        </p:nvSpPr>
        <p:spPr>
          <a:xfrm>
            <a:off x="6583680" y="4160520"/>
            <a:ext cx="4572000"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CHRONOLOGICAL SPLIT, DAYS</a:t>
            </a:r>
            <a:endParaRPr lang="en-US" sz="1200" dirty="0"/>
          </a:p>
        </p:txBody>
      </p:sp>
      <p:sp>
        <p:nvSpPr>
          <p:cNvPr id="36" name="Text 34"/>
          <p:cNvSpPr txBox="1"/>
          <p:nvPr/>
        </p:nvSpPr>
        <p:spPr>
          <a:xfrm>
            <a:off x="6583680" y="4526280"/>
            <a:ext cx="45720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Store Item Demand</a:t>
            </a:r>
            <a:endParaRPr lang="en-US" sz="1400" dirty="0"/>
          </a:p>
        </p:txBody>
      </p:sp>
      <p:sp>
        <p:nvSpPr>
          <p:cNvPr id="37" name="Store Item Demand train bar"/>
          <p:cNvSpPr/>
          <p:nvPr/>
        </p:nvSpPr>
        <p:spPr>
          <a:xfrm>
            <a:off x="6583680" y="4846320"/>
            <a:ext cx="4045306" cy="347472"/>
          </a:xfrm>
          <a:prstGeom prst="rect">
            <a:avLst/>
          </a:prstGeom>
          <a:solidFill>
            <a:schemeClr val="tx2"/>
          </a:solidFill>
          <a:ln w="12700">
            <a:solidFill>
              <a:schemeClr val="tx2"/>
            </a:solidFill>
            <a:prstDash val="solid"/>
          </a:ln>
        </p:spPr>
      </p:sp>
      <p:sp>
        <p:nvSpPr>
          <p:cNvPr id="38" name="Store Item Demand validation bar"/>
          <p:cNvSpPr/>
          <p:nvPr/>
        </p:nvSpPr>
        <p:spPr>
          <a:xfrm>
            <a:off x="10628986" y="4846320"/>
            <a:ext cx="1011326" cy="347472"/>
          </a:xfrm>
          <a:prstGeom prst="rect">
            <a:avLst/>
          </a:prstGeom>
          <a:solidFill>
            <a:schemeClr val="accent2"/>
          </a:solidFill>
          <a:ln w="12700">
            <a:solidFill>
              <a:schemeClr val="accent2"/>
            </a:solidFill>
            <a:prstDash val="solid"/>
          </a:ln>
        </p:spPr>
      </p:sp>
      <p:sp>
        <p:nvSpPr>
          <p:cNvPr id="39" name="Text 37"/>
          <p:cNvSpPr txBox="1"/>
          <p:nvPr/>
        </p:nvSpPr>
        <p:spPr>
          <a:xfrm>
            <a:off x="6675120" y="4846320"/>
            <a:ext cx="2743200" cy="347472"/>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Train 1,449</a:t>
            </a:r>
            <a:endParaRPr lang="en-US" sz="1400" dirty="0"/>
          </a:p>
        </p:txBody>
      </p:sp>
      <p:sp>
        <p:nvSpPr>
          <p:cNvPr id="40" name="Text 38"/>
          <p:cNvSpPr txBox="1"/>
          <p:nvPr/>
        </p:nvSpPr>
        <p:spPr>
          <a:xfrm>
            <a:off x="10628986" y="4846320"/>
            <a:ext cx="1011326"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363</a:t>
            </a:r>
            <a:endParaRPr lang="en-US" sz="1400" dirty="0"/>
          </a:p>
        </p:txBody>
      </p:sp>
      <p:sp>
        <p:nvSpPr>
          <p:cNvPr id="41" name="Text 39"/>
          <p:cNvSpPr txBox="1"/>
          <p:nvPr/>
        </p:nvSpPr>
        <p:spPr>
          <a:xfrm>
            <a:off x="6583680" y="5394960"/>
            <a:ext cx="45720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Rossmann</a:t>
            </a:r>
            <a:endParaRPr lang="en-US" sz="1400" dirty="0"/>
          </a:p>
        </p:txBody>
      </p:sp>
      <p:sp>
        <p:nvSpPr>
          <p:cNvPr id="42" name="Rossmann train bar"/>
          <p:cNvSpPr/>
          <p:nvPr/>
        </p:nvSpPr>
        <p:spPr>
          <a:xfrm>
            <a:off x="6583680" y="5715000"/>
            <a:ext cx="4045306" cy="347472"/>
          </a:xfrm>
          <a:prstGeom prst="rect">
            <a:avLst/>
          </a:prstGeom>
          <a:solidFill>
            <a:schemeClr val="tx2"/>
          </a:solidFill>
          <a:ln w="12700">
            <a:solidFill>
              <a:schemeClr val="tx2"/>
            </a:solidFill>
            <a:prstDash val="solid"/>
          </a:ln>
        </p:spPr>
      </p:sp>
      <p:sp>
        <p:nvSpPr>
          <p:cNvPr id="43" name="Rossmann validation bar"/>
          <p:cNvSpPr/>
          <p:nvPr/>
        </p:nvSpPr>
        <p:spPr>
          <a:xfrm>
            <a:off x="10628986" y="5715000"/>
            <a:ext cx="1011326" cy="347472"/>
          </a:xfrm>
          <a:prstGeom prst="rect">
            <a:avLst/>
          </a:prstGeom>
          <a:solidFill>
            <a:schemeClr val="accent2"/>
          </a:solidFill>
          <a:ln w="12700">
            <a:solidFill>
              <a:schemeClr val="accent2"/>
            </a:solidFill>
            <a:prstDash val="solid"/>
          </a:ln>
        </p:spPr>
      </p:sp>
      <p:sp>
        <p:nvSpPr>
          <p:cNvPr id="44" name="Text 42"/>
          <p:cNvSpPr txBox="1"/>
          <p:nvPr/>
        </p:nvSpPr>
        <p:spPr>
          <a:xfrm>
            <a:off x="6675120" y="5715000"/>
            <a:ext cx="2743200" cy="347472"/>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Train 742</a:t>
            </a:r>
            <a:endParaRPr lang="en-US" sz="1400" dirty="0"/>
          </a:p>
        </p:txBody>
      </p:sp>
      <p:sp>
        <p:nvSpPr>
          <p:cNvPr id="45" name="Text 43"/>
          <p:cNvSpPr txBox="1"/>
          <p:nvPr/>
        </p:nvSpPr>
        <p:spPr>
          <a:xfrm>
            <a:off x="10628986" y="5715000"/>
            <a:ext cx="1011326"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186</a:t>
            </a:r>
            <a:endParaRPr lang="en-US" sz="1400" dirty="0"/>
          </a:p>
        </p:txBody>
      </p:sp>
      <p:sp>
        <p:nvSpPr>
          <p:cNvPr id="46"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06  KDD STEP 4</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Data mining: five regressors, five ways of learning</a:t>
            </a:r>
            <a:endParaRPr lang="en-US" sz="3200" dirty="0"/>
          </a:p>
        </p:txBody>
      </p:sp>
      <p:sp>
        <p:nvSpPr>
          <p:cNvPr id="5" name="Text 3"/>
          <p:cNvSpPr txBox="1"/>
          <p:nvPr/>
        </p:nvSpPr>
        <p:spPr>
          <a:xfrm>
            <a:off x="3657600" y="1783080"/>
            <a:ext cx="2743200" cy="256032"/>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APPROACH</a:t>
            </a:r>
            <a:endParaRPr lang="en-US" sz="1200" dirty="0"/>
          </a:p>
        </p:txBody>
      </p:sp>
      <p:sp>
        <p:nvSpPr>
          <p:cNvPr id="6" name="Text 4"/>
          <p:cNvSpPr txBox="1"/>
          <p:nvPr/>
        </p:nvSpPr>
        <p:spPr>
          <a:xfrm>
            <a:off x="9144000" y="1783080"/>
            <a:ext cx="2468880" cy="256032"/>
          </a:xfrm>
          <a:prstGeom prst="rect">
            <a:avLst/>
          </a:prstGeom>
          <a:noFill/>
          <a:ln/>
        </p:spPr>
        <p:txBody>
          <a:bodyPr wrap="square" lIns="0" tIns="0" rIns="0" bIns="0" rtlCol="0" anchor="ctr"/>
          <a:lstStyle/>
          <a:p>
            <a:pPr marL="0" indent="0">
              <a:buNone/>
            </a:pPr>
            <a:endParaRPr lang="en-US" sz="1200" dirty="0"/>
          </a:p>
        </p:txBody>
      </p:sp>
      <p:sp>
        <p:nvSpPr>
          <p:cNvPr id="7" name="Shape 5"/>
          <p:cNvSpPr/>
          <p:nvPr/>
        </p:nvSpPr>
        <p:spPr>
          <a:xfrm>
            <a:off x="548640" y="2103120"/>
            <a:ext cx="11091672" cy="0"/>
          </a:xfrm>
          <a:prstGeom prst="line">
            <a:avLst/>
          </a:prstGeom>
          <a:noFill/>
          <a:ln w="9525">
            <a:solidFill>
              <a:schemeClr val="accent3"/>
            </a:solidFill>
            <a:prstDash val="solid"/>
          </a:ln>
        </p:spPr>
      </p:sp>
      <p:sp>
        <p:nvSpPr>
          <p:cNvPr id="8" name="Text 6"/>
          <p:cNvSpPr txBox="1"/>
          <p:nvPr/>
        </p:nvSpPr>
        <p:spPr>
          <a:xfrm>
            <a:off x="685800" y="2148840"/>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9" name="Text 7"/>
          <p:cNvSpPr txBox="1"/>
          <p:nvPr/>
        </p:nvSpPr>
        <p:spPr>
          <a:xfrm>
            <a:off x="1188720" y="2148840"/>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Linear Regression</a:t>
            </a:r>
            <a:endParaRPr lang="en-US" sz="2000" dirty="0"/>
          </a:p>
        </p:txBody>
      </p:sp>
      <p:sp>
        <p:nvSpPr>
          <p:cNvPr id="10" name="Text 8"/>
          <p:cNvSpPr txBox="1"/>
          <p:nvPr/>
        </p:nvSpPr>
        <p:spPr>
          <a:xfrm>
            <a:off x="3657600" y="2148840"/>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Fits one straight-line equation across all eight features. Fast and transparent, but cannot bend to non-linear patterns.</a:t>
            </a:r>
            <a:endParaRPr lang="en-US" sz="1400" dirty="0"/>
          </a:p>
        </p:txBody>
      </p:sp>
      <p:sp>
        <p:nvSpPr>
          <p:cNvPr id="11" name="Text 9"/>
          <p:cNvSpPr txBox="1"/>
          <p:nvPr/>
        </p:nvSpPr>
        <p:spPr>
          <a:xfrm>
            <a:off x="9144000" y="2148840"/>
            <a:ext cx="2423160" cy="777240"/>
          </a:xfrm>
          <a:prstGeom prst="rect">
            <a:avLst/>
          </a:prstGeom>
          <a:noFill/>
          <a:ln/>
        </p:spPr>
        <p:txBody>
          <a:bodyPr wrap="square" lIns="0" tIns="0" rIns="0" bIns="0" rtlCol="0" anchor="ctr"/>
          <a:lstStyle/>
          <a:p>
            <a:pPr marL="0" indent="0">
              <a:buNone/>
            </a:pPr>
            <a:endParaRPr lang="en-US" sz="1300" dirty="0"/>
          </a:p>
        </p:txBody>
      </p:sp>
      <p:sp>
        <p:nvSpPr>
          <p:cNvPr id="12" name="Shape 10"/>
          <p:cNvSpPr/>
          <p:nvPr/>
        </p:nvSpPr>
        <p:spPr>
          <a:xfrm>
            <a:off x="548640" y="2944368"/>
            <a:ext cx="11091672" cy="0"/>
          </a:xfrm>
          <a:prstGeom prst="line">
            <a:avLst/>
          </a:prstGeom>
          <a:noFill/>
          <a:ln w="9525">
            <a:solidFill>
              <a:schemeClr val="accent3"/>
            </a:solidFill>
            <a:prstDash val="solid"/>
          </a:ln>
        </p:spPr>
      </p:sp>
      <p:sp>
        <p:nvSpPr>
          <p:cNvPr id="13" name="Text 11"/>
          <p:cNvSpPr txBox="1"/>
          <p:nvPr/>
        </p:nvSpPr>
        <p:spPr>
          <a:xfrm>
            <a:off x="685800" y="2990088"/>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14" name="Text 12"/>
          <p:cNvSpPr txBox="1"/>
          <p:nvPr/>
        </p:nvSpPr>
        <p:spPr>
          <a:xfrm>
            <a:off x="1188720" y="2990088"/>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Decision Tree</a:t>
            </a:r>
            <a:endParaRPr lang="en-US" sz="2000" dirty="0"/>
          </a:p>
        </p:txBody>
      </p:sp>
      <p:sp>
        <p:nvSpPr>
          <p:cNvPr id="15" name="Text 13"/>
          <p:cNvSpPr txBox="1"/>
          <p:nvPr/>
        </p:nvSpPr>
        <p:spPr>
          <a:xfrm>
            <a:off x="3657600" y="2990088"/>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Splits the data into branches on feature thresholds and predicts each leaf's average. Depth is capped to limit overfitting.</a:t>
            </a:r>
            <a:endParaRPr lang="en-US" sz="1400" dirty="0"/>
          </a:p>
        </p:txBody>
      </p:sp>
      <p:sp>
        <p:nvSpPr>
          <p:cNvPr id="16" name="Text 14"/>
          <p:cNvSpPr txBox="1"/>
          <p:nvPr/>
        </p:nvSpPr>
        <p:spPr>
          <a:xfrm>
            <a:off x="8995410" y="2889505"/>
            <a:ext cx="2423160" cy="777240"/>
          </a:xfrm>
          <a:prstGeom prst="rect">
            <a:avLst/>
          </a:prstGeom>
          <a:noFill/>
          <a:ln/>
        </p:spPr>
        <p:txBody>
          <a:bodyPr wrap="square" lIns="0" tIns="0" rIns="0" bIns="0" rtlCol="0" anchor="ctr"/>
          <a:lstStyle/>
          <a:p>
            <a:pPr marL="0" indent="0">
              <a:buNone/>
            </a:pPr>
            <a:endParaRPr lang="en-US" sz="1300" dirty="0"/>
          </a:p>
        </p:txBody>
      </p:sp>
      <p:sp>
        <p:nvSpPr>
          <p:cNvPr id="17" name="Shape 15"/>
          <p:cNvSpPr/>
          <p:nvPr/>
        </p:nvSpPr>
        <p:spPr>
          <a:xfrm>
            <a:off x="548640" y="3785616"/>
            <a:ext cx="11091672" cy="0"/>
          </a:xfrm>
          <a:prstGeom prst="line">
            <a:avLst/>
          </a:prstGeom>
          <a:noFill/>
          <a:ln w="9525">
            <a:solidFill>
              <a:schemeClr val="accent3"/>
            </a:solidFill>
            <a:prstDash val="solid"/>
          </a:ln>
        </p:spPr>
      </p:sp>
      <p:sp>
        <p:nvSpPr>
          <p:cNvPr id="18" name="Text 16"/>
          <p:cNvSpPr txBox="1"/>
          <p:nvPr/>
        </p:nvSpPr>
        <p:spPr>
          <a:xfrm>
            <a:off x="685800" y="3831336"/>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1188720" y="3831336"/>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Random Forest</a:t>
            </a:r>
            <a:endParaRPr lang="en-US" sz="2000" dirty="0"/>
          </a:p>
        </p:txBody>
      </p:sp>
      <p:sp>
        <p:nvSpPr>
          <p:cNvPr id="20" name="Text 18"/>
          <p:cNvSpPr txBox="1"/>
          <p:nvPr/>
        </p:nvSpPr>
        <p:spPr>
          <a:xfrm>
            <a:off x="3657600" y="3831336"/>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Grows 100 trees on bootstrap samples and averages them, which reduces the variance of any single tree.</a:t>
            </a:r>
            <a:endParaRPr lang="en-US" sz="1400" dirty="0"/>
          </a:p>
        </p:txBody>
      </p:sp>
      <p:sp>
        <p:nvSpPr>
          <p:cNvPr id="21" name="Text 19"/>
          <p:cNvSpPr txBox="1"/>
          <p:nvPr/>
        </p:nvSpPr>
        <p:spPr>
          <a:xfrm>
            <a:off x="9144000" y="3831336"/>
            <a:ext cx="2423160" cy="777240"/>
          </a:xfrm>
          <a:prstGeom prst="rect">
            <a:avLst/>
          </a:prstGeom>
          <a:noFill/>
          <a:ln/>
        </p:spPr>
        <p:txBody>
          <a:bodyPr wrap="square" lIns="0" tIns="0" rIns="0" bIns="0" rtlCol="0" anchor="ctr"/>
          <a:lstStyle/>
          <a:p>
            <a:pPr marL="0" indent="0">
              <a:buNone/>
            </a:pPr>
            <a:endParaRPr lang="en-US" sz="1300" dirty="0"/>
          </a:p>
        </p:txBody>
      </p:sp>
      <p:sp>
        <p:nvSpPr>
          <p:cNvPr id="22" name="Extra Trees highlight"/>
          <p:cNvSpPr/>
          <p:nvPr/>
        </p:nvSpPr>
        <p:spPr>
          <a:xfrm>
            <a:off x="548640" y="4645152"/>
            <a:ext cx="11091672" cy="804672"/>
          </a:xfrm>
          <a:prstGeom prst="rect">
            <a:avLst/>
          </a:prstGeom>
          <a:solidFill>
            <a:srgbClr val="F4D9CF"/>
          </a:solidFill>
          <a:ln w="12700">
            <a:solidFill>
              <a:srgbClr val="F4D9CF"/>
            </a:solidFill>
            <a:prstDash val="solid"/>
          </a:ln>
        </p:spPr>
      </p:sp>
      <p:sp>
        <p:nvSpPr>
          <p:cNvPr id="23" name="Shape 21"/>
          <p:cNvSpPr/>
          <p:nvPr/>
        </p:nvSpPr>
        <p:spPr>
          <a:xfrm>
            <a:off x="548640" y="4626864"/>
            <a:ext cx="11091672" cy="0"/>
          </a:xfrm>
          <a:prstGeom prst="line">
            <a:avLst/>
          </a:prstGeom>
          <a:noFill/>
          <a:ln w="9525">
            <a:solidFill>
              <a:schemeClr val="accent3"/>
            </a:solidFill>
            <a:prstDash val="solid"/>
          </a:ln>
        </p:spPr>
      </p:sp>
      <p:sp>
        <p:nvSpPr>
          <p:cNvPr id="24" name="Text 22"/>
          <p:cNvSpPr txBox="1"/>
          <p:nvPr/>
        </p:nvSpPr>
        <p:spPr>
          <a:xfrm>
            <a:off x="685800" y="4672584"/>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4</a:t>
            </a:r>
            <a:endParaRPr lang="en-US" sz="2800" dirty="0"/>
          </a:p>
        </p:txBody>
      </p:sp>
      <p:sp>
        <p:nvSpPr>
          <p:cNvPr id="25" name="Text 23"/>
          <p:cNvSpPr txBox="1"/>
          <p:nvPr/>
        </p:nvSpPr>
        <p:spPr>
          <a:xfrm>
            <a:off x="1188720" y="4672584"/>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Extra Trees</a:t>
            </a:r>
            <a:endParaRPr lang="en-US" sz="2000" dirty="0"/>
          </a:p>
        </p:txBody>
      </p:sp>
      <p:sp>
        <p:nvSpPr>
          <p:cNvPr id="26" name="Text 24"/>
          <p:cNvSpPr txBox="1"/>
          <p:nvPr/>
        </p:nvSpPr>
        <p:spPr>
          <a:xfrm>
            <a:off x="3657600" y="4672584"/>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Also averages 100 trees, but picks split thresholds at random instead of searching for the best one, which smooths the prediction.</a:t>
            </a:r>
            <a:endParaRPr lang="en-US" sz="1400" dirty="0"/>
          </a:p>
        </p:txBody>
      </p:sp>
      <p:sp>
        <p:nvSpPr>
          <p:cNvPr id="27" name="Text 25"/>
          <p:cNvSpPr txBox="1"/>
          <p:nvPr/>
        </p:nvSpPr>
        <p:spPr>
          <a:xfrm>
            <a:off x="9144000" y="4672584"/>
            <a:ext cx="2423160" cy="777240"/>
          </a:xfrm>
          <a:prstGeom prst="rect">
            <a:avLst/>
          </a:prstGeom>
          <a:noFill/>
          <a:ln/>
        </p:spPr>
        <p:txBody>
          <a:bodyPr wrap="square" lIns="0" tIns="0" rIns="0" bIns="0" rtlCol="0" anchor="ctr"/>
          <a:lstStyle/>
          <a:p>
            <a:pPr marL="0" indent="0">
              <a:buNone/>
            </a:pPr>
            <a:endParaRPr lang="en-US" sz="1300" dirty="0"/>
          </a:p>
        </p:txBody>
      </p:sp>
      <p:sp>
        <p:nvSpPr>
          <p:cNvPr id="28" name="Shape 26"/>
          <p:cNvSpPr/>
          <p:nvPr/>
        </p:nvSpPr>
        <p:spPr>
          <a:xfrm>
            <a:off x="548640" y="5468112"/>
            <a:ext cx="11091672" cy="0"/>
          </a:xfrm>
          <a:prstGeom prst="line">
            <a:avLst/>
          </a:prstGeom>
          <a:noFill/>
          <a:ln w="9525">
            <a:solidFill>
              <a:schemeClr val="accent3"/>
            </a:solidFill>
            <a:prstDash val="solid"/>
          </a:ln>
        </p:spPr>
      </p:sp>
      <p:sp>
        <p:nvSpPr>
          <p:cNvPr id="29" name="Text 27"/>
          <p:cNvSpPr txBox="1"/>
          <p:nvPr/>
        </p:nvSpPr>
        <p:spPr>
          <a:xfrm>
            <a:off x="685800" y="5513832"/>
            <a:ext cx="457200" cy="7772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5</a:t>
            </a:r>
            <a:endParaRPr lang="en-US" sz="2800" dirty="0"/>
          </a:p>
        </p:txBody>
      </p:sp>
      <p:sp>
        <p:nvSpPr>
          <p:cNvPr id="30" name="Text 28"/>
          <p:cNvSpPr txBox="1"/>
          <p:nvPr/>
        </p:nvSpPr>
        <p:spPr>
          <a:xfrm>
            <a:off x="1188720" y="5513832"/>
            <a:ext cx="2377440" cy="77724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Gradient Boosting</a:t>
            </a:r>
            <a:endParaRPr lang="en-US" sz="2000" dirty="0"/>
          </a:p>
        </p:txBody>
      </p:sp>
      <p:sp>
        <p:nvSpPr>
          <p:cNvPr id="31" name="Text 29"/>
          <p:cNvSpPr txBox="1"/>
          <p:nvPr/>
        </p:nvSpPr>
        <p:spPr>
          <a:xfrm>
            <a:off x="3657600" y="5513832"/>
            <a:ext cx="5303520" cy="7772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Builds trees one after another, each fitted to the errors left by the trees before it.</a:t>
            </a:r>
            <a:endParaRPr lang="en-US" sz="1400" dirty="0"/>
          </a:p>
        </p:txBody>
      </p:sp>
      <p:sp>
        <p:nvSpPr>
          <p:cNvPr id="32" name="Text 30"/>
          <p:cNvSpPr txBox="1"/>
          <p:nvPr/>
        </p:nvSpPr>
        <p:spPr>
          <a:xfrm>
            <a:off x="9144000" y="5513832"/>
            <a:ext cx="2423160" cy="777240"/>
          </a:xfrm>
          <a:prstGeom prst="rect">
            <a:avLst/>
          </a:prstGeom>
          <a:noFill/>
          <a:ln/>
        </p:spPr>
        <p:txBody>
          <a:bodyPr wrap="square" lIns="0" tIns="0" rIns="0" bIns="0" rtlCol="0" anchor="ctr"/>
          <a:lstStyle/>
          <a:p>
            <a:pPr marL="0" indent="0">
              <a:buNone/>
            </a:pPr>
            <a:endParaRPr lang="en-US" sz="1300" dirty="0"/>
          </a:p>
        </p:txBody>
      </p:sp>
      <p:sp>
        <p:nvSpPr>
          <p:cNvPr id="33" name="Shape 31"/>
          <p:cNvSpPr/>
          <p:nvPr/>
        </p:nvSpPr>
        <p:spPr>
          <a:xfrm>
            <a:off x="548640" y="6309360"/>
            <a:ext cx="11091672" cy="0"/>
          </a:xfrm>
          <a:prstGeom prst="line">
            <a:avLst/>
          </a:prstGeom>
          <a:noFill/>
          <a:ln w="9525">
            <a:solidFill>
              <a:schemeClr val="accent3"/>
            </a:solidFill>
            <a:prstDash val="solid"/>
          </a:ln>
        </p:spPr>
      </p:sp>
      <p:sp>
        <p:nvSpPr>
          <p:cNvPr id="34"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07  KDD STEP 5</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Evaluation: four metrics, one validation window</a:t>
            </a:r>
            <a:endParaRPr lang="en-US" sz="3200" dirty="0"/>
          </a:p>
        </p:txBody>
      </p:sp>
      <p:sp>
        <p:nvSpPr>
          <p:cNvPr id="5" name="Shape 3"/>
          <p:cNvSpPr/>
          <p:nvPr/>
        </p:nvSpPr>
        <p:spPr>
          <a:xfrm>
            <a:off x="548640" y="1920240"/>
            <a:ext cx="3657600" cy="0"/>
          </a:xfrm>
          <a:prstGeom prst="line">
            <a:avLst/>
          </a:prstGeom>
          <a:noFill/>
          <a:ln w="19050">
            <a:solidFill>
              <a:schemeClr val="tx2"/>
            </a:solidFill>
            <a:prstDash val="solid"/>
          </a:ln>
        </p:spPr>
      </p:sp>
      <p:sp>
        <p:nvSpPr>
          <p:cNvPr id="6" name="Text 4"/>
          <p:cNvSpPr txBox="1"/>
          <p:nvPr/>
        </p:nvSpPr>
        <p:spPr>
          <a:xfrm>
            <a:off x="548640" y="2011680"/>
            <a:ext cx="3657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MAE</a:t>
            </a:r>
            <a:endParaRPr lang="en-US" sz="5400" dirty="0"/>
          </a:p>
        </p:txBody>
      </p:sp>
      <p:sp>
        <p:nvSpPr>
          <p:cNvPr id="7" name="Text 5"/>
          <p:cNvSpPr txBox="1"/>
          <p:nvPr/>
        </p:nvSpPr>
        <p:spPr>
          <a:xfrm>
            <a:off x="548640" y="2834640"/>
            <a:ext cx="3657600" cy="3200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Mean absolute error</a:t>
            </a:r>
            <a:endParaRPr lang="en-US" sz="1600" dirty="0"/>
          </a:p>
        </p:txBody>
      </p:sp>
      <p:sp>
        <p:nvSpPr>
          <p:cNvPr id="8" name="Text 6"/>
          <p:cNvSpPr txBox="1"/>
          <p:nvPr/>
        </p:nvSpPr>
        <p:spPr>
          <a:xfrm>
            <a:off x="548640" y="3182112"/>
            <a:ext cx="36576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 average size of a miss, in sales units. Easy to read and robust to a few large misses.</a:t>
            </a:r>
            <a:endParaRPr lang="en-US" sz="1400" dirty="0"/>
          </a:p>
        </p:txBody>
      </p:sp>
      <p:sp>
        <p:nvSpPr>
          <p:cNvPr id="9" name="Shape 7"/>
          <p:cNvSpPr/>
          <p:nvPr/>
        </p:nvSpPr>
        <p:spPr>
          <a:xfrm>
            <a:off x="4526280" y="1920240"/>
            <a:ext cx="3657600" cy="0"/>
          </a:xfrm>
          <a:prstGeom prst="line">
            <a:avLst/>
          </a:prstGeom>
          <a:noFill/>
          <a:ln w="19050">
            <a:solidFill>
              <a:schemeClr val="tx2"/>
            </a:solidFill>
            <a:prstDash val="solid"/>
          </a:ln>
        </p:spPr>
      </p:sp>
      <p:sp>
        <p:nvSpPr>
          <p:cNvPr id="10" name="Text 8"/>
          <p:cNvSpPr txBox="1"/>
          <p:nvPr/>
        </p:nvSpPr>
        <p:spPr>
          <a:xfrm>
            <a:off x="4526280" y="2011680"/>
            <a:ext cx="3657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RMSE</a:t>
            </a:r>
            <a:endParaRPr lang="en-US" sz="5400" dirty="0"/>
          </a:p>
        </p:txBody>
      </p:sp>
      <p:sp>
        <p:nvSpPr>
          <p:cNvPr id="11" name="Text 9"/>
          <p:cNvSpPr txBox="1"/>
          <p:nvPr/>
        </p:nvSpPr>
        <p:spPr>
          <a:xfrm>
            <a:off x="4526280" y="2834640"/>
            <a:ext cx="3657600" cy="3200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Root mean squared error</a:t>
            </a:r>
            <a:endParaRPr lang="en-US" sz="1600" dirty="0"/>
          </a:p>
        </p:txBody>
      </p:sp>
      <p:sp>
        <p:nvSpPr>
          <p:cNvPr id="12" name="Text 10"/>
          <p:cNvSpPr txBox="1"/>
          <p:nvPr/>
        </p:nvSpPr>
        <p:spPr>
          <a:xfrm>
            <a:off x="4526280" y="3182112"/>
            <a:ext cx="36576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Squares each miss before averaging, so large errors weigh more. A gap between RMSE and MAE signals occasional big misses.</a:t>
            </a:r>
            <a:endParaRPr lang="en-US" sz="1400" dirty="0"/>
          </a:p>
        </p:txBody>
      </p:sp>
      <p:sp>
        <p:nvSpPr>
          <p:cNvPr id="13" name="Shape 11"/>
          <p:cNvSpPr/>
          <p:nvPr/>
        </p:nvSpPr>
        <p:spPr>
          <a:xfrm>
            <a:off x="548640" y="4114800"/>
            <a:ext cx="3657600" cy="0"/>
          </a:xfrm>
          <a:prstGeom prst="line">
            <a:avLst/>
          </a:prstGeom>
          <a:noFill/>
          <a:ln w="19050">
            <a:solidFill>
              <a:schemeClr val="tx2"/>
            </a:solidFill>
            <a:prstDash val="solid"/>
          </a:ln>
        </p:spPr>
      </p:sp>
      <p:sp>
        <p:nvSpPr>
          <p:cNvPr id="14" name="Text 12"/>
          <p:cNvSpPr txBox="1"/>
          <p:nvPr/>
        </p:nvSpPr>
        <p:spPr>
          <a:xfrm>
            <a:off x="548640" y="4206240"/>
            <a:ext cx="3657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WAPE</a:t>
            </a:r>
            <a:endParaRPr lang="en-US" sz="5400" dirty="0"/>
          </a:p>
        </p:txBody>
      </p:sp>
      <p:sp>
        <p:nvSpPr>
          <p:cNvPr id="15" name="Text 13"/>
          <p:cNvSpPr txBox="1"/>
          <p:nvPr/>
        </p:nvSpPr>
        <p:spPr>
          <a:xfrm>
            <a:off x="548640" y="5029200"/>
            <a:ext cx="3657600" cy="3200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Weighted absolute percentage error</a:t>
            </a:r>
            <a:endParaRPr lang="en-US" sz="1600" dirty="0"/>
          </a:p>
        </p:txBody>
      </p:sp>
      <p:sp>
        <p:nvSpPr>
          <p:cNvPr id="16" name="Text 14"/>
          <p:cNvSpPr txBox="1"/>
          <p:nvPr/>
        </p:nvSpPr>
        <p:spPr>
          <a:xfrm>
            <a:off x="548640" y="5376672"/>
            <a:ext cx="36576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Total absolute error divided by total actual sales, in percent. Scale free, so it compares the two datasets fairly.</a:t>
            </a:r>
            <a:endParaRPr lang="en-US" sz="1400" dirty="0"/>
          </a:p>
        </p:txBody>
      </p:sp>
      <p:sp>
        <p:nvSpPr>
          <p:cNvPr id="17" name="Shape 15"/>
          <p:cNvSpPr/>
          <p:nvPr/>
        </p:nvSpPr>
        <p:spPr>
          <a:xfrm>
            <a:off x="4526280" y="4114800"/>
            <a:ext cx="3657600" cy="0"/>
          </a:xfrm>
          <a:prstGeom prst="line">
            <a:avLst/>
          </a:prstGeom>
          <a:noFill/>
          <a:ln w="19050">
            <a:solidFill>
              <a:schemeClr val="tx2"/>
            </a:solidFill>
            <a:prstDash val="solid"/>
          </a:ln>
        </p:spPr>
      </p:sp>
      <p:sp>
        <p:nvSpPr>
          <p:cNvPr id="18" name="Text 16"/>
          <p:cNvSpPr txBox="1"/>
          <p:nvPr/>
        </p:nvSpPr>
        <p:spPr>
          <a:xfrm>
            <a:off x="4526280" y="4206240"/>
            <a:ext cx="3657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R²</a:t>
            </a:r>
            <a:endParaRPr lang="en-US" sz="5400" dirty="0"/>
          </a:p>
        </p:txBody>
      </p:sp>
      <p:sp>
        <p:nvSpPr>
          <p:cNvPr id="19" name="Text 17"/>
          <p:cNvSpPr txBox="1"/>
          <p:nvPr/>
        </p:nvSpPr>
        <p:spPr>
          <a:xfrm>
            <a:off x="4526280" y="5029200"/>
            <a:ext cx="3657600" cy="3200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Coefficient of determination</a:t>
            </a:r>
            <a:endParaRPr lang="en-US" sz="1600" dirty="0"/>
          </a:p>
        </p:txBody>
      </p:sp>
      <p:sp>
        <p:nvSpPr>
          <p:cNvPr id="20" name="Text 18"/>
          <p:cNvSpPr txBox="1"/>
          <p:nvPr/>
        </p:nvSpPr>
        <p:spPr>
          <a:xfrm>
            <a:off x="4526280" y="5376672"/>
            <a:ext cx="365760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 share of variation in daily sales that the model explains. 1.0 is a perfect fit.</a:t>
            </a:r>
            <a:endParaRPr lang="en-US" sz="1400" dirty="0"/>
          </a:p>
        </p:txBody>
      </p:sp>
      <p:sp>
        <p:nvSpPr>
          <p:cNvPr id="21" name="Protocol panel"/>
          <p:cNvSpPr/>
          <p:nvPr/>
        </p:nvSpPr>
        <p:spPr>
          <a:xfrm>
            <a:off x="8595360" y="1920240"/>
            <a:ext cx="3044952" cy="4160520"/>
          </a:xfrm>
          <a:prstGeom prst="rect">
            <a:avLst/>
          </a:prstGeom>
          <a:solidFill>
            <a:schemeClr val="tx2"/>
          </a:solidFill>
          <a:ln w="12700">
            <a:solidFill>
              <a:schemeClr val="tx2"/>
            </a:solidFill>
            <a:prstDash val="solid"/>
          </a:ln>
        </p:spPr>
      </p:sp>
      <p:sp>
        <p:nvSpPr>
          <p:cNvPr id="22" name="Text 20"/>
          <p:cNvSpPr txBox="1"/>
          <p:nvPr/>
        </p:nvSpPr>
        <p:spPr>
          <a:xfrm>
            <a:off x="8869680" y="2148840"/>
            <a:ext cx="2560320" cy="457200"/>
          </a:xfrm>
          <a:prstGeom prst="rect">
            <a:avLst/>
          </a:prstGeom>
          <a:noFill/>
          <a:ln/>
        </p:spPr>
        <p:txBody>
          <a:bodyPr wrap="square" lIns="0" tIns="0" rIns="0" bIns="0" rtlCol="0" anchor="t"/>
          <a:lstStyle/>
          <a:p>
            <a:pPr marL="0" indent="0">
              <a:buNone/>
            </a:pPr>
            <a:r>
              <a:rPr lang="en-US" sz="1200" b="1" kern="0" spc="300" dirty="0">
                <a:solidFill>
                  <a:schemeClr val="accent3"/>
                </a:solidFill>
                <a:latin typeface="Calibri" pitchFamily="34" charset="0"/>
                <a:ea typeface="Calibri" pitchFamily="34" charset="-122"/>
                <a:cs typeface="Calibri" pitchFamily="34" charset="-120"/>
              </a:rPr>
              <a:t>HOW MODELS ARE JUDGED</a:t>
            </a:r>
            <a:endParaRPr lang="en-US" sz="1200" dirty="0"/>
          </a:p>
        </p:txBody>
      </p:sp>
      <p:sp>
        <p:nvSpPr>
          <p:cNvPr id="23" name="Text 21"/>
          <p:cNvSpPr txBox="1"/>
          <p:nvPr/>
        </p:nvSpPr>
        <p:spPr>
          <a:xfrm>
            <a:off x="8869680" y="2743200"/>
            <a:ext cx="2560320" cy="914400"/>
          </a:xfrm>
          <a:prstGeom prst="rect">
            <a:avLst/>
          </a:prstGeom>
          <a:noFill/>
          <a:ln/>
        </p:spPr>
        <p:txBody>
          <a:bodyPr wrap="square" lIns="0" tIns="0" rIns="0" bIns="0" rtlCol="0" anchor="t"/>
          <a:lstStyle/>
          <a:p>
            <a:pPr marL="0" indent="0">
              <a:buNone/>
            </a:pPr>
            <a:r>
              <a:rPr lang="en-US" sz="1600" dirty="0">
                <a:solidFill>
                  <a:schemeClr val="bg1"/>
                </a:solidFill>
                <a:latin typeface="Calibri" pitchFamily="34" charset="0"/>
                <a:ea typeface="Calibri" pitchFamily="34" charset="-122"/>
                <a:cs typeface="Calibri" pitchFamily="34" charset="-120"/>
              </a:rPr>
              <a:t>Latest 20% of days held out, never shuffled.</a:t>
            </a:r>
            <a:endParaRPr lang="en-US" sz="1600" dirty="0"/>
          </a:p>
        </p:txBody>
      </p:sp>
      <p:sp>
        <p:nvSpPr>
          <p:cNvPr id="24" name="Text 22"/>
          <p:cNvSpPr txBox="1"/>
          <p:nvPr/>
        </p:nvSpPr>
        <p:spPr>
          <a:xfrm>
            <a:off x="8869680" y="3749040"/>
            <a:ext cx="2560320" cy="914400"/>
          </a:xfrm>
          <a:prstGeom prst="rect">
            <a:avLst/>
          </a:prstGeom>
          <a:noFill/>
          <a:ln/>
        </p:spPr>
        <p:txBody>
          <a:bodyPr wrap="square" lIns="0" tIns="0" rIns="0" bIns="0" rtlCol="0" anchor="t"/>
          <a:lstStyle/>
          <a:p>
            <a:pPr marL="0" indent="0">
              <a:buNone/>
            </a:pPr>
            <a:r>
              <a:rPr lang="en-US" sz="1600" dirty="0">
                <a:solidFill>
                  <a:schemeClr val="bg1"/>
                </a:solidFill>
                <a:latin typeface="Calibri" pitchFamily="34" charset="0"/>
                <a:ea typeface="Calibri" pitchFamily="34" charset="-122"/>
                <a:cs typeface="Calibri" pitchFamily="34" charset="-120"/>
              </a:rPr>
              <a:t>Same eight features and split for all five models.</a:t>
            </a:r>
            <a:endParaRPr lang="en-US" sz="1600" dirty="0"/>
          </a:p>
        </p:txBody>
      </p:sp>
      <p:sp>
        <p:nvSpPr>
          <p:cNvPr id="25" name="Text 23"/>
          <p:cNvSpPr txBox="1"/>
          <p:nvPr/>
        </p:nvSpPr>
        <p:spPr>
          <a:xfrm>
            <a:off x="8869680" y="4754880"/>
            <a:ext cx="2560320" cy="1097280"/>
          </a:xfrm>
          <a:prstGeom prst="rect">
            <a:avLst/>
          </a:prstGeom>
          <a:noFill/>
          <a:ln/>
        </p:spPr>
        <p:txBody>
          <a:bodyPr wrap="square" lIns="0" tIns="0" rIns="0" bIns="0" rtlCol="0" anchor="t"/>
          <a:lstStyle/>
          <a:p>
            <a:pPr marL="0" indent="0">
              <a:buNone/>
            </a:pPr>
            <a:r>
              <a:rPr lang="en-US" sz="1600" b="1" dirty="0">
                <a:solidFill>
                  <a:schemeClr val="accent2"/>
                </a:solidFill>
                <a:latin typeface="Calibri" pitchFamily="34" charset="0"/>
                <a:ea typeface="Calibri" pitchFamily="34" charset="-122"/>
                <a:cs typeface="Calibri" pitchFamily="34" charset="-120"/>
              </a:rPr>
              <a:t>Best model per dataset = lowest MAE.</a:t>
            </a:r>
            <a:endParaRPr lang="en-US" sz="1600" dirty="0"/>
          </a:p>
        </p:txBody>
      </p:sp>
      <p:sp>
        <p:nvSpPr>
          <p:cNvPr id="26"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08  RESULT: STORE ITEM DEMAND</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Extra Trees follows the weekly rhythm and the July peak</a:t>
            </a:r>
            <a:endParaRPr lang="en-US" sz="3200" dirty="0"/>
          </a:p>
        </p:txBody>
      </p:sp>
      <p:pic>
        <p:nvPicPr>
          <p:cNvPr id="5" name="Store Item Demand actual vs predicted chart" descr="Line chart of actual and predicted total daily sales for Store Item Demand in 2017"/>
          <p:cNvPicPr>
            <a:picLocks noChangeAspect="1"/>
          </p:cNvPicPr>
          <p:nvPr/>
        </p:nvPicPr>
        <p:blipFill>
          <a:blip r:embed="rId3"/>
          <a:stretch>
            <a:fillRect/>
          </a:stretch>
        </p:blipFill>
        <p:spPr>
          <a:xfrm>
            <a:off x="548640" y="1783080"/>
            <a:ext cx="8138160" cy="3353825"/>
          </a:xfrm>
          <a:prstGeom prst="rect">
            <a:avLst/>
          </a:prstGeom>
        </p:spPr>
      </p:pic>
      <p:sp>
        <p:nvSpPr>
          <p:cNvPr id="6" name="Text 3"/>
          <p:cNvSpPr txBox="1"/>
          <p:nvPr/>
        </p:nvSpPr>
        <p:spPr>
          <a:xfrm>
            <a:off x="548640" y="5303520"/>
            <a:ext cx="8138160" cy="10058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 forecast tracks the weekly saw-tooth and the summer peak near 45,000 units almost line for line, and only undershoots a few sharp peaks. At WAPE 1.83%, daily totals are off by under 2% on average, which is tight enough to plan replenishment from.</a:t>
            </a:r>
            <a:endParaRPr lang="en-US" sz="1400" dirty="0"/>
          </a:p>
        </p:txBody>
      </p:sp>
      <p:sp>
        <p:nvSpPr>
          <p:cNvPr id="7" name="Shape 4"/>
          <p:cNvSpPr/>
          <p:nvPr/>
        </p:nvSpPr>
        <p:spPr>
          <a:xfrm>
            <a:off x="9235440" y="1783080"/>
            <a:ext cx="2404872" cy="0"/>
          </a:xfrm>
          <a:prstGeom prst="line">
            <a:avLst/>
          </a:prstGeom>
          <a:noFill/>
          <a:ln w="9525">
            <a:solidFill>
              <a:schemeClr val="accent3"/>
            </a:solidFill>
            <a:prstDash val="solid"/>
          </a:ln>
        </p:spPr>
      </p:sp>
      <p:sp>
        <p:nvSpPr>
          <p:cNvPr id="8" name="Text 5"/>
          <p:cNvSpPr txBox="1"/>
          <p:nvPr/>
        </p:nvSpPr>
        <p:spPr>
          <a:xfrm>
            <a:off x="9235440" y="189280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R²</a:t>
            </a:r>
            <a:endParaRPr lang="en-US" sz="1200" dirty="0"/>
          </a:p>
        </p:txBody>
      </p:sp>
      <p:sp>
        <p:nvSpPr>
          <p:cNvPr id="9" name="Text 6"/>
          <p:cNvSpPr txBox="1"/>
          <p:nvPr/>
        </p:nvSpPr>
        <p:spPr>
          <a:xfrm>
            <a:off x="9235440" y="2148840"/>
            <a:ext cx="2404872" cy="64008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0.9808</a:t>
            </a:r>
            <a:endParaRPr lang="en-US" sz="4400" dirty="0"/>
          </a:p>
        </p:txBody>
      </p:sp>
      <p:sp>
        <p:nvSpPr>
          <p:cNvPr id="10" name="Shape 7"/>
          <p:cNvSpPr/>
          <p:nvPr/>
        </p:nvSpPr>
        <p:spPr>
          <a:xfrm>
            <a:off x="9235440" y="2880360"/>
            <a:ext cx="2404872" cy="0"/>
          </a:xfrm>
          <a:prstGeom prst="line">
            <a:avLst/>
          </a:prstGeom>
          <a:noFill/>
          <a:ln w="9525">
            <a:solidFill>
              <a:schemeClr val="accent3"/>
            </a:solidFill>
            <a:prstDash val="solid"/>
          </a:ln>
        </p:spPr>
      </p:sp>
      <p:sp>
        <p:nvSpPr>
          <p:cNvPr id="11" name="Text 8"/>
          <p:cNvSpPr txBox="1"/>
          <p:nvPr/>
        </p:nvSpPr>
        <p:spPr>
          <a:xfrm>
            <a:off x="9235440" y="299008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MAE</a:t>
            </a:r>
            <a:endParaRPr lang="en-US" sz="1200" dirty="0"/>
          </a:p>
        </p:txBody>
      </p:sp>
      <p:sp>
        <p:nvSpPr>
          <p:cNvPr id="12" name="Text 9"/>
          <p:cNvSpPr txBox="1"/>
          <p:nvPr/>
        </p:nvSpPr>
        <p:spPr>
          <a:xfrm>
            <a:off x="9235440" y="3246120"/>
            <a:ext cx="2404872"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540.58</a:t>
            </a:r>
            <a:endParaRPr lang="en-US" sz="3600" dirty="0"/>
          </a:p>
        </p:txBody>
      </p:sp>
      <p:sp>
        <p:nvSpPr>
          <p:cNvPr id="13" name="Shape 10"/>
          <p:cNvSpPr/>
          <p:nvPr/>
        </p:nvSpPr>
        <p:spPr>
          <a:xfrm>
            <a:off x="9235440" y="3977640"/>
            <a:ext cx="2404872" cy="0"/>
          </a:xfrm>
          <a:prstGeom prst="line">
            <a:avLst/>
          </a:prstGeom>
          <a:noFill/>
          <a:ln w="9525">
            <a:solidFill>
              <a:schemeClr val="accent3"/>
            </a:solidFill>
            <a:prstDash val="solid"/>
          </a:ln>
        </p:spPr>
      </p:sp>
      <p:sp>
        <p:nvSpPr>
          <p:cNvPr id="14" name="Text 11"/>
          <p:cNvSpPr txBox="1"/>
          <p:nvPr/>
        </p:nvSpPr>
        <p:spPr>
          <a:xfrm>
            <a:off x="9235440" y="408736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RMSE</a:t>
            </a:r>
            <a:endParaRPr lang="en-US" sz="1200" dirty="0"/>
          </a:p>
        </p:txBody>
      </p:sp>
      <p:sp>
        <p:nvSpPr>
          <p:cNvPr id="15" name="Text 12"/>
          <p:cNvSpPr txBox="1"/>
          <p:nvPr/>
        </p:nvSpPr>
        <p:spPr>
          <a:xfrm>
            <a:off x="9235440" y="4343400"/>
            <a:ext cx="2404872"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898.45</a:t>
            </a:r>
            <a:endParaRPr lang="en-US" sz="3600" dirty="0"/>
          </a:p>
        </p:txBody>
      </p:sp>
      <p:sp>
        <p:nvSpPr>
          <p:cNvPr id="16" name="Shape 13"/>
          <p:cNvSpPr/>
          <p:nvPr/>
        </p:nvSpPr>
        <p:spPr>
          <a:xfrm>
            <a:off x="9235440" y="5074920"/>
            <a:ext cx="2404872" cy="0"/>
          </a:xfrm>
          <a:prstGeom prst="line">
            <a:avLst/>
          </a:prstGeom>
          <a:noFill/>
          <a:ln w="9525">
            <a:solidFill>
              <a:schemeClr val="accent3"/>
            </a:solidFill>
            <a:prstDash val="solid"/>
          </a:ln>
        </p:spPr>
      </p:sp>
      <p:sp>
        <p:nvSpPr>
          <p:cNvPr id="17" name="Text 14"/>
          <p:cNvSpPr txBox="1"/>
          <p:nvPr/>
        </p:nvSpPr>
        <p:spPr>
          <a:xfrm>
            <a:off x="9235440" y="518464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WAPE</a:t>
            </a:r>
            <a:endParaRPr lang="en-US" sz="1200" dirty="0"/>
          </a:p>
        </p:txBody>
      </p:sp>
      <p:sp>
        <p:nvSpPr>
          <p:cNvPr id="18" name="Text 15"/>
          <p:cNvSpPr txBox="1"/>
          <p:nvPr/>
        </p:nvSpPr>
        <p:spPr>
          <a:xfrm>
            <a:off x="9235440" y="5440680"/>
            <a:ext cx="2404872"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1.83%</a:t>
            </a:r>
            <a:endParaRPr lang="en-US" sz="36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09  RESULT: ROSSMANN</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Rossmann is harder: weekly cycle caught, spikes missed</a:t>
            </a:r>
            <a:endParaRPr lang="en-US" sz="3200" dirty="0"/>
          </a:p>
        </p:txBody>
      </p:sp>
      <p:sp>
        <p:nvSpPr>
          <p:cNvPr id="5" name="Shape 3"/>
          <p:cNvSpPr/>
          <p:nvPr/>
        </p:nvSpPr>
        <p:spPr>
          <a:xfrm>
            <a:off x="548640" y="1783080"/>
            <a:ext cx="2404872" cy="0"/>
          </a:xfrm>
          <a:prstGeom prst="line">
            <a:avLst/>
          </a:prstGeom>
          <a:noFill/>
          <a:ln w="9525">
            <a:solidFill>
              <a:schemeClr val="accent3"/>
            </a:solidFill>
            <a:prstDash val="solid"/>
          </a:ln>
        </p:spPr>
      </p:sp>
      <p:sp>
        <p:nvSpPr>
          <p:cNvPr id="6" name="Text 4"/>
          <p:cNvSpPr txBox="1"/>
          <p:nvPr/>
        </p:nvSpPr>
        <p:spPr>
          <a:xfrm>
            <a:off x="548640" y="189280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R²</a:t>
            </a:r>
            <a:endParaRPr lang="en-US" sz="1200" dirty="0"/>
          </a:p>
        </p:txBody>
      </p:sp>
      <p:sp>
        <p:nvSpPr>
          <p:cNvPr id="7" name="Text 5"/>
          <p:cNvSpPr txBox="1"/>
          <p:nvPr/>
        </p:nvSpPr>
        <p:spPr>
          <a:xfrm>
            <a:off x="548640" y="2148840"/>
            <a:ext cx="2404872" cy="64008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0.8281</a:t>
            </a:r>
            <a:endParaRPr lang="en-US" sz="4400" dirty="0"/>
          </a:p>
        </p:txBody>
      </p:sp>
      <p:sp>
        <p:nvSpPr>
          <p:cNvPr id="8" name="Shape 6"/>
          <p:cNvSpPr/>
          <p:nvPr/>
        </p:nvSpPr>
        <p:spPr>
          <a:xfrm>
            <a:off x="548640" y="2880360"/>
            <a:ext cx="2404872" cy="0"/>
          </a:xfrm>
          <a:prstGeom prst="line">
            <a:avLst/>
          </a:prstGeom>
          <a:noFill/>
          <a:ln w="9525">
            <a:solidFill>
              <a:schemeClr val="accent3"/>
            </a:solidFill>
            <a:prstDash val="solid"/>
          </a:ln>
        </p:spPr>
      </p:sp>
      <p:sp>
        <p:nvSpPr>
          <p:cNvPr id="9" name="Text 7"/>
          <p:cNvSpPr txBox="1"/>
          <p:nvPr/>
        </p:nvSpPr>
        <p:spPr>
          <a:xfrm>
            <a:off x="548640" y="299008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MAE</a:t>
            </a:r>
            <a:endParaRPr lang="en-US" sz="1200" dirty="0"/>
          </a:p>
        </p:txBody>
      </p:sp>
      <p:sp>
        <p:nvSpPr>
          <p:cNvPr id="10" name="Text 8"/>
          <p:cNvSpPr txBox="1"/>
          <p:nvPr/>
        </p:nvSpPr>
        <p:spPr>
          <a:xfrm>
            <a:off x="548640" y="3246120"/>
            <a:ext cx="2404872"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724,881</a:t>
            </a:r>
            <a:endParaRPr lang="en-US" sz="3600" dirty="0"/>
          </a:p>
        </p:txBody>
      </p:sp>
      <p:sp>
        <p:nvSpPr>
          <p:cNvPr id="11" name="Shape 9"/>
          <p:cNvSpPr/>
          <p:nvPr/>
        </p:nvSpPr>
        <p:spPr>
          <a:xfrm>
            <a:off x="548640" y="3977640"/>
            <a:ext cx="2404872" cy="0"/>
          </a:xfrm>
          <a:prstGeom prst="line">
            <a:avLst/>
          </a:prstGeom>
          <a:noFill/>
          <a:ln w="9525">
            <a:solidFill>
              <a:schemeClr val="accent3"/>
            </a:solidFill>
            <a:prstDash val="solid"/>
          </a:ln>
        </p:spPr>
      </p:sp>
      <p:sp>
        <p:nvSpPr>
          <p:cNvPr id="12" name="Text 10"/>
          <p:cNvSpPr txBox="1"/>
          <p:nvPr/>
        </p:nvSpPr>
        <p:spPr>
          <a:xfrm>
            <a:off x="548640" y="408736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RMSE</a:t>
            </a:r>
            <a:endParaRPr lang="en-US" sz="1200" dirty="0"/>
          </a:p>
        </p:txBody>
      </p:sp>
      <p:sp>
        <p:nvSpPr>
          <p:cNvPr id="13" name="Text 11"/>
          <p:cNvSpPr txBox="1"/>
          <p:nvPr/>
        </p:nvSpPr>
        <p:spPr>
          <a:xfrm>
            <a:off x="548640" y="4343400"/>
            <a:ext cx="2404872"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1,332,483</a:t>
            </a:r>
            <a:endParaRPr lang="en-US" sz="3600" dirty="0"/>
          </a:p>
        </p:txBody>
      </p:sp>
      <p:sp>
        <p:nvSpPr>
          <p:cNvPr id="14" name="Shape 12"/>
          <p:cNvSpPr/>
          <p:nvPr/>
        </p:nvSpPr>
        <p:spPr>
          <a:xfrm>
            <a:off x="548640" y="5074920"/>
            <a:ext cx="2404872" cy="0"/>
          </a:xfrm>
          <a:prstGeom prst="line">
            <a:avLst/>
          </a:prstGeom>
          <a:noFill/>
          <a:ln w="9525">
            <a:solidFill>
              <a:schemeClr val="accent3"/>
            </a:solidFill>
            <a:prstDash val="solid"/>
          </a:ln>
        </p:spPr>
      </p:sp>
      <p:sp>
        <p:nvSpPr>
          <p:cNvPr id="15" name="Text 13"/>
          <p:cNvSpPr txBox="1"/>
          <p:nvPr/>
        </p:nvSpPr>
        <p:spPr>
          <a:xfrm>
            <a:off x="548640" y="5184648"/>
            <a:ext cx="2404872" cy="274320"/>
          </a:xfrm>
          <a:prstGeom prst="rect">
            <a:avLst/>
          </a:prstGeom>
          <a:noFill/>
          <a:ln/>
        </p:spPr>
        <p:txBody>
          <a:bodyPr wrap="square" lIns="0" tIns="0" rIns="0" bIns="0" rtlCol="0" anchor="ctr"/>
          <a:lstStyle/>
          <a:p>
            <a:pPr marL="0" indent="0">
              <a:buNone/>
            </a:pPr>
            <a:r>
              <a:rPr lang="en-US" sz="1200" b="1" kern="0" spc="300" dirty="0">
                <a:solidFill>
                  <a:schemeClr val="accent5"/>
                </a:solidFill>
                <a:latin typeface="Calibri" pitchFamily="34" charset="0"/>
                <a:ea typeface="Calibri" pitchFamily="34" charset="-122"/>
                <a:cs typeface="Calibri" pitchFamily="34" charset="-120"/>
              </a:rPr>
              <a:t>WAPE</a:t>
            </a:r>
            <a:endParaRPr lang="en-US" sz="1200" dirty="0"/>
          </a:p>
        </p:txBody>
      </p:sp>
      <p:sp>
        <p:nvSpPr>
          <p:cNvPr id="16" name="Text 14"/>
          <p:cNvSpPr txBox="1"/>
          <p:nvPr/>
        </p:nvSpPr>
        <p:spPr>
          <a:xfrm>
            <a:off x="548640" y="5440680"/>
            <a:ext cx="2404872"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10.95%</a:t>
            </a:r>
            <a:endParaRPr lang="en-US" sz="3600" dirty="0"/>
          </a:p>
        </p:txBody>
      </p:sp>
      <p:pic>
        <p:nvPicPr>
          <p:cNvPr id="17" name="Rossmann actual vs predicted chart" descr="Line chart of actual and predicted total daily sales for Rossmann, February to July 2015"/>
          <p:cNvPicPr>
            <a:picLocks noChangeAspect="1"/>
          </p:cNvPicPr>
          <p:nvPr/>
        </p:nvPicPr>
        <p:blipFill>
          <a:blip r:embed="rId3"/>
          <a:stretch>
            <a:fillRect/>
          </a:stretch>
        </p:blipFill>
        <p:spPr>
          <a:xfrm>
            <a:off x="3520440" y="1783080"/>
            <a:ext cx="8119872" cy="3346289"/>
          </a:xfrm>
          <a:prstGeom prst="rect">
            <a:avLst/>
          </a:prstGeom>
        </p:spPr>
      </p:pic>
      <p:sp>
        <p:nvSpPr>
          <p:cNvPr id="18" name="Text 15"/>
          <p:cNvSpPr txBox="1"/>
          <p:nvPr/>
        </p:nvSpPr>
        <p:spPr>
          <a:xfrm>
            <a:off x="3520440" y="5303520"/>
            <a:ext cx="8119872" cy="10058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Predictions follow the weekly cycle and the near-zero closure days, but miss the height of some peaks and a few isolated zero-sales days. The models see no Open or Promo input, which likely explains the 10.95% WAPE against 1.83% on Store Item Demand.</a:t>
            </a: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10  MODEL COMPARISON</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Extra Trees ranks first on both datasets</a:t>
            </a:r>
            <a:endParaRPr lang="en-US" sz="3200" dirty="0"/>
          </a:p>
        </p:txBody>
      </p:sp>
      <p:sp>
        <p:nvSpPr>
          <p:cNvPr id="5" name="Text 3"/>
          <p:cNvSpPr txBox="1"/>
          <p:nvPr/>
        </p:nvSpPr>
        <p:spPr>
          <a:xfrm>
            <a:off x="548640" y="1874520"/>
            <a:ext cx="539496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Store Item Demand</a:t>
            </a:r>
            <a:endParaRPr lang="en-US" sz="1800" dirty="0"/>
          </a:p>
        </p:txBody>
      </p:sp>
      <p:sp>
        <p:nvSpPr>
          <p:cNvPr id="6" name="Text 4"/>
          <p:cNvSpPr txBox="1"/>
          <p:nvPr/>
        </p:nvSpPr>
        <p:spPr>
          <a:xfrm>
            <a:off x="548640" y="2240280"/>
            <a:ext cx="539496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WAPE (%), lower is better</a:t>
            </a:r>
            <a:endParaRPr lang="en-US" sz="1200" dirty="0"/>
          </a:p>
        </p:txBody>
      </p:sp>
      <p:graphicFrame>
        <p:nvGraphicFramePr>
          <p:cNvPr id="7" name="Store Item Demand ranked WAPE chart"/>
          <p:cNvGraphicFramePr/>
          <p:nvPr/>
        </p:nvGraphicFramePr>
        <p:xfrm>
          <a:off x="548640" y="2560320"/>
          <a:ext cx="53949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48640" y="5623560"/>
            <a:ext cx="5394960" cy="548640"/>
          </a:xfrm>
          <a:prstGeom prst="rect">
            <a:avLst/>
          </a:prstGeom>
          <a:noFill/>
          <a:ln/>
        </p:spPr>
        <p:txBody>
          <a:bodyPr wrap="square" lIns="0" tIns="0" rIns="0" bIns="0" rtlCol="0" anchor="t"/>
          <a:lstStyle/>
          <a:p>
            <a:pPr marL="0" indent="0">
              <a:buNone/>
            </a:pPr>
            <a:r>
              <a:rPr lang="en-US" sz="1400" dirty="0">
                <a:solidFill>
                  <a:schemeClr val="accent5"/>
                </a:solidFill>
                <a:latin typeface="Calibri" pitchFamily="34" charset="0"/>
                <a:ea typeface="Calibri" pitchFamily="34" charset="-122"/>
                <a:cs typeface="Calibri" pitchFamily="34" charset="-120"/>
              </a:rPr>
              <a:t>R² runs from 0.9808 (Extra Trees) down to 0.9330 (Linear Regression, last).</a:t>
            </a:r>
            <a:endParaRPr lang="en-US" sz="1400" dirty="0"/>
          </a:p>
        </p:txBody>
      </p:sp>
      <p:sp>
        <p:nvSpPr>
          <p:cNvPr id="9" name="Shape 6"/>
          <p:cNvSpPr/>
          <p:nvPr/>
        </p:nvSpPr>
        <p:spPr>
          <a:xfrm>
            <a:off x="6099048" y="1874520"/>
            <a:ext cx="0" cy="4297680"/>
          </a:xfrm>
          <a:prstGeom prst="line">
            <a:avLst/>
          </a:prstGeom>
          <a:noFill/>
          <a:ln w="9525">
            <a:solidFill>
              <a:schemeClr val="accent3"/>
            </a:solidFill>
            <a:prstDash val="solid"/>
          </a:ln>
        </p:spPr>
      </p:sp>
      <p:sp>
        <p:nvSpPr>
          <p:cNvPr id="10" name="Text 7"/>
          <p:cNvSpPr txBox="1"/>
          <p:nvPr/>
        </p:nvSpPr>
        <p:spPr>
          <a:xfrm>
            <a:off x="6245352" y="1874520"/>
            <a:ext cx="5394960" cy="36576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Rossmann</a:t>
            </a:r>
            <a:endParaRPr lang="en-US" sz="1800" dirty="0"/>
          </a:p>
        </p:txBody>
      </p:sp>
      <p:sp>
        <p:nvSpPr>
          <p:cNvPr id="11" name="Text 8"/>
          <p:cNvSpPr txBox="1"/>
          <p:nvPr/>
        </p:nvSpPr>
        <p:spPr>
          <a:xfrm>
            <a:off x="6245352" y="2240280"/>
            <a:ext cx="539496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WAPE (%), lower is better</a:t>
            </a:r>
            <a:endParaRPr lang="en-US" sz="1200" dirty="0"/>
          </a:p>
        </p:txBody>
      </p:sp>
      <p:graphicFrame>
        <p:nvGraphicFramePr>
          <p:cNvPr id="12" name="Rossmann ranked WAPE chart"/>
          <p:cNvGraphicFramePr/>
          <p:nvPr/>
        </p:nvGraphicFramePr>
        <p:xfrm>
          <a:off x="6245352" y="2560320"/>
          <a:ext cx="539496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9"/>
          <p:cNvSpPr txBox="1"/>
          <p:nvPr/>
        </p:nvSpPr>
        <p:spPr>
          <a:xfrm>
            <a:off x="6245352" y="5623560"/>
            <a:ext cx="5394960" cy="548640"/>
          </a:xfrm>
          <a:prstGeom prst="rect">
            <a:avLst/>
          </a:prstGeom>
          <a:noFill/>
          <a:ln/>
        </p:spPr>
        <p:txBody>
          <a:bodyPr wrap="square" lIns="0" tIns="0" rIns="0" bIns="0" rtlCol="0" anchor="t"/>
          <a:lstStyle/>
          <a:p>
            <a:pPr marL="0" indent="0">
              <a:buNone/>
            </a:pPr>
            <a:r>
              <a:rPr lang="en-US" sz="1400" dirty="0">
                <a:solidFill>
                  <a:schemeClr val="accent5"/>
                </a:solidFill>
                <a:latin typeface="Calibri" pitchFamily="34" charset="0"/>
                <a:ea typeface="Calibri" pitchFamily="34" charset="-122"/>
                <a:cs typeface="Calibri" pitchFamily="34" charset="-120"/>
              </a:rPr>
              <a:t>R² runs from 0.8281 (Extra Trees) down to 0.5962 (Linear Regression, last).</a:t>
            </a:r>
            <a:endParaRPr lang="en-US" sz="14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11  WHY EXTRA TREES</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Extra Trees wins on all four metrics, on both datasets</a:t>
            </a:r>
            <a:endParaRPr lang="en-US" sz="3200" dirty="0"/>
          </a:p>
        </p:txBody>
      </p:sp>
      <p:sp>
        <p:nvSpPr>
          <p:cNvPr id="5" name="Text 3"/>
          <p:cNvSpPr txBox="1"/>
          <p:nvPr/>
        </p:nvSpPr>
        <p:spPr>
          <a:xfrm>
            <a:off x="548640" y="1600200"/>
            <a:ext cx="5394960" cy="274320"/>
          </a:xfrm>
          <a:prstGeom prst="rect">
            <a:avLst/>
          </a:prstGeom>
          <a:noFill/>
          <a:ln/>
        </p:spPr>
        <p:txBody>
          <a:bodyPr wrap="square" lIns="0" tIns="0" rIns="0" bIns="0" rtlCol="0" anchor="ctr"/>
          <a:lstStyle/>
          <a:p>
            <a:pPr marL="0" indent="0">
              <a:buNone/>
            </a:pPr>
            <a:r>
              <a:rPr lang="en-US" sz="1400" b="1" dirty="0">
                <a:solidFill>
                  <a:schemeClr val="accent5"/>
                </a:solidFill>
                <a:latin typeface="Calibri" pitchFamily="34" charset="0"/>
                <a:ea typeface="Calibri" pitchFamily="34" charset="-122"/>
                <a:cs typeface="Calibri" pitchFamily="34" charset="-120"/>
              </a:rPr>
              <a:t>Store Item Demand</a:t>
            </a:r>
            <a:endParaRPr lang="en-US" sz="1400" dirty="0"/>
          </a:p>
        </p:txBody>
      </p:sp>
      <p:graphicFrame>
        <p:nvGraphicFramePr>
          <p:cNvPr id="13" name="Store Item Demand metrics table"/>
          <p:cNvGraphicFramePr>
            <a:graphicFrameLocks noGrp="1"/>
          </p:cNvGraphicFramePr>
          <p:nvPr>
            <p:extLst>
              <p:ext uri="{D42A27DB-BD31-4B8C-83A1-F6EECF244321}">
                <p14:modId xmlns:p14="http://schemas.microsoft.com/office/powerpoint/2010/main" val="1579011935"/>
              </p:ext>
            </p:extLst>
          </p:nvPr>
        </p:nvGraphicFramePr>
        <p:xfrm>
          <a:off x="548640" y="1920240"/>
          <a:ext cx="5394960" cy="2194560"/>
        </p:xfrm>
        <a:graphic>
          <a:graphicData uri="http://schemas.openxmlformats.org/drawingml/2006/table">
            <a:tbl>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WAPE %</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Extra Trees</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540.58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898.45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1.83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0.9808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extLst>
                  <a:ext uri="{0D108BD9-81ED-4DB2-BD59-A6C34878D82A}">
                    <a16:rowId xmlns:a16="http://schemas.microsoft.com/office/drawing/2014/main" val="10001"/>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599.70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929.09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2.04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0.9794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606.68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1,033.40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2.06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0.9745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833.34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1,416.52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2.83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0.9522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Linear Regression</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1,075.59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1,675.99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3.65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0.9330</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6245352" y="1600200"/>
            <a:ext cx="5394960" cy="274320"/>
          </a:xfrm>
          <a:prstGeom prst="rect">
            <a:avLst/>
          </a:prstGeom>
          <a:noFill/>
          <a:ln/>
        </p:spPr>
        <p:txBody>
          <a:bodyPr wrap="square" lIns="0" tIns="0" rIns="0" bIns="0" rtlCol="0" anchor="ctr"/>
          <a:lstStyle/>
          <a:p>
            <a:pPr marL="0" indent="0">
              <a:buNone/>
            </a:pPr>
            <a:r>
              <a:rPr lang="en-US" sz="1400" b="1" dirty="0">
                <a:solidFill>
                  <a:schemeClr val="accent5"/>
                </a:solidFill>
                <a:latin typeface="Calibri" pitchFamily="34" charset="0"/>
                <a:ea typeface="Calibri" pitchFamily="34" charset="-122"/>
                <a:cs typeface="Calibri" pitchFamily="34" charset="-120"/>
              </a:rPr>
              <a:t>Rossmann</a:t>
            </a:r>
            <a:endParaRPr lang="en-US" sz="1400" dirty="0"/>
          </a:p>
        </p:txBody>
      </p:sp>
      <p:graphicFrame>
        <p:nvGraphicFramePr>
          <p:cNvPr id="25" name="Rossmann metrics table"/>
          <p:cNvGraphicFramePr>
            <a:graphicFrameLocks noGrp="1"/>
          </p:cNvGraphicFramePr>
          <p:nvPr>
            <p:extLst>
              <p:ext uri="{D42A27DB-BD31-4B8C-83A1-F6EECF244321}">
                <p14:modId xmlns:p14="http://schemas.microsoft.com/office/powerpoint/2010/main" val="1579011935"/>
              </p:ext>
            </p:extLst>
          </p:nvPr>
        </p:nvGraphicFramePr>
        <p:xfrm>
          <a:off x="6245352" y="1920240"/>
          <a:ext cx="5394960" cy="2194560"/>
        </p:xfrm>
        <a:graphic>
          <a:graphicData uri="http://schemas.openxmlformats.org/drawingml/2006/table">
            <a:tbl>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lgn="l">
                        <a:buNone/>
                      </a:pPr>
                      <a:r>
                        <a:rPr lang="en-US" sz="1400" b="1" dirty="0">
                          <a:solidFill>
                            <a:srgbClr val="F6F1E7"/>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WAPE %</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tc>
                  <a:txBody>
                    <a:bodyPr/>
                    <a:lstStyle/>
                    <a:p>
                      <a:pPr marL="0" indent="0" algn="r">
                        <a:buNone/>
                      </a:pPr>
                      <a:r>
                        <a:rPr lang="en-US" sz="1400" b="1" dirty="0">
                          <a:solidFill>
                            <a:srgbClr val="F6F1E7"/>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Extra Trees</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724,881</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1,332,483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10.95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tc>
                  <a:txBody>
                    <a:bodyPr/>
                    <a:lstStyle/>
                    <a:p>
                      <a:pPr marL="0" indent="0" algn="r">
                        <a:buNone/>
                      </a:pPr>
                      <a:r>
                        <a:rPr lang="en-US" sz="1400" b="1" dirty="0">
                          <a:solidFill>
                            <a:srgbClr val="2B2B2B"/>
                          </a:solidFill>
                          <a:latin typeface="Calibri" pitchFamily="34" charset="0"/>
                          <a:ea typeface="Calibri" pitchFamily="34" charset="-122"/>
                          <a:cs typeface="Calibri" pitchFamily="34" charset="-120"/>
                        </a:rPr>
                        <a:t>0.8281</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4D9CF"/>
                    </a:solidFill>
                  </a:tcPr>
                </a:tc>
                <a:extLst>
                  <a:ext uri="{0D108BD9-81ED-4DB2-BD59-A6C34878D82A}">
                    <a16:rowId xmlns:a16="http://schemas.microsoft.com/office/drawing/2014/main" val="10001"/>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751,936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1,434,824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11.35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0.8006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2"/>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816,629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1,463,634</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12.33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0.7925</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3"/>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911,149</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1,779,977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13.76</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0.6932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4"/>
                  </a:ext>
                </a:extLst>
              </a:tr>
              <a:tr h="365760">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Linear Regression</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1,402,377</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2,041,933</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21.18</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tc>
                  <a:txBody>
                    <a:bodyPr/>
                    <a:lstStyle/>
                    <a:p>
                      <a:pPr marL="0" indent="0" algn="r">
                        <a:buNone/>
                      </a:pPr>
                      <a:r>
                        <a:rPr lang="en-US" sz="1400" dirty="0">
                          <a:solidFill>
                            <a:srgbClr val="2B2B2B"/>
                          </a:solidFill>
                          <a:latin typeface="Calibri" pitchFamily="34" charset="0"/>
                          <a:ea typeface="Calibri" pitchFamily="34" charset="-122"/>
                          <a:cs typeface="Calibri" pitchFamily="34" charset="-120"/>
                        </a:rPr>
                        <a:t>0.5962</a:t>
                      </a:r>
                      <a:endParaRPr lang="en-US" sz="1400" dirty="0">
                        <a:latin typeface="Calibri" charset="0"/>
                        <a:ea typeface="Calibri" charset="0"/>
                        <a:cs typeface="Calibri" charset="0"/>
                      </a:endParaRPr>
                    </a:p>
                  </a:txBody>
                  <a:tcPr marL="73152" marR="73152" marT="0" marB="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rgbClr val="F6F1E7"/>
                    </a:solidFill>
                  </a:tcPr>
                </a:tc>
                <a:extLst>
                  <a:ext uri="{0D108BD9-81ED-4DB2-BD59-A6C34878D82A}">
                    <a16:rowId xmlns:a16="http://schemas.microsoft.com/office/drawing/2014/main" val="10005"/>
                  </a:ext>
                </a:extLst>
              </a:tr>
            </a:tbl>
          </a:graphicData>
        </a:graphic>
      </p:graphicFrame>
      <p:sp>
        <p:nvSpPr>
          <p:cNvPr id="9" name="Shape 5"/>
          <p:cNvSpPr/>
          <p:nvPr/>
        </p:nvSpPr>
        <p:spPr>
          <a:xfrm>
            <a:off x="548640" y="4434840"/>
            <a:ext cx="3474720" cy="0"/>
          </a:xfrm>
          <a:prstGeom prst="line">
            <a:avLst/>
          </a:prstGeom>
          <a:noFill/>
          <a:ln w="19050">
            <a:solidFill>
              <a:schemeClr val="tx2"/>
            </a:solidFill>
            <a:prstDash val="solid"/>
          </a:ln>
        </p:spPr>
      </p:sp>
      <p:sp>
        <p:nvSpPr>
          <p:cNvPr id="10" name="Text 6"/>
          <p:cNvSpPr txBox="1"/>
          <p:nvPr/>
        </p:nvSpPr>
        <p:spPr>
          <a:xfrm>
            <a:off x="548640" y="4526280"/>
            <a:ext cx="347472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MAE BELOW THE RUNNER-UP</a:t>
            </a:r>
            <a:endParaRPr lang="en-US" sz="1200" dirty="0"/>
          </a:p>
        </p:txBody>
      </p:sp>
      <p:sp>
        <p:nvSpPr>
          <p:cNvPr id="11" name="Text 7"/>
          <p:cNvSpPr txBox="1"/>
          <p:nvPr/>
        </p:nvSpPr>
        <p:spPr>
          <a:xfrm>
            <a:off x="548640" y="4846320"/>
            <a:ext cx="1645920" cy="73152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9.9%</a:t>
            </a:r>
            <a:endParaRPr lang="en-US" sz="4000" dirty="0"/>
          </a:p>
        </p:txBody>
      </p:sp>
      <p:sp>
        <p:nvSpPr>
          <p:cNvPr id="12" name="Text 8"/>
          <p:cNvSpPr txBox="1"/>
          <p:nvPr/>
        </p:nvSpPr>
        <p:spPr>
          <a:xfrm>
            <a:off x="548640" y="5577840"/>
            <a:ext cx="1645920" cy="27432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Store Item</a:t>
            </a:r>
            <a:endParaRPr lang="en-US" sz="1200" dirty="0"/>
          </a:p>
        </p:txBody>
      </p:sp>
      <p:sp>
        <p:nvSpPr>
          <p:cNvPr id="6" name="Text 9"/>
          <p:cNvSpPr txBox="1"/>
          <p:nvPr/>
        </p:nvSpPr>
        <p:spPr>
          <a:xfrm>
            <a:off x="2331720" y="4846320"/>
            <a:ext cx="1645920" cy="731520"/>
          </a:xfrm>
          <a:prstGeom prst="rect">
            <a:avLst/>
          </a:prstGeom>
          <a:noFill/>
          <a:ln/>
        </p:spPr>
        <p:txBody>
          <a:bodyPr wrap="square" lIns="0" tIns="0" rIns="0" bIns="0" rtlCol="0" anchor="ctr"/>
          <a:lstStyle/>
          <a:p>
            <a:pPr marL="0" indent="0">
              <a:buNone/>
            </a:pPr>
            <a:r>
              <a:rPr lang="en-US" sz="4000" b="1" dirty="0">
                <a:solidFill>
                  <a:schemeClr val="tx1"/>
                </a:solidFill>
                <a:latin typeface="Cambria" pitchFamily="34" charset="0"/>
                <a:ea typeface="Cambria" pitchFamily="34" charset="-122"/>
                <a:cs typeface="Cambria" pitchFamily="34" charset="-120"/>
              </a:rPr>
              <a:t>3.6%</a:t>
            </a:r>
            <a:endParaRPr lang="en-US" sz="4000" dirty="0"/>
          </a:p>
        </p:txBody>
      </p:sp>
      <p:sp>
        <p:nvSpPr>
          <p:cNvPr id="14" name="Text 10"/>
          <p:cNvSpPr txBox="1"/>
          <p:nvPr/>
        </p:nvSpPr>
        <p:spPr>
          <a:xfrm>
            <a:off x="2331720" y="5577840"/>
            <a:ext cx="1645920" cy="27432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Rossmann</a:t>
            </a:r>
            <a:endParaRPr lang="en-US" sz="1200" dirty="0"/>
          </a:p>
        </p:txBody>
      </p:sp>
      <p:sp>
        <p:nvSpPr>
          <p:cNvPr id="15" name="Shape 11"/>
          <p:cNvSpPr/>
          <p:nvPr/>
        </p:nvSpPr>
        <p:spPr>
          <a:xfrm>
            <a:off x="4343400" y="4434840"/>
            <a:ext cx="3474720" cy="0"/>
          </a:xfrm>
          <a:prstGeom prst="line">
            <a:avLst/>
          </a:prstGeom>
          <a:noFill/>
          <a:ln w="19050">
            <a:solidFill>
              <a:schemeClr val="tx2"/>
            </a:solidFill>
            <a:prstDash val="solid"/>
          </a:ln>
        </p:spPr>
      </p:sp>
      <p:sp>
        <p:nvSpPr>
          <p:cNvPr id="16" name="Text 12"/>
          <p:cNvSpPr txBox="1"/>
          <p:nvPr/>
        </p:nvSpPr>
        <p:spPr>
          <a:xfrm>
            <a:off x="4343400" y="4526280"/>
            <a:ext cx="347472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RMSE BELOW THE RUNNER-UP</a:t>
            </a:r>
            <a:endParaRPr lang="en-US" sz="1200" dirty="0"/>
          </a:p>
        </p:txBody>
      </p:sp>
      <p:sp>
        <p:nvSpPr>
          <p:cNvPr id="17" name="Text 13"/>
          <p:cNvSpPr txBox="1"/>
          <p:nvPr/>
        </p:nvSpPr>
        <p:spPr>
          <a:xfrm>
            <a:off x="4343400" y="4846320"/>
            <a:ext cx="1645920" cy="73152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3.3%</a:t>
            </a:r>
            <a:endParaRPr lang="en-US" sz="4000" dirty="0"/>
          </a:p>
        </p:txBody>
      </p:sp>
      <p:sp>
        <p:nvSpPr>
          <p:cNvPr id="18" name="Text 14"/>
          <p:cNvSpPr txBox="1"/>
          <p:nvPr/>
        </p:nvSpPr>
        <p:spPr>
          <a:xfrm>
            <a:off x="4343400" y="5577840"/>
            <a:ext cx="1645920" cy="27432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Store Item</a:t>
            </a:r>
            <a:endParaRPr lang="en-US" sz="1200" dirty="0"/>
          </a:p>
        </p:txBody>
      </p:sp>
      <p:sp>
        <p:nvSpPr>
          <p:cNvPr id="19" name="Text 15"/>
          <p:cNvSpPr txBox="1"/>
          <p:nvPr/>
        </p:nvSpPr>
        <p:spPr>
          <a:xfrm>
            <a:off x="6126480" y="4846320"/>
            <a:ext cx="1645920" cy="731520"/>
          </a:xfrm>
          <a:prstGeom prst="rect">
            <a:avLst/>
          </a:prstGeom>
          <a:noFill/>
          <a:ln/>
        </p:spPr>
        <p:txBody>
          <a:bodyPr wrap="square" lIns="0" tIns="0" rIns="0" bIns="0" rtlCol="0" anchor="ctr"/>
          <a:lstStyle/>
          <a:p>
            <a:pPr marL="0" indent="0">
              <a:buNone/>
            </a:pPr>
            <a:r>
              <a:rPr lang="en-US" sz="4000" b="1" dirty="0">
                <a:solidFill>
                  <a:schemeClr val="tx1"/>
                </a:solidFill>
                <a:latin typeface="Cambria" pitchFamily="34" charset="0"/>
                <a:ea typeface="Cambria" pitchFamily="34" charset="-122"/>
                <a:cs typeface="Cambria" pitchFamily="34" charset="-120"/>
              </a:rPr>
              <a:t>7.1%</a:t>
            </a:r>
            <a:endParaRPr lang="en-US" sz="4000" dirty="0"/>
          </a:p>
        </p:txBody>
      </p:sp>
      <p:sp>
        <p:nvSpPr>
          <p:cNvPr id="20" name="Text 16"/>
          <p:cNvSpPr txBox="1"/>
          <p:nvPr/>
        </p:nvSpPr>
        <p:spPr>
          <a:xfrm>
            <a:off x="6126480" y="5577840"/>
            <a:ext cx="1645920" cy="27432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Rossmann</a:t>
            </a:r>
            <a:endParaRPr lang="en-US" sz="1200" dirty="0"/>
          </a:p>
        </p:txBody>
      </p:sp>
      <p:sp>
        <p:nvSpPr>
          <p:cNvPr id="21" name="Shape 17"/>
          <p:cNvSpPr/>
          <p:nvPr/>
        </p:nvSpPr>
        <p:spPr>
          <a:xfrm>
            <a:off x="8138160" y="4434840"/>
            <a:ext cx="3474720" cy="0"/>
          </a:xfrm>
          <a:prstGeom prst="line">
            <a:avLst/>
          </a:prstGeom>
          <a:noFill/>
          <a:ln w="19050">
            <a:solidFill>
              <a:schemeClr val="tx2"/>
            </a:solidFill>
            <a:prstDash val="solid"/>
          </a:ln>
        </p:spPr>
      </p:sp>
      <p:sp>
        <p:nvSpPr>
          <p:cNvPr id="22" name="Text 18"/>
          <p:cNvSpPr txBox="1"/>
          <p:nvPr/>
        </p:nvSpPr>
        <p:spPr>
          <a:xfrm>
            <a:off x="8138160" y="4526280"/>
            <a:ext cx="3474720" cy="274320"/>
          </a:xfrm>
          <a:prstGeom prst="rect">
            <a:avLst/>
          </a:prstGeom>
          <a:noFill/>
          <a:ln/>
        </p:spPr>
        <p:txBody>
          <a:bodyPr wrap="square" lIns="0" tIns="0" rIns="0" bIns="0" rtlCol="0" anchor="ctr"/>
          <a:lstStyle/>
          <a:p>
            <a:pPr marL="0" indent="0">
              <a:buNone/>
            </a:pPr>
            <a:r>
              <a:rPr lang="en-US" sz="1200" b="1" kern="0" spc="200" dirty="0">
                <a:solidFill>
                  <a:schemeClr val="accent5"/>
                </a:solidFill>
                <a:latin typeface="Calibri" pitchFamily="34" charset="0"/>
                <a:ea typeface="Calibri" pitchFamily="34" charset="-122"/>
                <a:cs typeface="Calibri" pitchFamily="34" charset="-120"/>
              </a:rPr>
              <a:t>MAE BELOW LINEAR REGRESSION</a:t>
            </a:r>
            <a:endParaRPr lang="en-US" sz="1200" dirty="0"/>
          </a:p>
        </p:txBody>
      </p:sp>
      <p:sp>
        <p:nvSpPr>
          <p:cNvPr id="23" name="Text 19"/>
          <p:cNvSpPr txBox="1"/>
          <p:nvPr/>
        </p:nvSpPr>
        <p:spPr>
          <a:xfrm>
            <a:off x="8138160" y="4846320"/>
            <a:ext cx="1645920" cy="73152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49.7%</a:t>
            </a:r>
            <a:endParaRPr lang="en-US" sz="4000" dirty="0"/>
          </a:p>
        </p:txBody>
      </p:sp>
      <p:sp>
        <p:nvSpPr>
          <p:cNvPr id="24" name="Text 20"/>
          <p:cNvSpPr txBox="1"/>
          <p:nvPr/>
        </p:nvSpPr>
        <p:spPr>
          <a:xfrm>
            <a:off x="8138160" y="5577840"/>
            <a:ext cx="1645920" cy="27432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Store Item</a:t>
            </a:r>
            <a:endParaRPr lang="en-US" sz="1200" dirty="0"/>
          </a:p>
        </p:txBody>
      </p:sp>
      <p:sp>
        <p:nvSpPr>
          <p:cNvPr id="8" name="Text 21"/>
          <p:cNvSpPr txBox="1"/>
          <p:nvPr/>
        </p:nvSpPr>
        <p:spPr>
          <a:xfrm>
            <a:off x="9921240" y="4846320"/>
            <a:ext cx="1645920" cy="731520"/>
          </a:xfrm>
          <a:prstGeom prst="rect">
            <a:avLst/>
          </a:prstGeom>
          <a:noFill/>
          <a:ln/>
        </p:spPr>
        <p:txBody>
          <a:bodyPr wrap="square" lIns="0" tIns="0" rIns="0" bIns="0" rtlCol="0" anchor="ctr"/>
          <a:lstStyle/>
          <a:p>
            <a:pPr marL="0" indent="0">
              <a:buNone/>
            </a:pPr>
            <a:r>
              <a:rPr lang="en-US" sz="4000" b="1" dirty="0">
                <a:solidFill>
                  <a:schemeClr val="tx1"/>
                </a:solidFill>
                <a:latin typeface="Cambria" pitchFamily="34" charset="0"/>
                <a:ea typeface="Cambria" pitchFamily="34" charset="-122"/>
                <a:cs typeface="Cambria" pitchFamily="34" charset="-120"/>
              </a:rPr>
              <a:t>48.3%</a:t>
            </a:r>
            <a:endParaRPr lang="en-US" sz="4000" dirty="0"/>
          </a:p>
        </p:txBody>
      </p:sp>
      <p:sp>
        <p:nvSpPr>
          <p:cNvPr id="26" name="Text 22"/>
          <p:cNvSpPr txBox="1"/>
          <p:nvPr/>
        </p:nvSpPr>
        <p:spPr>
          <a:xfrm>
            <a:off x="9921240" y="5577840"/>
            <a:ext cx="1645920" cy="27432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Rossmann</a:t>
            </a:r>
            <a:endParaRPr lang="en-US" sz="1200" dirty="0"/>
          </a:p>
        </p:txBody>
      </p:sp>
      <p:sp>
        <p:nvSpPr>
          <p:cNvPr id="28"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marker"/>
          <p:cNvSpPr/>
          <p:nvPr/>
        </p:nvSpPr>
        <p:spPr>
          <a:xfrm>
            <a:off x="548640" y="420624"/>
            <a:ext cx="118872" cy="118872"/>
          </a:xfrm>
          <a:prstGeom prst="rect">
            <a:avLst/>
          </a:prstGeom>
          <a:solidFill>
            <a:schemeClr val="accent2"/>
          </a:solidFill>
          <a:ln w="12700">
            <a:solidFill>
              <a:schemeClr val="accent2"/>
            </a:solidFill>
            <a:prstDash val="solid"/>
          </a:ln>
        </p:spPr>
      </p:sp>
      <p:sp>
        <p:nvSpPr>
          <p:cNvPr id="3" name="Section label"/>
          <p:cNvSpPr txBox="1"/>
          <p:nvPr/>
        </p:nvSpPr>
        <p:spPr>
          <a:xfrm>
            <a:off x="777240" y="347472"/>
            <a:ext cx="5486400" cy="274320"/>
          </a:xfrm>
          <a:prstGeom prst="rect">
            <a:avLst/>
          </a:prstGeom>
          <a:noFill/>
          <a:ln/>
        </p:spPr>
        <p:txBody>
          <a:bodyPr wrap="square" lIns="0" tIns="0" rIns="0" bIns="0" rtlCol="0" anchor="ctr"/>
          <a:lstStyle/>
          <a:p>
            <a:pPr marL="0" indent="0">
              <a:buNone/>
            </a:pPr>
            <a:r>
              <a:rPr lang="en-US" sz="1200" b="1" kern="0" spc="300" dirty="0">
                <a:solidFill>
                  <a:schemeClr val="accent5"/>
                </a:solidFill>
              </a:rPr>
              <a:t>12  KDD STEP 6 | RESEARCH SUMMARY</a:t>
            </a:r>
            <a:endParaRPr lang="en-US" sz="1200" dirty="0"/>
          </a:p>
        </p:txBody>
      </p:sp>
      <p:sp>
        <p:nvSpPr>
          <p:cNvPr id="4" name="Text 3"/>
          <p:cNvSpPr>
            <a:spLocks noGrp="1"/>
          </p:cNvSpPr>
          <p:nvPr>
            <p:ph idx="103" hasCustomPrompt="1"/>
          </p:nvPr>
        </p:nvSpPr>
        <p:spPr>
          <a:xfrm>
            <a:off x="548640" y="777240"/>
            <a:ext cx="11091672" cy="1005840"/>
          </a:xfrm>
          <a:prstGeom prst="rect">
            <a:avLst/>
          </a:prstGeom>
          <a:noFill/>
          <a:ln/>
        </p:spPr>
        <p:txBody>
          <a:bodyPr wrap="square" lIns="0" tIns="0" rIns="0" bIns="0" rtlCol="0" anchor="t"/>
          <a:lstStyle/>
          <a:p>
            <a:pPr marL="0" indent="0">
              <a:buNone/>
            </a:pPr>
            <a:r>
              <a:rPr lang="en-US" sz="3200" b="1" dirty="0">
                <a:solidFill>
                  <a:schemeClr val="tx1"/>
                </a:solidFill>
                <a:latin typeface="Cambria" pitchFamily="34" charset="0"/>
                <a:ea typeface="Cambria" pitchFamily="34" charset="-122"/>
                <a:cs typeface="Cambria" pitchFamily="34" charset="-120"/>
              </a:rPr>
              <a:t>Extra Trees gives the most reliable demand forecast on both datasets</a:t>
            </a:r>
            <a:endParaRPr lang="en-US" sz="3200" dirty="0"/>
          </a:p>
        </p:txBody>
      </p:sp>
      <p:sp>
        <p:nvSpPr>
          <p:cNvPr id="5" name="Shape 3"/>
          <p:cNvSpPr/>
          <p:nvPr/>
        </p:nvSpPr>
        <p:spPr>
          <a:xfrm>
            <a:off x="548640" y="1920240"/>
            <a:ext cx="6675120" cy="0"/>
          </a:xfrm>
          <a:prstGeom prst="line">
            <a:avLst/>
          </a:prstGeom>
          <a:noFill/>
          <a:ln w="19050">
            <a:solidFill>
              <a:schemeClr val="tx2"/>
            </a:solidFill>
            <a:prstDash val="solid"/>
          </a:ln>
        </p:spPr>
      </p:sp>
      <p:sp>
        <p:nvSpPr>
          <p:cNvPr id="6" name="Text 4"/>
          <p:cNvSpPr txBox="1"/>
          <p:nvPr/>
        </p:nvSpPr>
        <p:spPr>
          <a:xfrm>
            <a:off x="548640" y="201168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FINDING</a:t>
            </a:r>
            <a:endParaRPr lang="en-US" sz="1200" dirty="0"/>
          </a:p>
        </p:txBody>
      </p:sp>
      <p:sp>
        <p:nvSpPr>
          <p:cNvPr id="7" name="Text 5"/>
          <p:cNvSpPr txBox="1"/>
          <p:nvPr/>
        </p:nvSpPr>
        <p:spPr>
          <a:xfrm>
            <a:off x="548640" y="233172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Extra Trees achieved the best MAE, RMSE, WAPE and R² on both datasets: R² 0.9808 on Store Item Demand and 0.8281 on Rossmann.</a:t>
            </a:r>
            <a:endParaRPr lang="en-US" sz="1600" dirty="0"/>
          </a:p>
        </p:txBody>
      </p:sp>
      <p:sp>
        <p:nvSpPr>
          <p:cNvPr id="8" name="Shape 6"/>
          <p:cNvSpPr/>
          <p:nvPr/>
        </p:nvSpPr>
        <p:spPr>
          <a:xfrm>
            <a:off x="548640" y="3383280"/>
            <a:ext cx="6675120" cy="0"/>
          </a:xfrm>
          <a:prstGeom prst="line">
            <a:avLst/>
          </a:prstGeom>
          <a:noFill/>
          <a:ln w="19050">
            <a:solidFill>
              <a:schemeClr val="tx2"/>
            </a:solidFill>
            <a:prstDash val="solid"/>
          </a:ln>
        </p:spPr>
      </p:sp>
      <p:sp>
        <p:nvSpPr>
          <p:cNvPr id="9" name="Text 7"/>
          <p:cNvSpPr txBox="1"/>
          <p:nvPr/>
        </p:nvSpPr>
        <p:spPr>
          <a:xfrm>
            <a:off x="548640" y="347472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IMPLICATION</a:t>
            </a:r>
            <a:endParaRPr lang="en-US" sz="1200" dirty="0"/>
          </a:p>
        </p:txBody>
      </p:sp>
      <p:sp>
        <p:nvSpPr>
          <p:cNvPr id="10" name="Text 8"/>
          <p:cNvSpPr txBox="1"/>
          <p:nvPr/>
        </p:nvSpPr>
        <p:spPr>
          <a:xfrm>
            <a:off x="548640" y="379476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Under 2% WAPE on Store Item Demand supports replenishment and safety-stock planning; about 11% on Rossmann is useful but needs more demand drivers.</a:t>
            </a:r>
            <a:endParaRPr lang="en-US" sz="1600" dirty="0"/>
          </a:p>
        </p:txBody>
      </p:sp>
      <p:sp>
        <p:nvSpPr>
          <p:cNvPr id="11" name="Shape 9"/>
          <p:cNvSpPr/>
          <p:nvPr/>
        </p:nvSpPr>
        <p:spPr>
          <a:xfrm>
            <a:off x="548640" y="4846320"/>
            <a:ext cx="6675120" cy="0"/>
          </a:xfrm>
          <a:prstGeom prst="line">
            <a:avLst/>
          </a:prstGeom>
          <a:noFill/>
          <a:ln w="19050">
            <a:solidFill>
              <a:schemeClr val="tx2"/>
            </a:solidFill>
            <a:prstDash val="solid"/>
          </a:ln>
        </p:spPr>
      </p:sp>
      <p:sp>
        <p:nvSpPr>
          <p:cNvPr id="12" name="Text 10"/>
          <p:cNvSpPr txBox="1"/>
          <p:nvPr/>
        </p:nvSpPr>
        <p:spPr>
          <a:xfrm>
            <a:off x="548640" y="4937760"/>
            <a:ext cx="667512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LIMITS AND NEXT STEPS</a:t>
            </a:r>
            <a:endParaRPr lang="en-US" sz="1200" dirty="0"/>
          </a:p>
        </p:txBody>
      </p:sp>
      <p:sp>
        <p:nvSpPr>
          <p:cNvPr id="13" name="Text 11"/>
          <p:cNvSpPr txBox="1"/>
          <p:nvPr/>
        </p:nvSpPr>
        <p:spPr>
          <a:xfrm>
            <a:off x="548640" y="5257800"/>
            <a:ext cx="6675120" cy="9601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Models forecast total daily sales from eight features with one chronological split and fixed settings. Next: add Open, Promo and holiday inputs, tune hyperparameters, validate on rolling windows and forecast per store.</a:t>
            </a:r>
            <a:endParaRPr lang="en-US" sz="1600" dirty="0"/>
          </a:p>
        </p:txBody>
      </p:sp>
      <p:sp>
        <p:nvSpPr>
          <p:cNvPr id="15" name="Text 13"/>
          <p:cNvSpPr txBox="1"/>
          <p:nvPr/>
        </p:nvSpPr>
        <p:spPr>
          <a:xfrm>
            <a:off x="7909560" y="1920240"/>
            <a:ext cx="3474720" cy="274320"/>
          </a:xfrm>
          <a:prstGeom prst="rect">
            <a:avLst/>
          </a:prstGeom>
          <a:noFill/>
          <a:ln/>
        </p:spPr>
        <p:txBody>
          <a:bodyPr wrap="square" lIns="0" tIns="0" rIns="0" bIns="0" rtlCol="0" anchor="ctr"/>
          <a:lstStyle/>
          <a:p>
            <a:pPr marL="0" indent="0">
              <a:buNone/>
            </a:pPr>
            <a:endParaRPr lang="en-US" sz="1200" dirty="0"/>
          </a:p>
        </p:txBody>
      </p:sp>
      <p:sp>
        <p:nvSpPr>
          <p:cNvPr id="16" name="Reference list"/>
          <p:cNvSpPr txBox="1"/>
          <p:nvPr/>
        </p:nvSpPr>
        <p:spPr>
          <a:xfrm>
            <a:off x="7909560" y="2240280"/>
            <a:ext cx="3520440" cy="3931920"/>
          </a:xfrm>
          <a:prstGeom prst="rect">
            <a:avLst/>
          </a:prstGeom>
          <a:noFill/>
          <a:ln/>
        </p:spPr>
        <p:txBody>
          <a:bodyPr wrap="square" lIns="0" tIns="0" rIns="0" bIns="0" rtlCol="0" anchor="t"/>
          <a:lstStyle/>
          <a:p>
            <a:pPr marL="0" indent="0">
              <a:spcAft>
                <a:spcPts val="400"/>
              </a:spcAft>
              <a:buNone/>
            </a:pPr>
            <a:endParaRPr lang="en-US" sz="1200" dirty="0"/>
          </a:p>
        </p:txBody>
      </p:sp>
      <p:sp>
        <p:nvSpPr>
          <p:cNvPr id="25" name="Slide Number Placeholder 0"/>
          <p:cNvSpPr>
            <a:spLocks noGrp="1"/>
          </p:cNvSpPr>
          <p:nvPr>
            <p:ph type="sldNum" sz="quarter" idx="4294967295"/>
          </p:nvPr>
        </p:nvSpPr>
        <p:spPr>
          <a:xfrm>
            <a:off x="10698480" y="6473952"/>
            <a:ext cx="41148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Editorial Forest">
  <a:themeElements>
    <a:clrScheme name="Editorial Forest">
      <a:dk1>
        <a:srgbClr val="2B2B2B"/>
      </a:dk1>
      <a:lt1>
        <a:srgbClr val="F6F1E7"/>
      </a:lt1>
      <a:dk2>
        <a:srgbClr val="1F3D2E"/>
      </a:dk2>
      <a:lt2>
        <a:srgbClr val="E6DCC8"/>
      </a:lt2>
      <a:accent1>
        <a:srgbClr val="1F3D2E"/>
      </a:accent1>
      <a:accent2>
        <a:srgbClr val="D9674F"/>
      </a:accent2>
      <a:accent3>
        <a:srgbClr val="8FA595"/>
      </a:accent3>
      <a:accent4>
        <a:srgbClr val="E6DCC8"/>
      </a:accent4>
      <a:accent5>
        <a:srgbClr val="6B6B63"/>
      </a:accent5>
      <a:accent6>
        <a:srgbClr val="2E5A44"/>
      </a:accent6>
      <a:hlink>
        <a:srgbClr val="D9674F"/>
      </a:hlink>
      <a:folHlink>
        <a:srgbClr val="6B6B63"/>
      </a:folHlink>
    </a:clrScheme>
    <a:fontScheme name="Editorial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1685</Words>
  <Application>Microsoft Office PowerPoint</Application>
  <PresentationFormat>Widescreen</PresentationFormat>
  <Paragraphs>309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Consolas</vt:lpstr>
      <vt:lpstr>Editorial Forest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Forecasting for Supply Chain Optimization Using Historical Sales Data</dc:title>
  <dc:subject>PptxGenJS Presentation</dc:subject>
  <dc:creator>Akshu</dc:creator>
  <cp:lastModifiedBy>HP</cp:lastModifiedBy>
  <cp:revision>3</cp:revision>
  <dcterms:created xsi:type="dcterms:W3CDTF">2026-10-18T04:40:53Z</dcterms:created>
  <dcterms:modified xsi:type="dcterms:W3CDTF">2026-10-18T05:50:18Z</dcterms:modified>
</cp:coreProperties>
</file>