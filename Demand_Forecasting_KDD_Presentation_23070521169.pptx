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4.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73" r:id="rId4"/>
    <p:sldId id="258" r:id="rId5"/>
    <p:sldId id="259" r:id="rId6"/>
    <p:sldId id="260" r:id="rId7"/>
    <p:sldId id="261" r:id="rId8"/>
    <p:sldId id="274" r:id="rId9"/>
    <p:sldId id="262" r:id="rId10"/>
    <p:sldId id="270" r:id="rId11"/>
    <p:sldId id="267" r:id="rId12"/>
    <p:sldId id="275" r:id="rId13"/>
    <p:sldId id="266" r:id="rId14"/>
    <p:sldId id="271" r:id="rId15"/>
    <p:sldId id="268"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A4010DEE-1FF8-4E4F-157E-57BF021948AF}">
          <p14:sldIdLst>
            <p14:sldId id="256"/>
          </p14:sldIdLst>
        </p14:section>
        <p14:section name="Context" id="{506A0DA3-7DC6-33F9-437E-DFDEE7413A8A}">
          <p14:sldIdLst>
            <p14:sldId id="257"/>
            <p14:sldId id="273"/>
            <p14:sldId id="258"/>
          </p14:sldIdLst>
        </p14:section>
        <p14:section name="Method" id="{83D40E69-4E87-330F-7331-C2B430EFD18C}">
          <p14:sldIdLst>
            <p14:sldId id="259"/>
            <p14:sldId id="260"/>
            <p14:sldId id="261"/>
            <p14:sldId id="274"/>
            <p14:sldId id="262"/>
            <p14:sldId id="270"/>
          </p14:sldIdLst>
        </p14:section>
        <p14:section name="Results" id="{A95C3B8C-97CD-CA00-EEFF-A9304B43DDD8}">
          <p14:sldIdLst>
            <p14:sldId id="267"/>
            <p14:sldId id="275"/>
            <p14:sldId id="266"/>
            <p14:sldId id="271"/>
          </p14:sldIdLst>
        </p14:section>
        <p14:section name="Synthesis" id="{1DCE306F-C7AD-FBF9-F5CB-CC183ECDA0F7}">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56" d="100"/>
          <a:sy n="56" d="100"/>
        </p:scale>
        <p:origin x="42" y="6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WAPE (%)</c:v>
                </c:pt>
              </c:strCache>
            </c:strRef>
          </c:tx>
          <c:spPr>
            <a:solidFill>
              <a:srgbClr val="D9674F"/>
            </a:solidFill>
            <a:effectLst/>
          </c:spPr>
          <c:invertIfNegative val="0"/>
          <c:dPt>
            <c:idx val="0"/>
            <c:invertIfNegative val="0"/>
            <c:bubble3D val="0"/>
            <c:extLst>
              <c:ext xmlns:c16="http://schemas.microsoft.com/office/drawing/2014/chart" uri="{C3380CC4-5D6E-409C-BE32-E72D297353CC}">
                <c16:uniqueId val="{00000001-B1B4-4B9A-921A-4199929A64F6}"/>
              </c:ext>
            </c:extLst>
          </c:dPt>
          <c:dPt>
            <c:idx val="1"/>
            <c:invertIfNegative val="0"/>
            <c:bubble3D val="0"/>
            <c:spPr>
              <a:solidFill>
                <a:srgbClr val="1F3D2E"/>
              </a:solidFill>
              <a:effectLst/>
            </c:spPr>
            <c:extLst>
              <c:ext xmlns:c16="http://schemas.microsoft.com/office/drawing/2014/chart" uri="{C3380CC4-5D6E-409C-BE32-E72D297353CC}">
                <c16:uniqueId val="{00000003-B1B4-4B9A-921A-4199929A64F6}"/>
              </c:ext>
            </c:extLst>
          </c:dPt>
          <c:dPt>
            <c:idx val="2"/>
            <c:invertIfNegative val="0"/>
            <c:bubble3D val="0"/>
            <c:spPr>
              <a:solidFill>
                <a:srgbClr val="1F3D2E"/>
              </a:solidFill>
              <a:effectLst/>
            </c:spPr>
            <c:extLst>
              <c:ext xmlns:c16="http://schemas.microsoft.com/office/drawing/2014/chart" uri="{C3380CC4-5D6E-409C-BE32-E72D297353CC}">
                <c16:uniqueId val="{00000005-B1B4-4B9A-921A-4199929A64F6}"/>
              </c:ext>
            </c:extLst>
          </c:dPt>
          <c:dPt>
            <c:idx val="3"/>
            <c:invertIfNegative val="0"/>
            <c:bubble3D val="0"/>
            <c:spPr>
              <a:solidFill>
                <a:srgbClr val="1F3D2E"/>
              </a:solidFill>
              <a:effectLst/>
            </c:spPr>
            <c:extLst>
              <c:ext xmlns:c16="http://schemas.microsoft.com/office/drawing/2014/chart" uri="{C3380CC4-5D6E-409C-BE32-E72D297353CC}">
                <c16:uniqueId val="{00000007-B1B4-4B9A-921A-4199929A64F6}"/>
              </c:ext>
            </c:extLst>
          </c:dPt>
          <c:dPt>
            <c:idx val="4"/>
            <c:invertIfNegative val="0"/>
            <c:bubble3D val="0"/>
            <c:spPr>
              <a:solidFill>
                <a:srgbClr val="1F3D2E"/>
              </a:solidFill>
              <a:effectLst/>
            </c:spPr>
            <c:extLst>
              <c:ext xmlns:c16="http://schemas.microsoft.com/office/drawing/2014/chart" uri="{C3380CC4-5D6E-409C-BE32-E72D297353CC}">
                <c16:uniqueId val="{00000009-B1B4-4B9A-921A-4199929A64F6}"/>
              </c:ext>
            </c:extLst>
          </c:dPt>
          <c:dLbls>
            <c:numFmt formatCode="0.00&quot;%&quot;" sourceLinked="0"/>
            <c:spPr>
              <a:noFill/>
              <a:ln>
                <a:noFill/>
              </a:ln>
              <a:effectLst/>
            </c:spPr>
            <c:txPr>
              <a:bodyPr/>
              <a:lstStyle/>
              <a:p>
                <a:pPr>
                  <a:defRPr sz="1400" b="1" i="0" u="none" strike="noStrike">
                    <a:solidFill>
                      <a:srgbClr val="2B2B2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Sheet1!$A$2:$A$6</c:f>
              <c:strCache>
                <c:ptCount val="5"/>
                <c:pt idx="0">
                  <c:v>LightGBM</c:v>
                </c:pt>
                <c:pt idx="1">
                  <c:v>Gradient Boosting</c:v>
                </c:pt>
                <c:pt idx="2">
                  <c:v>Random Forest</c:v>
                </c:pt>
                <c:pt idx="3">
                  <c:v>Decision Tree</c:v>
                </c:pt>
                <c:pt idx="4">
                  <c:v>Linear Regression</c:v>
                </c:pt>
              </c:strCache>
            </c:strRef>
          </c:cat>
          <c:val>
            <c:numRef>
              <c:f>Sheet1!$B$2:$B$6</c:f>
              <c:numCache>
                <c:formatCode>General</c:formatCode>
                <c:ptCount val="5"/>
                <c:pt idx="0">
                  <c:v>10.753</c:v>
                </c:pt>
                <c:pt idx="1">
                  <c:v>10.8201</c:v>
                </c:pt>
                <c:pt idx="2">
                  <c:v>11.2037</c:v>
                </c:pt>
                <c:pt idx="3">
                  <c:v>11.956099999999999</c:v>
                </c:pt>
                <c:pt idx="4">
                  <c:v>12.3849</c:v>
                </c:pt>
              </c:numCache>
            </c:numRef>
          </c:val>
          <c:extLst>
            <c:ext xmlns:c16="http://schemas.microsoft.com/office/drawing/2014/chart" uri="{C3380CC4-5D6E-409C-BE32-E72D297353CC}">
              <c16:uniqueId val="{0000000A-B1B4-4B9A-921A-4199929A64F6}"/>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2B2B2B"/>
                </a:solidFill>
                <a:latin typeface="+mn-lt"/>
              </a:defRPr>
            </a:pPr>
            <a:endParaRPr lang="en-US"/>
          </a:p>
        </c:txPr>
        <c:crossAx val="2094734552"/>
        <c:crosses val="autoZero"/>
        <c:auto val="1"/>
        <c:lblAlgn val="ctr"/>
        <c:lblOffset val="100"/>
        <c:noMultiLvlLbl val="1"/>
      </c:catAx>
      <c:valAx>
        <c:axId val="2094734552"/>
        <c:scaling>
          <c:orientation val="minMax"/>
          <c:max val="14"/>
          <c:min val="9.5"/>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WAPE (%)</c:v>
                </c:pt>
              </c:strCache>
            </c:strRef>
          </c:tx>
          <c:spPr>
            <a:solidFill>
              <a:srgbClr val="D9674F"/>
            </a:solidFill>
            <a:effectLst/>
          </c:spPr>
          <c:invertIfNegative val="0"/>
          <c:dPt>
            <c:idx val="0"/>
            <c:invertIfNegative val="0"/>
            <c:bubble3D val="0"/>
            <c:extLst>
              <c:ext xmlns:c16="http://schemas.microsoft.com/office/drawing/2014/chart" uri="{C3380CC4-5D6E-409C-BE32-E72D297353CC}">
                <c16:uniqueId val="{00000001-CC61-457A-938F-1F6DEDD80591}"/>
              </c:ext>
            </c:extLst>
          </c:dPt>
          <c:dPt>
            <c:idx val="1"/>
            <c:invertIfNegative val="0"/>
            <c:bubble3D val="0"/>
            <c:spPr>
              <a:solidFill>
                <a:srgbClr val="1F3D2E"/>
              </a:solidFill>
              <a:effectLst/>
            </c:spPr>
            <c:extLst>
              <c:ext xmlns:c16="http://schemas.microsoft.com/office/drawing/2014/chart" uri="{C3380CC4-5D6E-409C-BE32-E72D297353CC}">
                <c16:uniqueId val="{00000003-CC61-457A-938F-1F6DEDD80591}"/>
              </c:ext>
            </c:extLst>
          </c:dPt>
          <c:dPt>
            <c:idx val="2"/>
            <c:invertIfNegative val="0"/>
            <c:bubble3D val="0"/>
            <c:spPr>
              <a:solidFill>
                <a:srgbClr val="1F3D2E"/>
              </a:solidFill>
              <a:effectLst/>
            </c:spPr>
            <c:extLst>
              <c:ext xmlns:c16="http://schemas.microsoft.com/office/drawing/2014/chart" uri="{C3380CC4-5D6E-409C-BE32-E72D297353CC}">
                <c16:uniqueId val="{00000005-CC61-457A-938F-1F6DEDD80591}"/>
              </c:ext>
            </c:extLst>
          </c:dPt>
          <c:dPt>
            <c:idx val="3"/>
            <c:invertIfNegative val="0"/>
            <c:bubble3D val="0"/>
            <c:spPr>
              <a:solidFill>
                <a:srgbClr val="1F3D2E"/>
              </a:solidFill>
              <a:effectLst/>
            </c:spPr>
            <c:extLst>
              <c:ext xmlns:c16="http://schemas.microsoft.com/office/drawing/2014/chart" uri="{C3380CC4-5D6E-409C-BE32-E72D297353CC}">
                <c16:uniqueId val="{00000007-CC61-457A-938F-1F6DEDD80591}"/>
              </c:ext>
            </c:extLst>
          </c:dPt>
          <c:dPt>
            <c:idx val="4"/>
            <c:invertIfNegative val="0"/>
            <c:bubble3D val="0"/>
            <c:spPr>
              <a:solidFill>
                <a:srgbClr val="1F3D2E"/>
              </a:solidFill>
              <a:effectLst/>
            </c:spPr>
            <c:extLst>
              <c:ext xmlns:c16="http://schemas.microsoft.com/office/drawing/2014/chart" uri="{C3380CC4-5D6E-409C-BE32-E72D297353CC}">
                <c16:uniqueId val="{00000009-CC61-457A-938F-1F6DEDD80591}"/>
              </c:ext>
            </c:extLst>
          </c:dPt>
          <c:dLbls>
            <c:numFmt formatCode="0.00&quot;%&quot;" sourceLinked="0"/>
            <c:spPr>
              <a:noFill/>
              <a:ln>
                <a:noFill/>
              </a:ln>
              <a:effectLst/>
            </c:spPr>
            <c:txPr>
              <a:bodyPr/>
              <a:lstStyle/>
              <a:p>
                <a:pPr>
                  <a:defRPr sz="1400" b="1" i="0" u="none" strike="noStrike">
                    <a:solidFill>
                      <a:srgbClr val="2B2B2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Sheet1!$A$2:$A$6</c:f>
              <c:strCache>
                <c:ptCount val="5"/>
                <c:pt idx="0">
                  <c:v>LightGBM</c:v>
                </c:pt>
                <c:pt idx="1">
                  <c:v>Random Forest</c:v>
                </c:pt>
                <c:pt idx="2">
                  <c:v>Gradient Boosting</c:v>
                </c:pt>
                <c:pt idx="3">
                  <c:v>Decision Tree</c:v>
                </c:pt>
                <c:pt idx="4">
                  <c:v>Linear Regression</c:v>
                </c:pt>
              </c:strCache>
            </c:strRef>
          </c:cat>
          <c:val>
            <c:numRef>
              <c:f>Sheet1!$B$2:$B$6</c:f>
              <c:numCache>
                <c:formatCode>General</c:formatCode>
                <c:ptCount val="5"/>
                <c:pt idx="0">
                  <c:v>7.9659000000000004</c:v>
                </c:pt>
                <c:pt idx="1">
                  <c:v>8.1569000000000003</c:v>
                </c:pt>
                <c:pt idx="2">
                  <c:v>8.1798000000000002</c:v>
                </c:pt>
                <c:pt idx="3">
                  <c:v>9.4274000000000004</c:v>
                </c:pt>
                <c:pt idx="4">
                  <c:v>11.3256</c:v>
                </c:pt>
              </c:numCache>
            </c:numRef>
          </c:val>
          <c:extLst>
            <c:ext xmlns:c16="http://schemas.microsoft.com/office/drawing/2014/chart" uri="{C3380CC4-5D6E-409C-BE32-E72D297353CC}">
              <c16:uniqueId val="{0000000A-CC61-457A-938F-1F6DEDD80591}"/>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2B2B2B"/>
                </a:solidFill>
                <a:latin typeface="+mn-lt"/>
              </a:defRPr>
            </a:pPr>
            <a:endParaRPr lang="en-US"/>
          </a:p>
        </c:txPr>
        <c:crossAx val="2094734552"/>
        <c:crosses val="autoZero"/>
        <c:auto val="1"/>
        <c:lblAlgn val="ctr"/>
        <c:lblOffset val="100"/>
        <c:noMultiLvlLbl val="1"/>
      </c:catAx>
      <c:valAx>
        <c:axId val="2094734552"/>
        <c:scaling>
          <c:orientation val="minMax"/>
          <c:max val="13.2"/>
          <c:min val="7"/>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Importance (%)</c:v>
                </c:pt>
              </c:strCache>
            </c:strRef>
          </c:tx>
          <c:spPr>
            <a:solidFill>
              <a:srgbClr val="1F3D2E"/>
            </a:solidFill>
          </c:spPr>
          <c:invertIfNegative val="1"/>
          <c:dPt>
            <c:idx val="0"/>
            <c:invertIfNegative val="1"/>
            <c:bubble3D val="0"/>
            <c:extLst>
              <c:ext xmlns:c16="http://schemas.microsoft.com/office/drawing/2014/chart" uri="{C3380CC4-5D6E-409C-BE32-E72D297353CC}">
                <c16:uniqueId val="{00000001-0044-4C20-BE1E-0DC52C524D4D}"/>
              </c:ext>
            </c:extLst>
          </c:dPt>
          <c:dPt>
            <c:idx val="1"/>
            <c:invertIfNegative val="1"/>
            <c:bubble3D val="0"/>
            <c:extLst>
              <c:ext xmlns:c16="http://schemas.microsoft.com/office/drawing/2014/chart" uri="{C3380CC4-5D6E-409C-BE32-E72D297353CC}">
                <c16:uniqueId val="{00000003-0044-4C20-BE1E-0DC52C524D4D}"/>
              </c:ext>
            </c:extLst>
          </c:dPt>
          <c:dPt>
            <c:idx val="2"/>
            <c:invertIfNegative val="1"/>
            <c:bubble3D val="0"/>
            <c:extLst>
              <c:ext xmlns:c16="http://schemas.microsoft.com/office/drawing/2014/chart" uri="{C3380CC4-5D6E-409C-BE32-E72D297353CC}">
                <c16:uniqueId val="{00000005-0044-4C20-BE1E-0DC52C524D4D}"/>
              </c:ext>
            </c:extLst>
          </c:dPt>
          <c:dPt>
            <c:idx val="3"/>
            <c:invertIfNegative val="1"/>
            <c:bubble3D val="0"/>
            <c:extLst>
              <c:ext xmlns:c16="http://schemas.microsoft.com/office/drawing/2014/chart" uri="{C3380CC4-5D6E-409C-BE32-E72D297353CC}">
                <c16:uniqueId val="{00000007-0044-4C20-BE1E-0DC52C524D4D}"/>
              </c:ext>
            </c:extLst>
          </c:dPt>
          <c:dPt>
            <c:idx val="4"/>
            <c:invertIfNegative val="1"/>
            <c:bubble3D val="0"/>
            <c:extLst>
              <c:ext xmlns:c16="http://schemas.microsoft.com/office/drawing/2014/chart" uri="{C3380CC4-5D6E-409C-BE32-E72D297353CC}">
                <c16:uniqueId val="{00000009-0044-4C20-BE1E-0DC52C524D4D}"/>
              </c:ext>
            </c:extLst>
          </c:dPt>
          <c:dLbls>
            <c:numFmt formatCode="0.0&quot;%&quot;" sourceLinked="0"/>
            <c:spPr>
              <a:noFill/>
              <a:ln>
                <a:noFill/>
              </a:ln>
              <a:effectLst/>
            </c:spPr>
            <c:txPr>
              <a:bodyPr/>
              <a:lstStyle/>
              <a:p>
                <a:pPr>
                  <a:defRPr sz="1400" b="1">
                    <a:solidFill>
                      <a:srgbClr val="2B2B2B"/>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Sheet1!$A$2:$A$6</c:f>
              <c:strCache>
                <c:ptCount val="5"/>
                <c:pt idx="0">
                  <c:v>Same day last year</c:v>
                </c:pt>
                <c:pt idx="1">
                  <c:v>Average of last 7 days</c:v>
                </c:pt>
                <c:pt idx="2">
                  <c:v>Sales 7 days ago</c:v>
                </c:pt>
                <c:pt idx="3">
                  <c:v>Average of last 28 days</c:v>
                </c:pt>
                <c:pt idx="4">
                  <c:v>Sales 14 days ago</c:v>
                </c:pt>
              </c:strCache>
            </c:strRef>
          </c:cat>
          <c:val>
            <c:numRef>
              <c:f>Sheet1!$B$2:$B$6</c:f>
              <c:numCache>
                <c:formatCode>General</c:formatCode>
                <c:ptCount val="5"/>
                <c:pt idx="0">
                  <c:v>49.9</c:v>
                </c:pt>
                <c:pt idx="1">
                  <c:v>24.8</c:v>
                </c:pt>
                <c:pt idx="2">
                  <c:v>13</c:v>
                </c:pt>
                <c:pt idx="3">
                  <c:v>5.7</c:v>
                </c:pt>
                <c:pt idx="4">
                  <c:v>2.1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A-0044-4C20-BE1E-0DC52C524D4D}"/>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888888"/>
            </a:solidFill>
          </a:ln>
        </c:spPr>
        <c:txPr>
          <a:bodyPr/>
          <a:lstStyle/>
          <a:p>
            <a:pPr>
              <a:defRPr sz="1400"/>
            </a:pPr>
            <a:endParaRPr lang="en-US"/>
          </a:p>
        </c:txPr>
        <c:crossAx val="-2113994440"/>
        <c:crosses val="autoZero"/>
        <c:auto val="1"/>
        <c:lblAlgn val="ctr"/>
        <c:lblOffset val="100"/>
        <c:noMultiLvlLbl val="0"/>
      </c:catAx>
      <c:valAx>
        <c:axId val="-2113994440"/>
        <c:scaling>
          <c:orientation val="minMax"/>
          <c:max val="66"/>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400">
          <a:solidFill>
            <a:srgbClr val="2B2B2B"/>
          </a:solidFill>
          <a:latin typeface="+mn-lt"/>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Importance (%)</c:v>
                </c:pt>
              </c:strCache>
            </c:strRef>
          </c:tx>
          <c:spPr>
            <a:solidFill>
              <a:srgbClr val="1F3D2E"/>
            </a:solidFill>
          </c:spPr>
          <c:invertIfNegative val="1"/>
          <c:dPt>
            <c:idx val="0"/>
            <c:invertIfNegative val="1"/>
            <c:bubble3D val="0"/>
            <c:extLst>
              <c:ext xmlns:c16="http://schemas.microsoft.com/office/drawing/2014/chart" uri="{C3380CC4-5D6E-409C-BE32-E72D297353CC}">
                <c16:uniqueId val="{00000001-3992-45FF-8559-29042FD6F92A}"/>
              </c:ext>
            </c:extLst>
          </c:dPt>
          <c:dPt>
            <c:idx val="1"/>
            <c:invertIfNegative val="1"/>
            <c:bubble3D val="0"/>
            <c:extLst>
              <c:ext xmlns:c16="http://schemas.microsoft.com/office/drawing/2014/chart" uri="{C3380CC4-5D6E-409C-BE32-E72D297353CC}">
                <c16:uniqueId val="{00000003-3992-45FF-8559-29042FD6F92A}"/>
              </c:ext>
            </c:extLst>
          </c:dPt>
          <c:dPt>
            <c:idx val="2"/>
            <c:invertIfNegative val="1"/>
            <c:bubble3D val="0"/>
            <c:extLst>
              <c:ext xmlns:c16="http://schemas.microsoft.com/office/drawing/2014/chart" uri="{C3380CC4-5D6E-409C-BE32-E72D297353CC}">
                <c16:uniqueId val="{00000005-3992-45FF-8559-29042FD6F92A}"/>
              </c:ext>
            </c:extLst>
          </c:dPt>
          <c:dPt>
            <c:idx val="3"/>
            <c:invertIfNegative val="1"/>
            <c:bubble3D val="0"/>
            <c:spPr>
              <a:solidFill>
                <a:srgbClr val="D9674F"/>
              </a:solidFill>
            </c:spPr>
            <c:extLst>
              <c:ext xmlns:c16="http://schemas.microsoft.com/office/drawing/2014/chart" uri="{C3380CC4-5D6E-409C-BE32-E72D297353CC}">
                <c16:uniqueId val="{00000007-3992-45FF-8559-29042FD6F92A}"/>
              </c:ext>
            </c:extLst>
          </c:dPt>
          <c:dPt>
            <c:idx val="4"/>
            <c:invertIfNegative val="1"/>
            <c:bubble3D val="0"/>
            <c:extLst>
              <c:ext xmlns:c16="http://schemas.microsoft.com/office/drawing/2014/chart" uri="{C3380CC4-5D6E-409C-BE32-E72D297353CC}">
                <c16:uniqueId val="{00000009-3992-45FF-8559-29042FD6F92A}"/>
              </c:ext>
            </c:extLst>
          </c:dPt>
          <c:dLbls>
            <c:numFmt formatCode="0.0&quot;%&quot;" sourceLinked="0"/>
            <c:spPr>
              <a:noFill/>
              <a:ln>
                <a:noFill/>
              </a:ln>
              <a:effectLst/>
            </c:spPr>
            <c:txPr>
              <a:bodyPr/>
              <a:lstStyle/>
              <a:p>
                <a:pPr>
                  <a:defRPr sz="1400" b="1">
                    <a:solidFill>
                      <a:srgbClr val="2B2B2B"/>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Sheet1!$A$2:$A$6</c:f>
              <c:strCache>
                <c:ptCount val="5"/>
                <c:pt idx="0">
                  <c:v>Sales 14 days ago</c:v>
                </c:pt>
                <c:pt idx="1">
                  <c:v>Average of last 7 days</c:v>
                </c:pt>
                <c:pt idx="2">
                  <c:v>Sales 28 days ago</c:v>
                </c:pt>
                <c:pt idx="3">
                  <c:v>Promo running</c:v>
                </c:pt>
                <c:pt idx="4">
                  <c:v>Store's usual level</c:v>
                </c:pt>
              </c:strCache>
            </c:strRef>
          </c:cat>
          <c:val>
            <c:numRef>
              <c:f>Sheet1!$B$2:$B$6</c:f>
              <c:numCache>
                <c:formatCode>General</c:formatCode>
                <c:ptCount val="5"/>
                <c:pt idx="0">
                  <c:v>47.5</c:v>
                </c:pt>
                <c:pt idx="1">
                  <c:v>10.4</c:v>
                </c:pt>
                <c:pt idx="2">
                  <c:v>9.8000000000000007</c:v>
                </c:pt>
                <c:pt idx="3">
                  <c:v>6.6</c:v>
                </c:pt>
                <c:pt idx="4">
                  <c:v>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A-3992-45FF-8559-29042FD6F92A}"/>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888888"/>
            </a:solidFill>
          </a:ln>
        </c:spPr>
        <c:txPr>
          <a:bodyPr/>
          <a:lstStyle/>
          <a:p>
            <a:pPr>
              <a:defRPr sz="1400"/>
            </a:pPr>
            <a:endParaRPr lang="en-US"/>
          </a:p>
        </c:txPr>
        <c:crossAx val="-2113994440"/>
        <c:crosses val="autoZero"/>
        <c:auto val="1"/>
        <c:lblAlgn val="ctr"/>
        <c:lblOffset val="100"/>
        <c:noMultiLvlLbl val="0"/>
      </c:catAx>
      <c:valAx>
        <c:axId val="-2113994440"/>
        <c:scaling>
          <c:orientation val="minMax"/>
          <c:max val="66"/>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400">
          <a:solidFill>
            <a:srgbClr val="2B2B2B"/>
          </a:solidFill>
          <a:latin typeface="+mn-lt"/>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86107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Title slide. Predictive Analytics project using the KDD methodology on two Kaggle sales datasets.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Why forecasting matters: too little stock means lost sales, too much stock means unsold goods. The project forecasts daily demand per store item and per store.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objectives and three research questions. Everything later in the deck answers these.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Dataset 1 has 913,000 rows: 10 stores x 50 items = 500 series, 2013 to 2017. Dataset 2 has 1,017,209 rows for 1,115 stores, Jan 2013 to Jul 2015. Raw sales scales differ by about 110 times. Rossmann columns: Store, DayOfWeek, Date, Sales, Customers, Open, Promo, StateHoliday, SchoolHoliday.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six KDD stages applied to both datasets. Stages 1 and 2 are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 missing values or duplicates. Only dates and the StateHoliday codes needed handling. Closed-store days (172,817 rows) keep lag history but are not used for training or scoring.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series is kept separate; lag and rolling features are computed inside each series. Test window: last 90 days (45,000 rows) for Dataset 1, last 42 days (40,282 rows) for Dataset 2. Bars are not to scale.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Dataset 1 uses 16 features; Dataset 2 uses 22. Series average is computed from training data only, so nothing from the test period leaks in.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Settings: Decision Tree depth 12; Random Forest 60 trees, depth 14; Gradient Boosting (histogram based) 400 rounds, learning rate 0.08; LightGBM 800 trees, learning rate 0.05, 63 leaves. Linear Regression uses default settings.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MSE is the squared version of RMSE. WAPE and R2 have no units, which is why they are used to compare the two datasets. The best model is chosen by lowest validation MAE.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Validation window 2017-10-03 to 2017-12-31. The chart sums all 500 store-items by day only for readability; the metrics are scored on each store-item-day.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Validation window 2015-06-20 to 2015-07-31, open stores only. The chart sums stores by day for readability; the metrics are scored on each store-day.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Lower is better. Bar scales start above zero so small gaps are visible. The two datasets have different sales scales, so compare them by WAPE and R2.</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Feature importance from the LightGBM model in the notebook (share of total gain). Past-sales features carry 97.5% for Dataset 1 and 85.9% for Dataset 2.</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References: Fayyad, Piatetsky-Shapiro and Smyth (1996), From Data Mining to Knowledge Discovery in Databases; Ke et al. (2017), LightGBM: A Highly Efficient Gradient Boosting Decision Tree; Pedregosa et al. (2011), Scikit-learn: Machine Learning in Python; Kaggle: Store Item Demand Forecasting Challenge and Rossmann Store Sales.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WIDE">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548640" y="6419088"/>
            <a:ext cx="11091672" cy="0"/>
          </a:xfrm>
          <a:prstGeom prst="line">
            <a:avLst/>
          </a:prstGeom>
          <a:noFill/>
          <a:ln w="9525">
            <a:solidFill>
              <a:schemeClr val="accent3"/>
            </a:solidFill>
            <a:prstDash val="solid"/>
          </a:ln>
        </p:spPr>
        <p:txBody>
          <a:bodyPr/>
          <a:lstStyle/>
          <a:p>
            <a:endParaRPr/>
          </a:p>
        </p:txBody>
      </p:sp>
      <p:sp>
        <p:nvSpPr>
          <p:cNvPr id="3" name="Text 1"/>
          <p:cNvSpPr/>
          <p:nvPr/>
        </p:nvSpPr>
        <p:spPr>
          <a:xfrm>
            <a:off x="548640" y="6473952"/>
            <a:ext cx="6400800" cy="274320"/>
          </a:xfrm>
          <a:prstGeom prst="rect">
            <a:avLst/>
          </a:prstGeom>
          <a:noFill/>
          <a:ln/>
        </p:spPr>
        <p:txBody>
          <a:bodyPr wrap="square" lIns="0" tIns="0" rIns="0" bIns="0" rtlCol="0" anchor="ctr"/>
          <a:lstStyle/>
          <a:p>
            <a:pPr marL="0" indent="0">
              <a:buNone/>
            </a:pPr>
            <a:r>
              <a:rPr lang="en-US" sz="1000" dirty="0">
                <a:solidFill>
                  <a:schemeClr val="accent5"/>
                </a:solidFill>
                <a:latin typeface="Calibri" pitchFamily="34" charset="0"/>
                <a:ea typeface="Calibri" pitchFamily="34" charset="-122"/>
                <a:cs typeface="Calibri" pitchFamily="34" charset="-120"/>
              </a:rPr>
              <a:t>Demand Forecasting for Supply Chain Optimization  |  KDD Project</a:t>
            </a:r>
            <a:endParaRPr lang="en-US" sz="1000" dirty="0"/>
          </a:p>
        </p:txBody>
      </p:sp>
      <p:sp>
        <p:nvSpPr>
          <p:cNvPr id="4" name="Text 2"/>
          <p:cNvSpPr/>
          <p:nvPr/>
        </p:nvSpPr>
        <p:spPr>
          <a:xfrm>
            <a:off x="11155680" y="6473952"/>
            <a:ext cx="484632" cy="274320"/>
          </a:xfrm>
          <a:prstGeom prst="rect">
            <a:avLst/>
          </a:prstGeom>
          <a:noFill/>
          <a:ln/>
        </p:spPr>
        <p:txBody>
          <a:bodyPr wrap="square" lIns="0" tIns="0" rIns="0" bIns="0" rtlCol="0" anchor="ctr"/>
          <a:lstStyle/>
          <a:p>
            <a:pPr marL="0" indent="0" algn="l">
              <a:buNone/>
            </a:pPr>
            <a:r>
              <a:rPr lang="en-US" sz="1000" dirty="0">
                <a:solidFill>
                  <a:schemeClr val="accent5"/>
                </a:solidFill>
              </a:rPr>
              <a:t>/ 15</a:t>
            </a:r>
            <a:endParaRPr lang="en-US" sz="1000" dirty="0"/>
          </a:p>
        </p:txBody>
      </p:sp>
      <p:sp>
        <p:nvSpPr>
          <p:cNvPr id="5" name="Text 3"/>
          <p:cNvSpPr>
            <a:spLocks noGrp="1"/>
          </p:cNvSpPr>
          <p:nvPr>
            <p:ph idx="103" hasCustomPrompt="1"/>
          </p:nvPr>
        </p:nvSpPr>
        <p:spPr>
          <a:xfrm>
            <a:off x="548640" y="777240"/>
            <a:ext cx="11091672" cy="1005840"/>
          </a:xfrm>
          <a:prstGeom prst="rect">
            <a:avLst/>
          </a:prstGeom>
          <a:noFill/>
          <a:ln/>
        </p:spPr>
        <p:txBody>
          <a:bodyPr wrap="square" rtlCol="0"/>
          <a:lstStyle>
            <a:lvl1pPr marL="0" indent="0">
              <a:buNone/>
              <a:defRPr lang="en-US" sz="3200" b="1" dirty="0">
                <a:solidFill>
                  <a:schemeClr val="tx1"/>
                </a:solidFill>
                <a:latin typeface="Cambria" pitchFamily="34" charset="0"/>
                <a:ea typeface="Cambria" pitchFamily="34" charset="-122"/>
                <a:cs typeface="Cambria" pitchFamily="34" charset="-120"/>
              </a:defRPr>
            </a:lvl1pPr>
          </a:lstStyle>
          <a:p>
            <a:pPr marL="0" indent="0">
              <a:buNone/>
            </a:pPr>
            <a:endParaRPr lang="en-US" sz="3200" dirty="0"/>
          </a:p>
        </p:txBody>
      </p:sp>
      <p:sp>
        <p:nvSpPr>
          <p:cNvPr id="25" name="Slide Number Placeholder 0"/>
          <p:cNvSpPr>
            <a:spLocks noGrp="1"/>
          </p:cNvSpPr>
          <p:nvPr>
            <p:ph type="sldNum" sz="quarter" idx="4294967295"/>
          </p:nvPr>
        </p:nvSpPr>
        <p:spPr>
          <a:xfrm>
            <a:off x="10698480" y="6473952"/>
            <a:ext cx="41148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ARROW">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548640" y="6419088"/>
            <a:ext cx="11091672" cy="0"/>
          </a:xfrm>
          <a:prstGeom prst="line">
            <a:avLst/>
          </a:prstGeom>
          <a:noFill/>
          <a:ln w="9525">
            <a:solidFill>
              <a:schemeClr val="accent3"/>
            </a:solidFill>
            <a:prstDash val="solid"/>
          </a:ln>
        </p:spPr>
        <p:txBody>
          <a:bodyPr/>
          <a:lstStyle/>
          <a:p>
            <a:endParaRPr/>
          </a:p>
        </p:txBody>
      </p:sp>
      <p:sp>
        <p:nvSpPr>
          <p:cNvPr id="3" name="Text 1"/>
          <p:cNvSpPr/>
          <p:nvPr/>
        </p:nvSpPr>
        <p:spPr>
          <a:xfrm>
            <a:off x="548640" y="6473952"/>
            <a:ext cx="6400800" cy="274320"/>
          </a:xfrm>
          <a:prstGeom prst="rect">
            <a:avLst/>
          </a:prstGeom>
          <a:noFill/>
          <a:ln/>
        </p:spPr>
        <p:txBody>
          <a:bodyPr wrap="square" lIns="0" tIns="0" rIns="0" bIns="0" rtlCol="0" anchor="ctr"/>
          <a:lstStyle/>
          <a:p>
            <a:pPr marL="0" indent="0">
              <a:buNone/>
            </a:pPr>
            <a:r>
              <a:rPr lang="en-US" sz="1000" dirty="0">
                <a:solidFill>
                  <a:schemeClr val="accent5"/>
                </a:solidFill>
                <a:latin typeface="Calibri" pitchFamily="34" charset="0"/>
                <a:ea typeface="Calibri" pitchFamily="34" charset="-122"/>
                <a:cs typeface="Calibri" pitchFamily="34" charset="-120"/>
              </a:rPr>
              <a:t>Demand Forecasting for Supply Chain Optimization  |  KDD Project</a:t>
            </a:r>
            <a:endParaRPr lang="en-US" sz="1000" dirty="0"/>
          </a:p>
        </p:txBody>
      </p:sp>
      <p:sp>
        <p:nvSpPr>
          <p:cNvPr id="4" name="Text 2"/>
          <p:cNvSpPr/>
          <p:nvPr/>
        </p:nvSpPr>
        <p:spPr>
          <a:xfrm>
            <a:off x="11155680" y="6473952"/>
            <a:ext cx="484632" cy="274320"/>
          </a:xfrm>
          <a:prstGeom prst="rect">
            <a:avLst/>
          </a:prstGeom>
          <a:noFill/>
          <a:ln/>
        </p:spPr>
        <p:txBody>
          <a:bodyPr wrap="square" lIns="0" tIns="0" rIns="0" bIns="0" rtlCol="0" anchor="ctr"/>
          <a:lstStyle/>
          <a:p>
            <a:pPr marL="0" indent="0" algn="l">
              <a:buNone/>
            </a:pPr>
            <a:r>
              <a:rPr lang="en-US" sz="1000" dirty="0">
                <a:solidFill>
                  <a:schemeClr val="accent5"/>
                </a:solidFill>
              </a:rPr>
              <a:t>/ 15</a:t>
            </a:r>
            <a:endParaRPr lang="en-US" sz="1000" dirty="0"/>
          </a:p>
        </p:txBody>
      </p:sp>
      <p:sp>
        <p:nvSpPr>
          <p:cNvPr id="5" name="Text 3"/>
          <p:cNvSpPr>
            <a:spLocks noGrp="1"/>
          </p:cNvSpPr>
          <p:nvPr>
            <p:ph idx="103" hasCustomPrompt="1"/>
          </p:nvPr>
        </p:nvSpPr>
        <p:spPr>
          <a:xfrm>
            <a:off x="548640" y="777240"/>
            <a:ext cx="6400800" cy="2377440"/>
          </a:xfrm>
          <a:prstGeom prst="rect">
            <a:avLst/>
          </a:prstGeom>
          <a:noFill/>
          <a:ln/>
        </p:spPr>
        <p:txBody>
          <a:bodyPr wrap="square" rtlCol="0"/>
          <a:lstStyle>
            <a:lvl1pPr marL="0" indent="0">
              <a:buNone/>
              <a:defRPr lang="en-US" sz="3200" b="1" dirty="0">
                <a:solidFill>
                  <a:schemeClr val="tx1"/>
                </a:solidFill>
                <a:latin typeface="Cambria" pitchFamily="34" charset="0"/>
                <a:ea typeface="Cambria" pitchFamily="34" charset="-122"/>
                <a:cs typeface="Cambria" pitchFamily="34" charset="-120"/>
              </a:defRPr>
            </a:lvl1pPr>
          </a:lstStyle>
          <a:p>
            <a:pPr marL="0" indent="0">
              <a:buNone/>
            </a:pPr>
            <a:endParaRPr lang="en-US" sz="3200" dirty="0"/>
          </a:p>
        </p:txBody>
      </p:sp>
      <p:sp>
        <p:nvSpPr>
          <p:cNvPr id="25" name="Slide Number Placeholder 0"/>
          <p:cNvSpPr>
            <a:spLocks noGrp="1"/>
          </p:cNvSpPr>
          <p:nvPr>
            <p:ph type="sldNum" sz="quarter" idx="4294967295"/>
          </p:nvPr>
        </p:nvSpPr>
        <p:spPr>
          <a:xfrm>
            <a:off x="10698480" y="6473952"/>
            <a:ext cx="41148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RIGHTPANEL">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548640" y="6419088"/>
            <a:ext cx="11091672" cy="0"/>
          </a:xfrm>
          <a:prstGeom prst="line">
            <a:avLst/>
          </a:prstGeom>
          <a:noFill/>
          <a:ln w="9525">
            <a:solidFill>
              <a:schemeClr val="accent3"/>
            </a:solidFill>
            <a:prstDash val="solid"/>
          </a:ln>
        </p:spPr>
        <p:txBody>
          <a:bodyPr/>
          <a:lstStyle/>
          <a:p>
            <a:endParaRPr/>
          </a:p>
        </p:txBody>
      </p:sp>
      <p:sp>
        <p:nvSpPr>
          <p:cNvPr id="3" name="Text 1"/>
          <p:cNvSpPr/>
          <p:nvPr/>
        </p:nvSpPr>
        <p:spPr>
          <a:xfrm>
            <a:off x="548640" y="6473952"/>
            <a:ext cx="6400800" cy="274320"/>
          </a:xfrm>
          <a:prstGeom prst="rect">
            <a:avLst/>
          </a:prstGeom>
          <a:noFill/>
          <a:ln/>
        </p:spPr>
        <p:txBody>
          <a:bodyPr wrap="square" lIns="0" tIns="0" rIns="0" bIns="0" rtlCol="0" anchor="ctr"/>
          <a:lstStyle/>
          <a:p>
            <a:pPr marL="0" indent="0">
              <a:buNone/>
            </a:pPr>
            <a:r>
              <a:rPr lang="en-US" sz="1000" dirty="0">
                <a:solidFill>
                  <a:schemeClr val="accent5"/>
                </a:solidFill>
                <a:latin typeface="Calibri" pitchFamily="34" charset="0"/>
                <a:ea typeface="Calibri" pitchFamily="34" charset="-122"/>
                <a:cs typeface="Calibri" pitchFamily="34" charset="-120"/>
              </a:rPr>
              <a:t>Demand Forecasting for Supply Chain Optimization  |  KDD Project</a:t>
            </a:r>
            <a:endParaRPr lang="en-US" sz="1000" dirty="0"/>
          </a:p>
        </p:txBody>
      </p:sp>
      <p:sp>
        <p:nvSpPr>
          <p:cNvPr id="4" name="Text 2"/>
          <p:cNvSpPr/>
          <p:nvPr/>
        </p:nvSpPr>
        <p:spPr>
          <a:xfrm>
            <a:off x="11155680" y="6473952"/>
            <a:ext cx="484632" cy="274320"/>
          </a:xfrm>
          <a:prstGeom prst="rect">
            <a:avLst/>
          </a:prstGeom>
          <a:noFill/>
          <a:ln/>
        </p:spPr>
        <p:txBody>
          <a:bodyPr wrap="square" lIns="0" tIns="0" rIns="0" bIns="0" rtlCol="0" anchor="ctr"/>
          <a:lstStyle/>
          <a:p>
            <a:pPr marL="0" indent="0" algn="l">
              <a:buNone/>
            </a:pPr>
            <a:r>
              <a:rPr lang="en-US" sz="1000" dirty="0">
                <a:solidFill>
                  <a:schemeClr val="accent5"/>
                </a:solidFill>
              </a:rPr>
              <a:t>/ 15</a:t>
            </a:r>
            <a:endParaRPr lang="en-US" sz="1000" dirty="0"/>
          </a:p>
        </p:txBody>
      </p:sp>
      <p:sp>
        <p:nvSpPr>
          <p:cNvPr id="5" name="Text 3"/>
          <p:cNvSpPr>
            <a:spLocks noGrp="1"/>
          </p:cNvSpPr>
          <p:nvPr>
            <p:ph idx="103" hasCustomPrompt="1"/>
          </p:nvPr>
        </p:nvSpPr>
        <p:spPr>
          <a:xfrm>
            <a:off x="4846320" y="777240"/>
            <a:ext cx="6793992" cy="1005840"/>
          </a:xfrm>
          <a:prstGeom prst="rect">
            <a:avLst/>
          </a:prstGeom>
          <a:noFill/>
          <a:ln/>
        </p:spPr>
        <p:txBody>
          <a:bodyPr wrap="square" rtlCol="0"/>
          <a:lstStyle>
            <a:lvl1pPr marL="0" indent="0">
              <a:buNone/>
              <a:defRPr lang="en-US" sz="3200" b="1" dirty="0">
                <a:solidFill>
                  <a:schemeClr val="tx1"/>
                </a:solidFill>
                <a:latin typeface="Cambria" pitchFamily="34" charset="0"/>
                <a:ea typeface="Cambria" pitchFamily="34" charset="-122"/>
                <a:cs typeface="Cambria" pitchFamily="34" charset="-120"/>
              </a:defRPr>
            </a:lvl1pPr>
          </a:lstStyle>
          <a:p>
            <a:pPr marL="0" indent="0">
              <a:buNone/>
            </a:pPr>
            <a:endParaRPr lang="en-US" sz="3200" dirty="0"/>
          </a:p>
        </p:txBody>
      </p:sp>
      <p:sp>
        <p:nvSpPr>
          <p:cNvPr id="25" name="Slide Number Placeholder 0"/>
          <p:cNvSpPr>
            <a:spLocks noGrp="1"/>
          </p:cNvSpPr>
          <p:nvPr>
            <p:ph type="sldNum" sz="quarter" idx="4294967295"/>
          </p:nvPr>
        </p:nvSpPr>
        <p:spPr>
          <a:xfrm>
            <a:off x="10698480" y="6473952"/>
            <a:ext cx="41148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p:bg>
      <p:bgPr>
        <a:solidFill>
          <a:schemeClr val="bg2"/>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98480" y="6473952"/>
            <a:ext cx="41148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1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chart" Target="../charts/char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Cover kicker"/>
          <p:cNvSpPr txBox="1"/>
          <p:nvPr/>
        </p:nvSpPr>
        <p:spPr>
          <a:xfrm>
            <a:off x="640080" y="685800"/>
            <a:ext cx="5669280" cy="274320"/>
          </a:xfrm>
          <a:prstGeom prst="rect">
            <a:avLst/>
          </a:prstGeom>
          <a:noFill/>
          <a:ln/>
        </p:spPr>
        <p:txBody>
          <a:bodyPr wrap="square" lIns="0" tIns="0" rIns="0" bIns="0" rtlCol="0" anchor="ctr"/>
          <a:lstStyle/>
          <a:p>
            <a:pPr marL="0" indent="0">
              <a:buNone/>
            </a:pPr>
            <a:r>
              <a:rPr lang="en-US" sz="1300" b="1" kern="0" spc="300" dirty="0">
                <a:solidFill>
                  <a:schemeClr val="accent2"/>
                </a:solidFill>
                <a:latin typeface="Calibri" pitchFamily="34" charset="0"/>
                <a:ea typeface="Calibri" pitchFamily="34" charset="-122"/>
                <a:cs typeface="Calibri" pitchFamily="34" charset="-120"/>
              </a:rPr>
              <a:t>PREDICTIVE ANALYTICS  |  KDD METHODOLOGY</a:t>
            </a:r>
            <a:endParaRPr lang="en-US" sz="1300" dirty="0"/>
          </a:p>
        </p:txBody>
      </p:sp>
      <p:sp>
        <p:nvSpPr>
          <p:cNvPr id="3" name="Cover title"/>
          <p:cNvSpPr txBox="1"/>
          <p:nvPr/>
        </p:nvSpPr>
        <p:spPr>
          <a:xfrm>
            <a:off x="640080" y="1188720"/>
            <a:ext cx="5577840" cy="2286000"/>
          </a:xfrm>
          <a:prstGeom prst="rect">
            <a:avLst/>
          </a:prstGeom>
          <a:noFill/>
          <a:ln/>
        </p:spPr>
        <p:txBody>
          <a:bodyPr wrap="square" lIns="0" tIns="0" rIns="0" bIns="0" rtlCol="0" anchor="t"/>
          <a:lstStyle/>
          <a:p>
            <a:pPr marL="0" indent="0">
              <a:buNone/>
            </a:pPr>
            <a:r>
              <a:rPr lang="en-US" sz="4400" b="1" dirty="0">
                <a:solidFill>
                  <a:schemeClr val="bg1"/>
                </a:solidFill>
                <a:latin typeface="Cambria" pitchFamily="34" charset="0"/>
                <a:ea typeface="Cambria" pitchFamily="34" charset="-122"/>
                <a:cs typeface="Cambria" pitchFamily="34" charset="-120"/>
              </a:rPr>
              <a:t>Demand Forecasting for Supply Chain Optimization</a:t>
            </a:r>
            <a:endParaRPr lang="en-US" sz="4400" dirty="0"/>
          </a:p>
        </p:txBody>
      </p:sp>
      <p:sp>
        <p:nvSpPr>
          <p:cNvPr id="4" name="Cover subtitle"/>
          <p:cNvSpPr txBox="1"/>
          <p:nvPr/>
        </p:nvSpPr>
        <p:spPr>
          <a:xfrm>
            <a:off x="640080" y="3383280"/>
            <a:ext cx="5577840" cy="457200"/>
          </a:xfrm>
          <a:prstGeom prst="rect">
            <a:avLst/>
          </a:prstGeom>
          <a:noFill/>
          <a:ln/>
        </p:spPr>
        <p:txBody>
          <a:bodyPr wrap="square" lIns="0" tIns="0" rIns="0" bIns="0" rtlCol="0" anchor="ctr"/>
          <a:lstStyle/>
          <a:p>
            <a:pPr marL="0" indent="0">
              <a:buNone/>
            </a:pPr>
            <a:r>
              <a:rPr lang="en-US" sz="2400" i="1" dirty="0">
                <a:solidFill>
                  <a:schemeClr val="bg2"/>
                </a:solidFill>
                <a:latin typeface="Cambria" pitchFamily="34" charset="0"/>
                <a:ea typeface="Cambria" pitchFamily="34" charset="-122"/>
                <a:cs typeface="Cambria" pitchFamily="34" charset="-120"/>
              </a:rPr>
              <a:t>Using Historical Sales Data</a:t>
            </a:r>
            <a:endParaRPr lang="en-US" sz="2400" dirty="0"/>
          </a:p>
        </p:txBody>
      </p:sp>
      <p:sp>
        <p:nvSpPr>
          <p:cNvPr id="5" name="Shape 3"/>
          <p:cNvSpPr/>
          <p:nvPr/>
        </p:nvSpPr>
        <p:spPr>
          <a:xfrm>
            <a:off x="640080" y="4572000"/>
            <a:ext cx="2011680" cy="0"/>
          </a:xfrm>
          <a:prstGeom prst="line">
            <a:avLst/>
          </a:prstGeom>
          <a:noFill/>
          <a:ln w="31750">
            <a:solidFill>
              <a:schemeClr val="accent2"/>
            </a:solidFill>
            <a:prstDash val="solid"/>
          </a:ln>
        </p:spPr>
      </p:sp>
      <p:sp>
        <p:nvSpPr>
          <p:cNvPr id="6" name="Presenter name"/>
          <p:cNvSpPr txBox="1"/>
          <p:nvPr/>
        </p:nvSpPr>
        <p:spPr>
          <a:xfrm>
            <a:off x="640080" y="4709160"/>
            <a:ext cx="4572000" cy="411480"/>
          </a:xfrm>
          <a:prstGeom prst="rect">
            <a:avLst/>
          </a:prstGeom>
          <a:noFill/>
          <a:ln/>
        </p:spPr>
        <p:txBody>
          <a:bodyPr wrap="square" lIns="0" tIns="0" rIns="0" bIns="0" rtlCol="0" anchor="ctr"/>
          <a:lstStyle/>
          <a:p>
            <a:pPr marL="0" indent="0">
              <a:buNone/>
            </a:pPr>
            <a:r>
              <a:rPr lang="en-US" sz="2200" b="1" dirty="0" err="1" smtClean="0">
                <a:solidFill>
                  <a:schemeClr val="bg1"/>
                </a:solidFill>
                <a:latin typeface="Calibri" pitchFamily="34" charset="0"/>
                <a:ea typeface="Calibri" pitchFamily="34" charset="-122"/>
                <a:cs typeface="Calibri" pitchFamily="34" charset="-120"/>
              </a:rPr>
              <a:t>Vismayaa</a:t>
            </a:r>
            <a:r>
              <a:rPr lang="en-US" sz="2200" b="1" dirty="0" smtClean="0">
                <a:solidFill>
                  <a:schemeClr val="bg1"/>
                </a:solidFill>
                <a:latin typeface="Calibri" pitchFamily="34" charset="0"/>
                <a:ea typeface="Calibri" pitchFamily="34" charset="-122"/>
                <a:cs typeface="Calibri" pitchFamily="34" charset="-120"/>
              </a:rPr>
              <a:t> </a:t>
            </a:r>
            <a:r>
              <a:rPr lang="en-US" sz="2200" b="1" dirty="0" err="1" smtClean="0">
                <a:solidFill>
                  <a:schemeClr val="bg1"/>
                </a:solidFill>
                <a:latin typeface="Calibri" pitchFamily="34" charset="0"/>
                <a:ea typeface="Calibri" pitchFamily="34" charset="-122"/>
                <a:cs typeface="Calibri" pitchFamily="34" charset="-120"/>
              </a:rPr>
              <a:t>Rajan</a:t>
            </a:r>
            <a:endParaRPr lang="en-US" sz="2200" dirty="0"/>
          </a:p>
        </p:txBody>
      </p:sp>
      <p:sp>
        <p:nvSpPr>
          <p:cNvPr id="7" name="Presenter PRN"/>
          <p:cNvSpPr txBox="1"/>
          <p:nvPr/>
        </p:nvSpPr>
        <p:spPr>
          <a:xfrm>
            <a:off x="640080" y="5086348"/>
            <a:ext cx="4572000" cy="365760"/>
          </a:xfrm>
          <a:prstGeom prst="rect">
            <a:avLst/>
          </a:prstGeom>
          <a:noFill/>
          <a:ln/>
        </p:spPr>
        <p:txBody>
          <a:bodyPr wrap="square" lIns="0" tIns="0" rIns="0" bIns="0" rtlCol="0" anchor="ctr"/>
          <a:lstStyle/>
          <a:p>
            <a:pPr marL="0" indent="0">
              <a:buNone/>
            </a:pPr>
            <a:r>
              <a:rPr lang="en-US" sz="1600" dirty="0">
                <a:solidFill>
                  <a:schemeClr val="bg2"/>
                </a:solidFill>
                <a:latin typeface="Calibri" pitchFamily="34" charset="0"/>
                <a:ea typeface="Calibri" pitchFamily="34" charset="-122"/>
                <a:cs typeface="Calibri" pitchFamily="34" charset="-120"/>
              </a:rPr>
              <a:t>PRN: </a:t>
            </a:r>
            <a:r>
              <a:rPr lang="en-US" sz="1600" dirty="0" smtClean="0">
                <a:solidFill>
                  <a:schemeClr val="bg2"/>
                </a:solidFill>
                <a:latin typeface="Calibri" pitchFamily="34" charset="0"/>
                <a:ea typeface="Calibri" pitchFamily="34" charset="-122"/>
                <a:cs typeface="Calibri" pitchFamily="34" charset="-120"/>
              </a:rPr>
              <a:t>23070521169</a:t>
            </a:r>
            <a:endParaRPr lang="en-US" sz="1600" dirty="0"/>
          </a:p>
        </p:txBody>
      </p:sp>
      <p:sp>
        <p:nvSpPr>
          <p:cNvPr id="8" name="Cover datasets"/>
          <p:cNvSpPr txBox="1"/>
          <p:nvPr/>
        </p:nvSpPr>
        <p:spPr>
          <a:xfrm>
            <a:off x="640080" y="3840480"/>
            <a:ext cx="5577840" cy="320040"/>
          </a:xfrm>
          <a:prstGeom prst="rect">
            <a:avLst/>
          </a:prstGeom>
          <a:noFill/>
          <a:ln/>
        </p:spPr>
        <p:txBody>
          <a:bodyPr wrap="square" lIns="0" tIns="0" rIns="0" bIns="0" rtlCol="0" anchor="ctr"/>
          <a:lstStyle/>
          <a:p>
            <a:pPr marL="0" indent="0">
              <a:buNone/>
            </a:pPr>
            <a:r>
              <a:rPr lang="en-US" sz="1600" dirty="0">
                <a:solidFill>
                  <a:schemeClr val="accent3"/>
                </a:solidFill>
                <a:latin typeface="Calibri" pitchFamily="34" charset="0"/>
                <a:ea typeface="Calibri" pitchFamily="34" charset="-122"/>
                <a:cs typeface="Calibri" pitchFamily="34" charset="-120"/>
              </a:rPr>
              <a:t>Symbiosis Institute of Technology, Nagpur</a:t>
            </a:r>
            <a:endParaRPr lang="en-US" sz="1400" dirty="0"/>
          </a:p>
        </p:txBody>
      </p:sp>
      <p:sp>
        <p:nvSpPr>
          <p:cNvPr id="9" name="Cover datasets"/>
          <p:cNvSpPr txBox="1"/>
          <p:nvPr/>
        </p:nvSpPr>
        <p:spPr>
          <a:xfrm>
            <a:off x="640080" y="4087368"/>
            <a:ext cx="5577840" cy="320040"/>
          </a:xfrm>
          <a:prstGeom prst="rect">
            <a:avLst/>
          </a:prstGeom>
          <a:noFill/>
          <a:ln/>
        </p:spPr>
        <p:txBody>
          <a:bodyPr wrap="square" lIns="0" tIns="0" rIns="0" bIns="0" rtlCol="0" anchor="ctr"/>
          <a:lstStyle/>
          <a:p>
            <a:pPr marL="0" indent="0">
              <a:buNone/>
            </a:pPr>
            <a:r>
              <a:rPr lang="en-US" sz="1600" dirty="0">
                <a:solidFill>
                  <a:schemeClr val="accent3"/>
                </a:solidFill>
                <a:latin typeface="Calibri" pitchFamily="34" charset="0"/>
                <a:ea typeface="Calibri" pitchFamily="34" charset="-122"/>
                <a:cs typeface="Calibri" pitchFamily="34" charset="-120"/>
              </a:rPr>
              <a:t>Course: Predictive Analytics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ection marker"/>
          <p:cNvSpPr/>
          <p:nvPr/>
        </p:nvSpPr>
        <p:spPr>
          <a:xfrm>
            <a:off x="548640" y="420624"/>
            <a:ext cx="118872" cy="118872"/>
          </a:xfrm>
          <a:prstGeom prst="rect">
            <a:avLst/>
          </a:prstGeom>
          <a:solidFill>
            <a:schemeClr val="accent2"/>
          </a:solidFill>
          <a:ln w="12700">
            <a:solidFill>
              <a:schemeClr val="accent2"/>
            </a:solidFill>
            <a:prstDash val="solid"/>
          </a:ln>
        </p:spPr>
        <p:txBody>
          <a:bodyPr/>
          <a:lstStyle/>
          <a:p>
            <a:endParaRPr/>
          </a:p>
        </p:txBody>
      </p:sp>
      <p:sp>
        <p:nvSpPr>
          <p:cNvPr id="3" name="Section label"/>
          <p:cNvSpPr txBox="1"/>
          <p:nvPr/>
        </p:nvSpPr>
        <p:spPr>
          <a:xfrm>
            <a:off x="777240" y="347472"/>
            <a:ext cx="5486400" cy="274320"/>
          </a:xfrm>
          <a:prstGeom prst="rect">
            <a:avLst/>
          </a:prstGeom>
          <a:noFill/>
          <a:ln/>
        </p:spPr>
        <p:txBody>
          <a:bodyPr wrap="square" lIns="0" tIns="0" rIns="0" bIns="0" rtlCol="0" anchor="ctr"/>
          <a:lstStyle/>
          <a:p>
            <a:pPr marL="0" indent="0">
              <a:buNone/>
            </a:pPr>
            <a:r>
              <a:rPr lang="en-US" sz="1200" b="1" kern="0" spc="300" dirty="0">
                <a:solidFill>
                  <a:schemeClr val="accent5"/>
                </a:solidFill>
              </a:rPr>
              <a:t>01  PROBLEM AND MOTIVATION</a:t>
            </a:r>
            <a:endParaRPr lang="en-US" sz="1200" dirty="0"/>
          </a:p>
        </p:txBody>
      </p:sp>
      <p:sp>
        <p:nvSpPr>
          <p:cNvPr id="4" name="Text 3"/>
          <p:cNvSpPr>
            <a:spLocks noGrp="1"/>
          </p:cNvSpPr>
          <p:nvPr>
            <p:ph idx="103" hasCustomPrompt="1"/>
          </p:nvPr>
        </p:nvSpPr>
        <p:spPr>
          <a:xfrm>
            <a:off x="548640" y="777240"/>
            <a:ext cx="6400800" cy="2377440"/>
          </a:xfrm>
          <a:prstGeom prst="rect">
            <a:avLst/>
          </a:prstGeom>
          <a:noFill/>
          <a:ln/>
        </p:spPr>
        <p:txBody>
          <a:bodyPr wrap="square" lIns="0" tIns="0" rIns="0" bIns="0" rtlCol="0" anchor="t"/>
          <a:lstStyle/>
          <a:p>
            <a:pPr marL="0" indent="0">
              <a:buNone/>
            </a:pPr>
            <a:r>
              <a:rPr lang="en-US" sz="3200" b="1" dirty="0">
                <a:solidFill>
                  <a:schemeClr val="tx1"/>
                </a:solidFill>
                <a:latin typeface="Cambria" pitchFamily="34" charset="0"/>
                <a:ea typeface="Cambria" pitchFamily="34" charset="-122"/>
                <a:cs typeface="Cambria" pitchFamily="34" charset="-120"/>
              </a:rPr>
              <a:t>Why demand forecasting matters for supply chains</a:t>
            </a:r>
            <a:endParaRPr lang="en-US" sz="3200" dirty="0"/>
          </a:p>
        </p:txBody>
      </p:sp>
      <p:sp>
        <p:nvSpPr>
          <p:cNvPr id="5" name="Objective paragraph"/>
          <p:cNvSpPr txBox="1"/>
          <p:nvPr/>
        </p:nvSpPr>
        <p:spPr>
          <a:xfrm>
            <a:off x="548640" y="2286000"/>
            <a:ext cx="6309360" cy="1463040"/>
          </a:xfrm>
          <a:prstGeom prst="rect">
            <a:avLst/>
          </a:prstGeom>
          <a:noFill/>
          <a:ln/>
        </p:spPr>
        <p:txBody>
          <a:bodyPr wrap="square" lIns="0" tIns="0" rIns="0" bIns="0" rtlCol="0" anchor="t"/>
          <a:lstStyle/>
          <a:p>
            <a:pPr marL="0" indent="0">
              <a:buNone/>
            </a:pPr>
            <a:r>
              <a:rPr lang="en-US" sz="1600" dirty="0">
                <a:solidFill>
                  <a:schemeClr val="tx1"/>
                </a:solidFill>
                <a:latin typeface="Calibri" pitchFamily="34" charset="0"/>
                <a:ea typeface="Calibri" pitchFamily="34" charset="-122"/>
                <a:cs typeface="Calibri" pitchFamily="34" charset="-120"/>
              </a:rPr>
              <a:t>Retailers must decide how much stock each store should hold before the sales happen. Forecasting too low causes empty shelves and lost sales; forecasting too high ties up money in unsold stock. This project forecasts daily demand for each store item (Dataset 1) and each store (Dataset 2) from historical sales.</a:t>
            </a:r>
            <a:endParaRPr lang="en-US" sz="1600" dirty="0"/>
          </a:p>
        </p:txBody>
      </p:sp>
      <p:sp>
        <p:nvSpPr>
          <p:cNvPr id="6" name="Shape 4"/>
          <p:cNvSpPr/>
          <p:nvPr/>
        </p:nvSpPr>
        <p:spPr>
          <a:xfrm>
            <a:off x="548640" y="4114800"/>
            <a:ext cx="6309360" cy="0"/>
          </a:xfrm>
          <a:prstGeom prst="line">
            <a:avLst/>
          </a:prstGeom>
          <a:noFill/>
          <a:ln w="9525">
            <a:solidFill>
              <a:schemeClr val="accent3"/>
            </a:solidFill>
            <a:prstDash val="solid"/>
          </a:ln>
        </p:spPr>
        <p:txBody>
          <a:bodyPr/>
          <a:lstStyle/>
          <a:p>
            <a:endParaRPr/>
          </a:p>
        </p:txBody>
      </p:sp>
      <p:sp>
        <p:nvSpPr>
          <p:cNvPr id="7" name="Text 5"/>
          <p:cNvSpPr txBox="1"/>
          <p:nvPr/>
        </p:nvSpPr>
        <p:spPr>
          <a:xfrm>
            <a:off x="548640" y="4206240"/>
            <a:ext cx="457200" cy="457200"/>
          </a:xfrm>
          <a:prstGeom prst="rect">
            <a:avLst/>
          </a:prstGeom>
          <a:noFill/>
          <a:ln/>
        </p:spPr>
        <p:txBody>
          <a:bodyPr wrap="square" lIns="0" tIns="0" rIns="0" bIns="0" rtlCol="0" anchor="ctr"/>
          <a:lstStyle/>
          <a:p>
            <a:pPr marL="0" indent="0">
              <a:buNone/>
            </a:pPr>
            <a:r>
              <a:rPr lang="en-US" sz="2400" b="1" dirty="0">
                <a:solidFill>
                  <a:schemeClr val="accent2"/>
                </a:solidFill>
                <a:latin typeface="Cambria" pitchFamily="34" charset="0"/>
                <a:ea typeface="Cambria" pitchFamily="34" charset="-122"/>
                <a:cs typeface="Cambria" pitchFamily="34" charset="-120"/>
              </a:rPr>
              <a:t>1</a:t>
            </a:r>
            <a:endParaRPr lang="en-US" sz="2400" dirty="0"/>
          </a:p>
        </p:txBody>
      </p:sp>
      <p:sp>
        <p:nvSpPr>
          <p:cNvPr id="8" name="Text 6"/>
          <p:cNvSpPr txBox="1"/>
          <p:nvPr/>
        </p:nvSpPr>
        <p:spPr>
          <a:xfrm>
            <a:off x="1097280" y="4206240"/>
            <a:ext cx="5760720" cy="457200"/>
          </a:xfrm>
          <a:prstGeom prst="rect">
            <a:avLst/>
          </a:prstGeom>
          <a:noFill/>
          <a:ln/>
        </p:spPr>
        <p:txBody>
          <a:bodyPr wrap="square" lIns="0" tIns="0" rIns="0" bIns="0" rtlCol="0" anchor="ctr"/>
          <a:lstStyle/>
          <a:p>
            <a:pPr marL="0" indent="0">
              <a:buNone/>
            </a:pPr>
            <a:r>
              <a:rPr lang="en-US" sz="1600" dirty="0">
                <a:solidFill>
                  <a:schemeClr val="tx1"/>
                </a:solidFill>
                <a:latin typeface="Calibri" pitchFamily="34" charset="0"/>
                <a:ea typeface="Calibri" pitchFamily="34" charset="-122"/>
                <a:cs typeface="Calibri" pitchFamily="34" charset="-120"/>
              </a:rPr>
              <a:t>Too little stock: empty shelves and lost sales</a:t>
            </a:r>
            <a:endParaRPr lang="en-US" sz="1600" dirty="0"/>
          </a:p>
        </p:txBody>
      </p:sp>
      <p:sp>
        <p:nvSpPr>
          <p:cNvPr id="9" name="Shape 7"/>
          <p:cNvSpPr/>
          <p:nvPr/>
        </p:nvSpPr>
        <p:spPr>
          <a:xfrm>
            <a:off x="548640" y="4800600"/>
            <a:ext cx="6309360" cy="0"/>
          </a:xfrm>
          <a:prstGeom prst="line">
            <a:avLst/>
          </a:prstGeom>
          <a:noFill/>
          <a:ln w="9525">
            <a:solidFill>
              <a:schemeClr val="accent3"/>
            </a:solidFill>
            <a:prstDash val="solid"/>
          </a:ln>
        </p:spPr>
        <p:txBody>
          <a:bodyPr/>
          <a:lstStyle/>
          <a:p>
            <a:endParaRPr/>
          </a:p>
        </p:txBody>
      </p:sp>
      <p:sp>
        <p:nvSpPr>
          <p:cNvPr id="10" name="Text 8"/>
          <p:cNvSpPr txBox="1"/>
          <p:nvPr/>
        </p:nvSpPr>
        <p:spPr>
          <a:xfrm>
            <a:off x="548640" y="4892040"/>
            <a:ext cx="457200" cy="457200"/>
          </a:xfrm>
          <a:prstGeom prst="rect">
            <a:avLst/>
          </a:prstGeom>
          <a:noFill/>
          <a:ln/>
        </p:spPr>
        <p:txBody>
          <a:bodyPr wrap="square" lIns="0" tIns="0" rIns="0" bIns="0" rtlCol="0" anchor="ctr"/>
          <a:lstStyle/>
          <a:p>
            <a:pPr marL="0" indent="0">
              <a:buNone/>
            </a:pPr>
            <a:r>
              <a:rPr lang="en-US" sz="2400" b="1" dirty="0">
                <a:solidFill>
                  <a:schemeClr val="accent2"/>
                </a:solidFill>
                <a:latin typeface="Cambria" pitchFamily="34" charset="0"/>
                <a:ea typeface="Cambria" pitchFamily="34" charset="-122"/>
                <a:cs typeface="Cambria" pitchFamily="34" charset="-120"/>
              </a:rPr>
              <a:t>2</a:t>
            </a:r>
            <a:endParaRPr lang="en-US" sz="2400" dirty="0"/>
          </a:p>
        </p:txBody>
      </p:sp>
      <p:sp>
        <p:nvSpPr>
          <p:cNvPr id="11" name="Text 9"/>
          <p:cNvSpPr txBox="1"/>
          <p:nvPr/>
        </p:nvSpPr>
        <p:spPr>
          <a:xfrm>
            <a:off x="1097280" y="4892040"/>
            <a:ext cx="5760720" cy="457200"/>
          </a:xfrm>
          <a:prstGeom prst="rect">
            <a:avLst/>
          </a:prstGeom>
          <a:noFill/>
          <a:ln/>
        </p:spPr>
        <p:txBody>
          <a:bodyPr wrap="square" lIns="0" tIns="0" rIns="0" bIns="0" rtlCol="0" anchor="ctr"/>
          <a:lstStyle/>
          <a:p>
            <a:pPr marL="0" indent="0">
              <a:buNone/>
            </a:pPr>
            <a:r>
              <a:rPr lang="en-US" sz="1600" dirty="0">
                <a:solidFill>
                  <a:schemeClr val="tx1"/>
                </a:solidFill>
                <a:latin typeface="Calibri" pitchFamily="34" charset="0"/>
                <a:ea typeface="Calibri" pitchFamily="34" charset="-122"/>
                <a:cs typeface="Calibri" pitchFamily="34" charset="-120"/>
              </a:rPr>
              <a:t>Too much stock: storage cost and unsold goods</a:t>
            </a:r>
            <a:endParaRPr lang="en-US" sz="1600" dirty="0"/>
          </a:p>
        </p:txBody>
      </p:sp>
      <p:sp>
        <p:nvSpPr>
          <p:cNvPr id="12" name="Shape 10"/>
          <p:cNvSpPr/>
          <p:nvPr/>
        </p:nvSpPr>
        <p:spPr>
          <a:xfrm>
            <a:off x="548640" y="5486400"/>
            <a:ext cx="6309360" cy="0"/>
          </a:xfrm>
          <a:prstGeom prst="line">
            <a:avLst/>
          </a:prstGeom>
          <a:noFill/>
          <a:ln w="9525">
            <a:solidFill>
              <a:schemeClr val="accent3"/>
            </a:solidFill>
            <a:prstDash val="solid"/>
          </a:ln>
        </p:spPr>
        <p:txBody>
          <a:bodyPr/>
          <a:lstStyle/>
          <a:p>
            <a:endParaRPr/>
          </a:p>
        </p:txBody>
      </p:sp>
      <p:sp>
        <p:nvSpPr>
          <p:cNvPr id="13" name="Text 11"/>
          <p:cNvSpPr txBox="1"/>
          <p:nvPr/>
        </p:nvSpPr>
        <p:spPr>
          <a:xfrm>
            <a:off x="548640" y="5577840"/>
            <a:ext cx="457200" cy="457200"/>
          </a:xfrm>
          <a:prstGeom prst="rect">
            <a:avLst/>
          </a:prstGeom>
          <a:noFill/>
          <a:ln/>
        </p:spPr>
        <p:txBody>
          <a:bodyPr wrap="square" lIns="0" tIns="0" rIns="0" bIns="0" rtlCol="0" anchor="ctr"/>
          <a:lstStyle/>
          <a:p>
            <a:pPr marL="0" indent="0">
              <a:buNone/>
            </a:pPr>
            <a:r>
              <a:rPr lang="en-US" sz="2400" b="1" dirty="0">
                <a:solidFill>
                  <a:schemeClr val="accent2"/>
                </a:solidFill>
                <a:latin typeface="Cambria" pitchFamily="34" charset="0"/>
                <a:ea typeface="Cambria" pitchFamily="34" charset="-122"/>
                <a:cs typeface="Cambria" pitchFamily="34" charset="-120"/>
              </a:rPr>
              <a:t>3</a:t>
            </a:r>
            <a:endParaRPr lang="en-US" sz="2400" dirty="0"/>
          </a:p>
        </p:txBody>
      </p:sp>
      <p:sp>
        <p:nvSpPr>
          <p:cNvPr id="14" name="Text 12"/>
          <p:cNvSpPr txBox="1"/>
          <p:nvPr/>
        </p:nvSpPr>
        <p:spPr>
          <a:xfrm>
            <a:off x="1097280" y="5577840"/>
            <a:ext cx="5760720" cy="457200"/>
          </a:xfrm>
          <a:prstGeom prst="rect">
            <a:avLst/>
          </a:prstGeom>
          <a:noFill/>
          <a:ln/>
        </p:spPr>
        <p:txBody>
          <a:bodyPr wrap="square" lIns="0" tIns="0" rIns="0" bIns="0" rtlCol="0" anchor="ctr"/>
          <a:lstStyle/>
          <a:p>
            <a:r>
              <a:rPr lang="en-US" sz="1600" dirty="0"/>
              <a:t>Better forecasts support better stocking decisions.</a:t>
            </a:r>
            <a:endParaRPr lang="en-US" sz="1600" dirty="0"/>
          </a:p>
        </p:txBody>
      </p:sp>
      <p:sp>
        <p:nvSpPr>
          <p:cNvPr id="15" name="Forest panel"/>
          <p:cNvSpPr/>
          <p:nvPr/>
        </p:nvSpPr>
        <p:spPr>
          <a:xfrm>
            <a:off x="7589520" y="0"/>
            <a:ext cx="4599432" cy="6419088"/>
          </a:xfrm>
          <a:prstGeom prst="rect">
            <a:avLst/>
          </a:prstGeom>
          <a:solidFill>
            <a:schemeClr val="tx2"/>
          </a:solidFill>
          <a:ln w="12700">
            <a:solidFill>
              <a:schemeClr val="tx2"/>
            </a:solidFill>
            <a:prstDash val="solid"/>
          </a:ln>
        </p:spPr>
        <p:txBody>
          <a:bodyPr/>
          <a:lstStyle/>
          <a:p>
            <a:endParaRPr/>
          </a:p>
        </p:txBody>
      </p:sp>
      <p:sp>
        <p:nvSpPr>
          <p:cNvPr id="16" name="Text 14"/>
          <p:cNvSpPr txBox="1"/>
          <p:nvPr/>
        </p:nvSpPr>
        <p:spPr>
          <a:xfrm>
            <a:off x="8138160" y="731520"/>
            <a:ext cx="1280160" cy="1188720"/>
          </a:xfrm>
          <a:prstGeom prst="rect">
            <a:avLst/>
          </a:prstGeom>
          <a:noFill/>
          <a:ln/>
        </p:spPr>
        <p:txBody>
          <a:bodyPr wrap="square" lIns="0" tIns="0" rIns="0" bIns="0" rtlCol="0" anchor="ctr"/>
          <a:lstStyle/>
          <a:p>
            <a:pPr marL="0" indent="0">
              <a:buNone/>
            </a:pPr>
            <a:r>
              <a:rPr lang="en-US" sz="8000" b="1" dirty="0">
                <a:solidFill>
                  <a:schemeClr val="accent2"/>
                </a:solidFill>
                <a:latin typeface="Cambria" pitchFamily="34" charset="0"/>
                <a:ea typeface="Cambria" pitchFamily="34" charset="-122"/>
                <a:cs typeface="Cambria" pitchFamily="34" charset="-120"/>
              </a:rPr>
              <a:t>2</a:t>
            </a:r>
            <a:endParaRPr lang="en-US" sz="8000" dirty="0"/>
          </a:p>
        </p:txBody>
      </p:sp>
      <p:sp>
        <p:nvSpPr>
          <p:cNvPr id="17" name="Text 15"/>
          <p:cNvSpPr txBox="1"/>
          <p:nvPr/>
        </p:nvSpPr>
        <p:spPr>
          <a:xfrm>
            <a:off x="9326880" y="822960"/>
            <a:ext cx="2468880" cy="1005840"/>
          </a:xfrm>
          <a:prstGeom prst="rect">
            <a:avLst/>
          </a:prstGeom>
          <a:noFill/>
          <a:ln/>
        </p:spPr>
        <p:txBody>
          <a:bodyPr wrap="square" lIns="0" tIns="0" rIns="0" bIns="0" rtlCol="0" anchor="ctr"/>
          <a:lstStyle/>
          <a:p>
            <a:pPr marL="0" indent="0">
              <a:buNone/>
            </a:pPr>
            <a:r>
              <a:rPr lang="en-US" sz="1600" dirty="0">
                <a:solidFill>
                  <a:schemeClr val="bg1"/>
                </a:solidFill>
                <a:latin typeface="Calibri" pitchFamily="34" charset="0"/>
                <a:ea typeface="Calibri" pitchFamily="34" charset="-122"/>
                <a:cs typeface="Calibri" pitchFamily="34" charset="-120"/>
              </a:rPr>
              <a:t>retail datasets, 913,000 and 1,017,209 records</a:t>
            </a:r>
            <a:endParaRPr lang="en-US" sz="1600" dirty="0"/>
          </a:p>
        </p:txBody>
      </p:sp>
      <p:sp>
        <p:nvSpPr>
          <p:cNvPr id="18" name="Shape 16"/>
          <p:cNvSpPr/>
          <p:nvPr/>
        </p:nvSpPr>
        <p:spPr>
          <a:xfrm>
            <a:off x="8138160" y="2240280"/>
            <a:ext cx="3566160" cy="0"/>
          </a:xfrm>
          <a:prstGeom prst="line">
            <a:avLst/>
          </a:prstGeom>
          <a:noFill/>
          <a:ln w="6350">
            <a:solidFill>
              <a:schemeClr val="accent3"/>
            </a:solidFill>
            <a:prstDash val="solid"/>
          </a:ln>
        </p:spPr>
        <p:txBody>
          <a:bodyPr/>
          <a:lstStyle/>
          <a:p>
            <a:endParaRPr/>
          </a:p>
        </p:txBody>
      </p:sp>
      <p:sp>
        <p:nvSpPr>
          <p:cNvPr id="19" name="Text 17"/>
          <p:cNvSpPr txBox="1"/>
          <p:nvPr/>
        </p:nvSpPr>
        <p:spPr>
          <a:xfrm>
            <a:off x="8138160" y="2560320"/>
            <a:ext cx="1280160" cy="1188720"/>
          </a:xfrm>
          <a:prstGeom prst="rect">
            <a:avLst/>
          </a:prstGeom>
          <a:noFill/>
          <a:ln/>
        </p:spPr>
        <p:txBody>
          <a:bodyPr wrap="square" lIns="0" tIns="0" rIns="0" bIns="0" rtlCol="0" anchor="ctr"/>
          <a:lstStyle/>
          <a:p>
            <a:pPr marL="0" indent="0">
              <a:buNone/>
            </a:pPr>
            <a:r>
              <a:rPr lang="en-US" sz="8000" b="1" dirty="0">
                <a:solidFill>
                  <a:schemeClr val="accent2"/>
                </a:solidFill>
                <a:latin typeface="Cambria" pitchFamily="34" charset="0"/>
                <a:ea typeface="Cambria" pitchFamily="34" charset="-122"/>
                <a:cs typeface="Cambria" pitchFamily="34" charset="-120"/>
              </a:rPr>
              <a:t>5</a:t>
            </a:r>
            <a:endParaRPr lang="en-US" sz="8000" dirty="0"/>
          </a:p>
        </p:txBody>
      </p:sp>
      <p:sp>
        <p:nvSpPr>
          <p:cNvPr id="20" name="Text 18"/>
          <p:cNvSpPr txBox="1"/>
          <p:nvPr/>
        </p:nvSpPr>
        <p:spPr>
          <a:xfrm>
            <a:off x="9326880" y="2651760"/>
            <a:ext cx="2468880" cy="1005840"/>
          </a:xfrm>
          <a:prstGeom prst="rect">
            <a:avLst/>
          </a:prstGeom>
          <a:noFill/>
          <a:ln/>
        </p:spPr>
        <p:txBody>
          <a:bodyPr wrap="square" lIns="0" tIns="0" rIns="0" bIns="0" rtlCol="0" anchor="ctr"/>
          <a:lstStyle/>
          <a:p>
            <a:pPr marL="0" indent="0">
              <a:buNone/>
            </a:pPr>
            <a:r>
              <a:rPr lang="en-US" sz="1600" dirty="0">
                <a:solidFill>
                  <a:schemeClr val="bg1"/>
                </a:solidFill>
                <a:latin typeface="Calibri" pitchFamily="34" charset="0"/>
                <a:ea typeface="Calibri" pitchFamily="34" charset="-122"/>
                <a:cs typeface="Calibri" pitchFamily="34" charset="-120"/>
              </a:rPr>
              <a:t>regression models compared</a:t>
            </a:r>
            <a:endParaRPr lang="en-US" sz="1600" dirty="0"/>
          </a:p>
        </p:txBody>
      </p:sp>
      <p:sp>
        <p:nvSpPr>
          <p:cNvPr id="21" name="Shape 19"/>
          <p:cNvSpPr/>
          <p:nvPr/>
        </p:nvSpPr>
        <p:spPr>
          <a:xfrm>
            <a:off x="8138160" y="4069080"/>
            <a:ext cx="3566160" cy="0"/>
          </a:xfrm>
          <a:prstGeom prst="line">
            <a:avLst/>
          </a:prstGeom>
          <a:noFill/>
          <a:ln w="6350">
            <a:solidFill>
              <a:schemeClr val="accent3"/>
            </a:solidFill>
            <a:prstDash val="solid"/>
          </a:ln>
        </p:spPr>
        <p:txBody>
          <a:bodyPr/>
          <a:lstStyle/>
          <a:p>
            <a:endParaRPr/>
          </a:p>
        </p:txBody>
      </p:sp>
      <p:sp>
        <p:nvSpPr>
          <p:cNvPr id="22" name="Text 20"/>
          <p:cNvSpPr txBox="1"/>
          <p:nvPr/>
        </p:nvSpPr>
        <p:spPr>
          <a:xfrm>
            <a:off x="8138160" y="4389120"/>
            <a:ext cx="1280160" cy="1188720"/>
          </a:xfrm>
          <a:prstGeom prst="rect">
            <a:avLst/>
          </a:prstGeom>
          <a:noFill/>
          <a:ln/>
        </p:spPr>
        <p:txBody>
          <a:bodyPr wrap="square" lIns="0" tIns="0" rIns="0" bIns="0" rtlCol="0" anchor="ctr"/>
          <a:lstStyle/>
          <a:p>
            <a:pPr marL="0" indent="0">
              <a:buNone/>
            </a:pPr>
            <a:r>
              <a:rPr lang="en-US" sz="8000" b="1" dirty="0">
                <a:solidFill>
                  <a:schemeClr val="accent2"/>
                </a:solidFill>
                <a:latin typeface="Cambria" pitchFamily="34" charset="0"/>
                <a:ea typeface="Cambria" pitchFamily="34" charset="-122"/>
                <a:cs typeface="Cambria" pitchFamily="34" charset="-120"/>
              </a:rPr>
              <a:t>6</a:t>
            </a:r>
            <a:endParaRPr lang="en-US" sz="8000" dirty="0"/>
          </a:p>
        </p:txBody>
      </p:sp>
      <p:sp>
        <p:nvSpPr>
          <p:cNvPr id="23" name="Text 21"/>
          <p:cNvSpPr txBox="1"/>
          <p:nvPr/>
        </p:nvSpPr>
        <p:spPr>
          <a:xfrm>
            <a:off x="9326880" y="4480560"/>
            <a:ext cx="2468880" cy="1005840"/>
          </a:xfrm>
          <a:prstGeom prst="rect">
            <a:avLst/>
          </a:prstGeom>
          <a:noFill/>
          <a:ln/>
        </p:spPr>
        <p:txBody>
          <a:bodyPr wrap="square" lIns="0" tIns="0" rIns="0" bIns="0" rtlCol="0" anchor="ctr"/>
          <a:lstStyle/>
          <a:p>
            <a:pPr marL="0" indent="0">
              <a:buNone/>
            </a:pPr>
            <a:r>
              <a:rPr lang="en-US" sz="1600" dirty="0">
                <a:solidFill>
                  <a:schemeClr val="bg1"/>
                </a:solidFill>
                <a:latin typeface="Calibri" pitchFamily="34" charset="0"/>
                <a:ea typeface="Calibri" pitchFamily="34" charset="-122"/>
                <a:cs typeface="Calibri" pitchFamily="34" charset="-120"/>
              </a:rPr>
              <a:t>KDD steps, from selection to presentation</a:t>
            </a:r>
            <a:endParaRPr lang="en-US" sz="1600" dirty="0"/>
          </a:p>
        </p:txBody>
      </p:sp>
      <p:sp>
        <p:nvSpPr>
          <p:cNvPr id="25" name="Slide Number Placeholder 0"/>
          <p:cNvSpPr>
            <a:spLocks noGrp="1"/>
          </p:cNvSpPr>
          <p:nvPr>
            <p:ph type="sldNum" sz="quarter" idx="4294967295"/>
          </p:nvPr>
        </p:nvSpPr>
        <p:spPr>
          <a:xfrm>
            <a:off x="10698480" y="6473952"/>
            <a:ext cx="41148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ection marker"/>
          <p:cNvSpPr/>
          <p:nvPr/>
        </p:nvSpPr>
        <p:spPr>
          <a:xfrm>
            <a:off x="548640" y="420624"/>
            <a:ext cx="118872" cy="118872"/>
          </a:xfrm>
          <a:prstGeom prst="rect">
            <a:avLst/>
          </a:prstGeom>
          <a:solidFill>
            <a:schemeClr val="accent2"/>
          </a:solidFill>
          <a:ln w="12700">
            <a:solidFill>
              <a:schemeClr val="accent2"/>
            </a:solidFill>
            <a:prstDash val="solid"/>
          </a:ln>
        </p:spPr>
        <p:txBody>
          <a:bodyPr/>
          <a:lstStyle/>
          <a:p>
            <a:endParaRPr/>
          </a:p>
        </p:txBody>
      </p:sp>
      <p:sp>
        <p:nvSpPr>
          <p:cNvPr id="3" name="Section label"/>
          <p:cNvSpPr txBox="1"/>
          <p:nvPr/>
        </p:nvSpPr>
        <p:spPr>
          <a:xfrm>
            <a:off x="777240" y="347472"/>
            <a:ext cx="5486400" cy="274320"/>
          </a:xfrm>
          <a:prstGeom prst="rect">
            <a:avLst/>
          </a:prstGeom>
          <a:noFill/>
          <a:ln/>
        </p:spPr>
        <p:txBody>
          <a:bodyPr wrap="square" lIns="0" tIns="0" rIns="0" bIns="0" rtlCol="0" anchor="ctr"/>
          <a:lstStyle/>
          <a:p>
            <a:pPr marL="0" indent="0">
              <a:buNone/>
            </a:pPr>
            <a:r>
              <a:rPr lang="en-US" sz="1200" b="1" kern="0" spc="300" dirty="0">
                <a:solidFill>
                  <a:schemeClr val="accent5"/>
                </a:solidFill>
              </a:rPr>
              <a:t>02  OBJECTIVES</a:t>
            </a:r>
            <a:endParaRPr lang="en-US" sz="1200" dirty="0"/>
          </a:p>
        </p:txBody>
      </p:sp>
      <p:sp>
        <p:nvSpPr>
          <p:cNvPr id="4" name="Text 3"/>
          <p:cNvSpPr>
            <a:spLocks noGrp="1"/>
          </p:cNvSpPr>
          <p:nvPr>
            <p:ph idx="103" hasCustomPrompt="1"/>
          </p:nvPr>
        </p:nvSpPr>
        <p:spPr>
          <a:xfrm>
            <a:off x="548640" y="777240"/>
            <a:ext cx="11091672" cy="1005840"/>
          </a:xfrm>
          <a:prstGeom prst="rect">
            <a:avLst/>
          </a:prstGeom>
          <a:noFill/>
          <a:ln/>
        </p:spPr>
        <p:txBody>
          <a:bodyPr wrap="square" lIns="0" tIns="0" rIns="0" bIns="0" rtlCol="0" anchor="t"/>
          <a:lstStyle/>
          <a:p>
            <a:pPr marL="0" indent="0">
              <a:buNone/>
            </a:pPr>
            <a:r>
              <a:rPr lang="en-US" sz="3200" b="1" dirty="0">
                <a:solidFill>
                  <a:schemeClr val="tx1"/>
                </a:solidFill>
                <a:latin typeface="Cambria" pitchFamily="34" charset="0"/>
                <a:ea typeface="Cambria" pitchFamily="34" charset="-122"/>
                <a:cs typeface="Cambria" pitchFamily="34" charset="-120"/>
              </a:rPr>
              <a:t>Objectives and research questions</a:t>
            </a:r>
            <a:endParaRPr lang="en-US" sz="3200" dirty="0"/>
          </a:p>
        </p:txBody>
      </p:sp>
      <p:sp>
        <p:nvSpPr>
          <p:cNvPr id="5" name="Shape 3"/>
          <p:cNvSpPr/>
          <p:nvPr/>
        </p:nvSpPr>
        <p:spPr>
          <a:xfrm>
            <a:off x="548640" y="1920240"/>
            <a:ext cx="6675120" cy="0"/>
          </a:xfrm>
          <a:prstGeom prst="line">
            <a:avLst/>
          </a:prstGeom>
          <a:noFill/>
          <a:ln w="19050">
            <a:solidFill>
              <a:schemeClr val="tx2"/>
            </a:solidFill>
            <a:prstDash val="solid"/>
          </a:ln>
        </p:spPr>
        <p:txBody>
          <a:bodyPr/>
          <a:lstStyle/>
          <a:p>
            <a:endParaRPr/>
          </a:p>
        </p:txBody>
      </p:sp>
      <p:sp>
        <p:nvSpPr>
          <p:cNvPr id="6" name="Text 4"/>
          <p:cNvSpPr txBox="1"/>
          <p:nvPr/>
        </p:nvSpPr>
        <p:spPr>
          <a:xfrm>
            <a:off x="548640" y="2011680"/>
            <a:ext cx="6675120" cy="274320"/>
          </a:xfrm>
          <a:prstGeom prst="rect">
            <a:avLst/>
          </a:prstGeom>
          <a:noFill/>
          <a:ln/>
        </p:spPr>
        <p:txBody>
          <a:bodyPr wrap="square" lIns="0" tIns="0" rIns="0" bIns="0" rtlCol="0" anchor="ctr"/>
          <a:lstStyle/>
          <a:p>
            <a:pPr marL="0" indent="0">
              <a:buNone/>
            </a:pPr>
            <a:r>
              <a:rPr lang="en-US" sz="1200" b="1" kern="0" spc="300" dirty="0">
                <a:solidFill>
                  <a:schemeClr val="accent2"/>
                </a:solidFill>
                <a:latin typeface="Calibri" pitchFamily="34" charset="0"/>
                <a:ea typeface="Calibri" pitchFamily="34" charset="-122"/>
                <a:cs typeface="Calibri" pitchFamily="34" charset="-120"/>
              </a:rPr>
              <a:t>OBJECTIVE 1</a:t>
            </a:r>
            <a:endParaRPr lang="en-US" sz="1200" dirty="0"/>
          </a:p>
        </p:txBody>
      </p:sp>
      <p:sp>
        <p:nvSpPr>
          <p:cNvPr id="7" name="Text 5"/>
          <p:cNvSpPr txBox="1"/>
          <p:nvPr/>
        </p:nvSpPr>
        <p:spPr>
          <a:xfrm>
            <a:off x="548640" y="2331720"/>
            <a:ext cx="6675120" cy="960120"/>
          </a:xfrm>
          <a:prstGeom prst="rect">
            <a:avLst/>
          </a:prstGeom>
          <a:noFill/>
          <a:ln/>
        </p:spPr>
        <p:txBody>
          <a:bodyPr wrap="square" lIns="0" tIns="0" rIns="0" bIns="0" rtlCol="0" anchor="t"/>
          <a:lstStyle/>
          <a:p>
            <a:pPr marL="0" indent="0">
              <a:buNone/>
            </a:pPr>
            <a:r>
              <a:rPr lang="en-US" sz="1600" dirty="0">
                <a:solidFill>
                  <a:schemeClr val="tx1"/>
                </a:solidFill>
                <a:latin typeface="Calibri" pitchFamily="34" charset="0"/>
                <a:ea typeface="Calibri" pitchFamily="34" charset="-122"/>
                <a:cs typeface="Calibri" pitchFamily="34" charset="-120"/>
              </a:rPr>
              <a:t>Analyse historical retail sales to find demand patterns such as weekly cycles, promotions and seasonality.</a:t>
            </a:r>
            <a:endParaRPr lang="en-US" sz="1600" dirty="0"/>
          </a:p>
        </p:txBody>
      </p:sp>
      <p:sp>
        <p:nvSpPr>
          <p:cNvPr id="8" name="Shape 6"/>
          <p:cNvSpPr/>
          <p:nvPr/>
        </p:nvSpPr>
        <p:spPr>
          <a:xfrm>
            <a:off x="548640" y="3383280"/>
            <a:ext cx="6675120" cy="0"/>
          </a:xfrm>
          <a:prstGeom prst="line">
            <a:avLst/>
          </a:prstGeom>
          <a:noFill/>
          <a:ln w="19050">
            <a:solidFill>
              <a:schemeClr val="tx2"/>
            </a:solidFill>
            <a:prstDash val="solid"/>
          </a:ln>
        </p:spPr>
        <p:txBody>
          <a:bodyPr/>
          <a:lstStyle/>
          <a:p>
            <a:endParaRPr/>
          </a:p>
        </p:txBody>
      </p:sp>
      <p:sp>
        <p:nvSpPr>
          <p:cNvPr id="9" name="Text 7"/>
          <p:cNvSpPr txBox="1"/>
          <p:nvPr/>
        </p:nvSpPr>
        <p:spPr>
          <a:xfrm>
            <a:off x="548640" y="3474720"/>
            <a:ext cx="6675120" cy="274320"/>
          </a:xfrm>
          <a:prstGeom prst="rect">
            <a:avLst/>
          </a:prstGeom>
          <a:noFill/>
          <a:ln/>
        </p:spPr>
        <p:txBody>
          <a:bodyPr wrap="square" lIns="0" tIns="0" rIns="0" bIns="0" rtlCol="0" anchor="ctr"/>
          <a:lstStyle/>
          <a:p>
            <a:pPr marL="0" indent="0">
              <a:buNone/>
            </a:pPr>
            <a:r>
              <a:rPr lang="en-US" sz="1200" b="1" kern="0" spc="300" dirty="0">
                <a:solidFill>
                  <a:schemeClr val="accent2"/>
                </a:solidFill>
                <a:latin typeface="Calibri" pitchFamily="34" charset="0"/>
                <a:ea typeface="Calibri" pitchFamily="34" charset="-122"/>
                <a:cs typeface="Calibri" pitchFamily="34" charset="-120"/>
              </a:rPr>
              <a:t>OBJECTIVE 2</a:t>
            </a:r>
            <a:endParaRPr lang="en-US" sz="1200" dirty="0"/>
          </a:p>
        </p:txBody>
      </p:sp>
      <p:sp>
        <p:nvSpPr>
          <p:cNvPr id="10" name="Text 8"/>
          <p:cNvSpPr txBox="1"/>
          <p:nvPr/>
        </p:nvSpPr>
        <p:spPr>
          <a:xfrm>
            <a:off x="548640" y="3794760"/>
            <a:ext cx="6675120" cy="960120"/>
          </a:xfrm>
          <a:prstGeom prst="rect">
            <a:avLst/>
          </a:prstGeom>
          <a:noFill/>
          <a:ln/>
        </p:spPr>
        <p:txBody>
          <a:bodyPr wrap="square" lIns="0" tIns="0" rIns="0" bIns="0" rtlCol="0" anchor="t"/>
          <a:lstStyle/>
          <a:p>
            <a:pPr marL="0" indent="0">
              <a:buNone/>
            </a:pPr>
            <a:r>
              <a:rPr lang="en-US" sz="1600" dirty="0">
                <a:solidFill>
                  <a:schemeClr val="tx1"/>
                </a:solidFill>
                <a:latin typeface="Calibri" pitchFamily="34" charset="0"/>
                <a:ea typeface="Calibri" pitchFamily="34" charset="-122"/>
                <a:cs typeface="Calibri" pitchFamily="34" charset="-120"/>
              </a:rPr>
              <a:t>Build and compare five regression models that forecast daily demand for each store item (Dataset 1) and each store (Dataset 2).</a:t>
            </a:r>
            <a:endParaRPr lang="en-US" sz="1600" dirty="0"/>
          </a:p>
        </p:txBody>
      </p:sp>
      <p:sp>
        <p:nvSpPr>
          <p:cNvPr id="11" name="Shape 9"/>
          <p:cNvSpPr/>
          <p:nvPr/>
        </p:nvSpPr>
        <p:spPr>
          <a:xfrm>
            <a:off x="548640" y="4846320"/>
            <a:ext cx="6675120" cy="0"/>
          </a:xfrm>
          <a:prstGeom prst="line">
            <a:avLst/>
          </a:prstGeom>
          <a:noFill/>
          <a:ln w="19050">
            <a:solidFill>
              <a:schemeClr val="tx2"/>
            </a:solidFill>
            <a:prstDash val="solid"/>
          </a:ln>
        </p:spPr>
        <p:txBody>
          <a:bodyPr/>
          <a:lstStyle/>
          <a:p>
            <a:endParaRPr/>
          </a:p>
        </p:txBody>
      </p:sp>
      <p:sp>
        <p:nvSpPr>
          <p:cNvPr id="12" name="Text 10"/>
          <p:cNvSpPr txBox="1"/>
          <p:nvPr/>
        </p:nvSpPr>
        <p:spPr>
          <a:xfrm>
            <a:off x="548640" y="4937760"/>
            <a:ext cx="6675120" cy="274320"/>
          </a:xfrm>
          <a:prstGeom prst="rect">
            <a:avLst/>
          </a:prstGeom>
          <a:noFill/>
          <a:ln/>
        </p:spPr>
        <p:txBody>
          <a:bodyPr wrap="square" lIns="0" tIns="0" rIns="0" bIns="0" rtlCol="0" anchor="ctr"/>
          <a:lstStyle/>
          <a:p>
            <a:pPr marL="0" indent="0">
              <a:buNone/>
            </a:pPr>
            <a:r>
              <a:rPr lang="en-US" sz="1200" b="1" kern="0" spc="300" dirty="0">
                <a:solidFill>
                  <a:schemeClr val="accent2"/>
                </a:solidFill>
                <a:latin typeface="Calibri" pitchFamily="34" charset="0"/>
                <a:ea typeface="Calibri" pitchFamily="34" charset="-122"/>
                <a:cs typeface="Calibri" pitchFamily="34" charset="-120"/>
              </a:rPr>
              <a:t>OBJECTIVE 3</a:t>
            </a:r>
            <a:endParaRPr lang="en-US" sz="1200" dirty="0"/>
          </a:p>
        </p:txBody>
      </p:sp>
      <p:sp>
        <p:nvSpPr>
          <p:cNvPr id="13" name="Text 11"/>
          <p:cNvSpPr txBox="1"/>
          <p:nvPr/>
        </p:nvSpPr>
        <p:spPr>
          <a:xfrm>
            <a:off x="548640" y="5257800"/>
            <a:ext cx="6675120" cy="960120"/>
          </a:xfrm>
          <a:prstGeom prst="rect">
            <a:avLst/>
          </a:prstGeom>
          <a:noFill/>
          <a:ln/>
        </p:spPr>
        <p:txBody>
          <a:bodyPr wrap="square" lIns="0" tIns="0" rIns="0" bIns="0" rtlCol="0" anchor="t"/>
          <a:lstStyle/>
          <a:p>
            <a:pPr marL="0" indent="0">
              <a:buNone/>
            </a:pPr>
            <a:r>
              <a:rPr lang="en-US" sz="1600" dirty="0">
                <a:solidFill>
                  <a:schemeClr val="tx1"/>
                </a:solidFill>
                <a:latin typeface="Calibri" pitchFamily="34" charset="0"/>
                <a:ea typeface="Calibri" pitchFamily="34" charset="-122"/>
                <a:cs typeface="Calibri" pitchFamily="34" charset="-120"/>
              </a:rPr>
              <a:t>Evaluate the models with MAE, MSE, RMSE, WAPE and R² on unseen recent days, and identify the best model for inventory planning.</a:t>
            </a:r>
            <a:endParaRPr lang="en-US" sz="1600" dirty="0"/>
          </a:p>
        </p:txBody>
      </p:sp>
      <p:sp>
        <p:nvSpPr>
          <p:cNvPr id="25" name="Slide Number Placeholder 0"/>
          <p:cNvSpPr>
            <a:spLocks noGrp="1"/>
          </p:cNvSpPr>
          <p:nvPr>
            <p:ph type="sldNum" sz="quarter" idx="4294967295"/>
          </p:nvPr>
        </p:nvSpPr>
        <p:spPr>
          <a:xfrm>
            <a:off x="10698480" y="6473952"/>
            <a:ext cx="41148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lang="en-US" b="0"/>
              <a:t>3</a:t>
            </a:fld>
            <a:endParaRPr lang="en-US"/>
          </a:p>
        </p:txBody>
      </p:sp>
      <p:sp>
        <p:nvSpPr>
          <p:cNvPr id="26" name="RQ heading"/>
          <p:cNvSpPr txBox="1"/>
          <p:nvPr/>
        </p:nvSpPr>
        <p:spPr>
          <a:xfrm>
            <a:off x="7909560" y="1920240"/>
            <a:ext cx="3520440" cy="274320"/>
          </a:xfrm>
          <a:prstGeom prst="rect">
            <a:avLst/>
          </a:prstGeom>
          <a:noFill/>
        </p:spPr>
        <p:txBody>
          <a:bodyPr wrap="square" lIns="0" tIns="0" rIns="0" bIns="0">
            <a:spAutoFit/>
          </a:bodyPr>
          <a:lstStyle/>
          <a:p>
            <a:pPr>
              <a:spcAft>
                <a:spcPts val="600"/>
              </a:spcAft>
            </a:pPr>
            <a:r>
              <a:rPr sz="1200" b="1">
                <a:solidFill>
                  <a:srgbClr val="D9674F"/>
                </a:solidFill>
              </a:rPr>
              <a:t>RESEARCH QUESTIONS</a:t>
            </a:r>
          </a:p>
        </p:txBody>
      </p:sp>
      <p:sp>
        <p:nvSpPr>
          <p:cNvPr id="27" name="RQ body"/>
          <p:cNvSpPr txBox="1"/>
          <p:nvPr/>
        </p:nvSpPr>
        <p:spPr>
          <a:xfrm>
            <a:off x="7909560" y="2331720"/>
            <a:ext cx="3520440" cy="3840480"/>
          </a:xfrm>
          <a:prstGeom prst="rect">
            <a:avLst/>
          </a:prstGeom>
          <a:noFill/>
        </p:spPr>
        <p:txBody>
          <a:bodyPr wrap="square" lIns="0" tIns="0" rIns="0" bIns="0">
            <a:spAutoFit/>
          </a:bodyPr>
          <a:lstStyle/>
          <a:p>
            <a:pPr>
              <a:spcAft>
                <a:spcPts val="600"/>
              </a:spcAft>
            </a:pPr>
            <a:r>
              <a:rPr sz="1400" b="1">
                <a:solidFill>
                  <a:srgbClr val="2B2B2B"/>
                </a:solidFill>
              </a:rPr>
              <a:t>1. </a:t>
            </a:r>
            <a:r>
              <a:rPr sz="1400" b="0">
                <a:solidFill>
                  <a:srgbClr val="2B2B2B"/>
                </a:solidFill>
              </a:rPr>
              <a:t>Which demand patterns repeat in historical sales?</a:t>
            </a:r>
          </a:p>
          <a:p>
            <a:pPr>
              <a:spcAft>
                <a:spcPts val="600"/>
              </a:spcAft>
            </a:pPr>
            <a:r>
              <a:rPr sz="1400" b="1">
                <a:solidFill>
                  <a:srgbClr val="2B2B2B"/>
                </a:solidFill>
              </a:rPr>
              <a:t>2. </a:t>
            </a:r>
            <a:r>
              <a:rPr sz="1400" b="0">
                <a:solidFill>
                  <a:srgbClr val="2B2B2B"/>
                </a:solidFill>
              </a:rPr>
              <a:t>Which regression model forecasts them most accurately?</a:t>
            </a:r>
          </a:p>
          <a:p>
            <a:pPr>
              <a:spcAft>
                <a:spcPts val="600"/>
              </a:spcAft>
            </a:pPr>
            <a:r>
              <a:rPr sz="1400" b="1">
                <a:solidFill>
                  <a:srgbClr val="2B2B2B"/>
                </a:solidFill>
              </a:rPr>
              <a:t>3. </a:t>
            </a:r>
            <a:r>
              <a:rPr sz="1400" b="0">
                <a:solidFill>
                  <a:srgbClr val="2B2B2B"/>
                </a:solidFill>
              </a:rPr>
              <a:t>How can that accuracy support inventory and supply chain planning?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marker"/>
          <p:cNvSpPr/>
          <p:nvPr/>
        </p:nvSpPr>
        <p:spPr>
          <a:xfrm>
            <a:off x="548640" y="420624"/>
            <a:ext cx="118872" cy="118872"/>
          </a:xfrm>
          <a:prstGeom prst="rect">
            <a:avLst/>
          </a:prstGeom>
          <a:solidFill>
            <a:schemeClr val="accent2"/>
          </a:solidFill>
          <a:ln w="12700">
            <a:solidFill>
              <a:schemeClr val="accent2"/>
            </a:solidFill>
            <a:prstDash val="solid"/>
          </a:ln>
        </p:spPr>
        <p:txBody>
          <a:bodyPr/>
          <a:lstStyle/>
          <a:p>
            <a:endParaRPr/>
          </a:p>
        </p:txBody>
      </p:sp>
      <p:sp>
        <p:nvSpPr>
          <p:cNvPr id="3" name="Section label"/>
          <p:cNvSpPr txBox="1"/>
          <p:nvPr/>
        </p:nvSpPr>
        <p:spPr>
          <a:xfrm>
            <a:off x="777240" y="347472"/>
            <a:ext cx="5486400" cy="274320"/>
          </a:xfrm>
          <a:prstGeom prst="rect">
            <a:avLst/>
          </a:prstGeom>
          <a:noFill/>
          <a:ln/>
        </p:spPr>
        <p:txBody>
          <a:bodyPr wrap="square" lIns="0" tIns="0" rIns="0" bIns="0" rtlCol="0" anchor="ctr"/>
          <a:lstStyle/>
          <a:p>
            <a:pPr marL="0" indent="0">
              <a:buNone/>
            </a:pPr>
            <a:r>
              <a:rPr lang="en-US" sz="1200" b="1" kern="0" spc="300" dirty="0">
                <a:solidFill>
                  <a:schemeClr val="accent5"/>
                </a:solidFill>
              </a:rPr>
              <a:t>03  THE DATASETS</a:t>
            </a:r>
            <a:endParaRPr lang="en-US" sz="1200" dirty="0"/>
          </a:p>
        </p:txBody>
      </p:sp>
      <p:sp>
        <p:nvSpPr>
          <p:cNvPr id="4" name="Text 3"/>
          <p:cNvSpPr>
            <a:spLocks noGrp="1"/>
          </p:cNvSpPr>
          <p:nvPr>
            <p:ph idx="103" hasCustomPrompt="1"/>
          </p:nvPr>
        </p:nvSpPr>
        <p:spPr>
          <a:xfrm>
            <a:off x="548640" y="777240"/>
            <a:ext cx="11091672" cy="1005840"/>
          </a:xfrm>
          <a:prstGeom prst="rect">
            <a:avLst/>
          </a:prstGeom>
          <a:noFill/>
          <a:ln/>
        </p:spPr>
        <p:txBody>
          <a:bodyPr wrap="square" lIns="0" tIns="0" rIns="0" bIns="0" rtlCol="0" anchor="t"/>
          <a:lstStyle/>
          <a:p>
            <a:pPr marL="0" indent="0">
              <a:buNone/>
            </a:pPr>
            <a:r>
              <a:rPr lang="en-US" sz="3200" b="1" dirty="0">
                <a:solidFill>
                  <a:schemeClr val="tx1"/>
                </a:solidFill>
                <a:latin typeface="Cambria" pitchFamily="34" charset="0"/>
                <a:ea typeface="Cambria" pitchFamily="34" charset="-122"/>
                <a:cs typeface="Cambria" pitchFamily="34" charset="-120"/>
              </a:rPr>
              <a:t>The two datasets</a:t>
            </a:r>
            <a:endParaRPr lang="en-US" sz="3200" dirty="0"/>
          </a:p>
        </p:txBody>
      </p:sp>
      <p:graphicFrame>
        <p:nvGraphicFramePr>
          <p:cNvPr id="5" name="Dataset comparison table"/>
          <p:cNvGraphicFramePr>
            <a:graphicFrameLocks noGrp="1"/>
          </p:cNvGraphicFramePr>
          <p:nvPr>
            <p:extLst>
              <p:ext uri="{D42A27DB-BD31-4B8C-83A1-F6EECF244321}">
                <p14:modId xmlns:p14="http://schemas.microsoft.com/office/powerpoint/2010/main" val="788490702"/>
              </p:ext>
            </p:extLst>
          </p:nvPr>
        </p:nvGraphicFramePr>
        <p:xfrm>
          <a:off x="548640" y="1920240"/>
          <a:ext cx="7406640" cy="3657600"/>
        </p:xfrm>
        <a:graphic>
          <a:graphicData uri="http://schemas.openxmlformats.org/drawingml/2006/table">
            <a:tbl>
              <a:tblPr/>
              <a:tblGrid>
                <a:gridCol w="1828800">
                  <a:extLst>
                    <a:ext uri="{9D8B030D-6E8A-4147-A177-3AD203B41FA5}">
                      <a16:colId xmlns:a16="http://schemas.microsoft.com/office/drawing/2014/main" val="20000"/>
                    </a:ext>
                  </a:extLst>
                </a:gridCol>
                <a:gridCol w="2788920">
                  <a:extLst>
                    <a:ext uri="{9D8B030D-6E8A-4147-A177-3AD203B41FA5}">
                      <a16:colId xmlns:a16="http://schemas.microsoft.com/office/drawing/2014/main" val="20001"/>
                    </a:ext>
                  </a:extLst>
                </a:gridCol>
                <a:gridCol w="2788920">
                  <a:extLst>
                    <a:ext uri="{9D8B030D-6E8A-4147-A177-3AD203B41FA5}">
                      <a16:colId xmlns:a16="http://schemas.microsoft.com/office/drawing/2014/main" val="20002"/>
                    </a:ext>
                  </a:extLst>
                </a:gridCol>
              </a:tblGrid>
              <a:tr h="457200">
                <a:tc>
                  <a:txBody>
                    <a:bodyPr/>
                    <a:lstStyle/>
                    <a:p>
                      <a:pPr marL="0" indent="0" algn="l">
                        <a:buNone/>
                      </a:pPr>
                      <a:r>
                        <a:rPr lang="en-US" sz="1300" b="1" dirty="0">
                          <a:solidFill>
                            <a:srgbClr val="F6F1E7"/>
                          </a:solidFill>
                          <a:latin typeface="Calibri" pitchFamily="34" charset="0"/>
                          <a:ea typeface="Calibri" pitchFamily="34" charset="-122"/>
                          <a:cs typeface="Calibri" pitchFamily="34" charset="-120"/>
                        </a:rPr>
                        <a:t>Attribute</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1F3D2E"/>
                    </a:solidFill>
                  </a:tcPr>
                </a:tc>
                <a:tc>
                  <a:txBody>
                    <a:bodyPr/>
                    <a:lstStyle/>
                    <a:p>
                      <a:pPr marL="0" indent="0" algn="l">
                        <a:buNone/>
                      </a:pPr>
                      <a:r>
                        <a:rPr lang="en-US" sz="1300" b="1" dirty="0">
                          <a:solidFill>
                            <a:srgbClr val="F6F1E7"/>
                          </a:solidFill>
                          <a:latin typeface="Calibri" pitchFamily="34" charset="0"/>
                          <a:ea typeface="Calibri" pitchFamily="34" charset="-122"/>
                          <a:cs typeface="Calibri" pitchFamily="34" charset="-120"/>
                        </a:rPr>
                        <a:t>Store Item Demand</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1F3D2E"/>
                    </a:solidFill>
                  </a:tcPr>
                </a:tc>
                <a:tc>
                  <a:txBody>
                    <a:bodyPr/>
                    <a:lstStyle/>
                    <a:p>
                      <a:pPr marL="0" indent="0" algn="l">
                        <a:buNone/>
                      </a:pPr>
                      <a:r>
                        <a:rPr lang="en-US" sz="1300" b="1" dirty="0">
                          <a:solidFill>
                            <a:srgbClr val="F6F1E7"/>
                          </a:solidFill>
                          <a:latin typeface="Calibri" pitchFamily="34" charset="0"/>
                          <a:ea typeface="Calibri" pitchFamily="34" charset="-122"/>
                          <a:cs typeface="Calibri" pitchFamily="34" charset="-120"/>
                        </a:rPr>
                        <a:t>Rossmann Store Sales</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1F3D2E"/>
                    </a:solidFill>
                  </a:tcPr>
                </a:tc>
                <a:extLst>
                  <a:ext uri="{0D108BD9-81ED-4DB2-BD59-A6C34878D82A}">
                    <a16:rowId xmlns:a16="http://schemas.microsoft.com/office/drawing/2014/main" val="10000"/>
                  </a:ext>
                </a:extLst>
              </a:tr>
              <a:tr h="457200">
                <a:tc>
                  <a:txBody>
                    <a:bodyPr/>
                    <a:lstStyle/>
                    <a:p>
                      <a:pPr marL="0" indent="0">
                        <a:buNone/>
                      </a:pPr>
                      <a:r>
                        <a:rPr lang="en-US" sz="1300" b="1" dirty="0">
                          <a:solidFill>
                            <a:srgbClr val="6B6B63"/>
                          </a:solidFill>
                          <a:latin typeface="Calibri" pitchFamily="34" charset="0"/>
                          <a:ea typeface="Calibri" pitchFamily="34" charset="-122"/>
                          <a:cs typeface="Calibri" pitchFamily="34" charset="-120"/>
                        </a:rPr>
                        <a:t>Source</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300" dirty="0">
                          <a:solidFill>
                            <a:srgbClr val="2B2B2B"/>
                          </a:solidFill>
                          <a:latin typeface="Calibri" pitchFamily="34" charset="0"/>
                          <a:ea typeface="Calibri" pitchFamily="34" charset="-122"/>
                          <a:cs typeface="Calibri" pitchFamily="34" charset="-120"/>
                        </a:rPr>
                        <a:t>Kaggle: Store Item Demand Forecasting Challenge</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300" dirty="0">
                          <a:solidFill>
                            <a:srgbClr val="2B2B2B"/>
                          </a:solidFill>
                          <a:latin typeface="Calibri" pitchFamily="34" charset="0"/>
                          <a:ea typeface="Calibri" pitchFamily="34" charset="-122"/>
                          <a:cs typeface="Calibri" pitchFamily="34" charset="-120"/>
                        </a:rPr>
                        <a:t>Kaggle: Rossmann Store Sales</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extLst>
                  <a:ext uri="{0D108BD9-81ED-4DB2-BD59-A6C34878D82A}">
                    <a16:rowId xmlns:a16="http://schemas.microsoft.com/office/drawing/2014/main" val="10001"/>
                  </a:ext>
                </a:extLst>
              </a:tr>
              <a:tr h="457200">
                <a:tc>
                  <a:txBody>
                    <a:bodyPr/>
                    <a:lstStyle/>
                    <a:p>
                      <a:pPr marL="0" indent="0">
                        <a:buNone/>
                      </a:pPr>
                      <a:r>
                        <a:rPr lang="en-US" sz="1300" b="1" dirty="0">
                          <a:solidFill>
                            <a:srgbClr val="6B6B63"/>
                          </a:solidFill>
                          <a:latin typeface="Calibri" pitchFamily="34" charset="0"/>
                          <a:ea typeface="Calibri" pitchFamily="34" charset="-122"/>
                          <a:cs typeface="Calibri" pitchFamily="34" charset="-120"/>
                        </a:rPr>
                        <a:t>Records (train.csv)</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300" dirty="0" smtClean="0">
                          <a:solidFill>
                            <a:srgbClr val="2B2B2B"/>
                          </a:solidFill>
                          <a:latin typeface="Calibri" pitchFamily="34" charset="0"/>
                          <a:ea typeface="Calibri" pitchFamily="34" charset="-122"/>
                          <a:cs typeface="Calibri" pitchFamily="34" charset="-120"/>
                        </a:rPr>
                        <a:t>9,13,000</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300" dirty="0" smtClean="0">
                          <a:solidFill>
                            <a:srgbClr val="2B2B2B"/>
                          </a:solidFill>
                          <a:latin typeface="Calibri" pitchFamily="34" charset="0"/>
                          <a:ea typeface="Calibri" pitchFamily="34" charset="-122"/>
                          <a:cs typeface="Calibri" pitchFamily="34" charset="-120"/>
                        </a:rPr>
                        <a:t>10,17,209</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extLst>
                  <a:ext uri="{0D108BD9-81ED-4DB2-BD59-A6C34878D82A}">
                    <a16:rowId xmlns:a16="http://schemas.microsoft.com/office/drawing/2014/main" val="10002"/>
                  </a:ext>
                </a:extLst>
              </a:tr>
              <a:tr h="457200">
                <a:tc>
                  <a:txBody>
                    <a:bodyPr/>
                    <a:lstStyle/>
                    <a:p>
                      <a:pPr marL="0" indent="0">
                        <a:buNone/>
                      </a:pPr>
                      <a:r>
                        <a:rPr lang="en-US" sz="1300" b="1" dirty="0">
                          <a:solidFill>
                            <a:srgbClr val="6B6B63"/>
                          </a:solidFill>
                          <a:latin typeface="Calibri" pitchFamily="34" charset="0"/>
                          <a:ea typeface="Calibri" pitchFamily="34" charset="-122"/>
                          <a:cs typeface="Calibri" pitchFamily="34" charset="-120"/>
                        </a:rPr>
                        <a:t>Period</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300" dirty="0">
                          <a:solidFill>
                            <a:srgbClr val="2B2B2B"/>
                          </a:solidFill>
                          <a:latin typeface="Calibri" pitchFamily="34" charset="0"/>
                          <a:ea typeface="Calibri" pitchFamily="34" charset="-122"/>
                          <a:cs typeface="Calibri" pitchFamily="34" charset="-120"/>
                        </a:rPr>
                        <a:t>2013-01-01 to 2017-12-31</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300" dirty="0">
                          <a:solidFill>
                            <a:srgbClr val="2B2B2B"/>
                          </a:solidFill>
                          <a:latin typeface="Calibri" pitchFamily="34" charset="0"/>
                          <a:ea typeface="Calibri" pitchFamily="34" charset="-122"/>
                          <a:cs typeface="Calibri" pitchFamily="34" charset="-120"/>
                        </a:rPr>
                        <a:t>2013-01-01 to 2015-07-31</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extLst>
                  <a:ext uri="{0D108BD9-81ED-4DB2-BD59-A6C34878D82A}">
                    <a16:rowId xmlns:a16="http://schemas.microsoft.com/office/drawing/2014/main" val="10003"/>
                  </a:ext>
                </a:extLst>
              </a:tr>
              <a:tr h="457200">
                <a:tc>
                  <a:txBody>
                    <a:bodyPr/>
                    <a:lstStyle/>
                    <a:p>
                      <a:pPr marL="0" indent="0">
                        <a:buNone/>
                      </a:pPr>
                      <a:r>
                        <a:rPr lang="en-US" sz="1300" b="1" dirty="0">
                          <a:solidFill>
                            <a:srgbClr val="6B6B63"/>
                          </a:solidFill>
                          <a:latin typeface="Calibri" pitchFamily="34" charset="0"/>
                          <a:ea typeface="Calibri" pitchFamily="34" charset="-122"/>
                          <a:cs typeface="Calibri" pitchFamily="34" charset="-120"/>
                        </a:rPr>
                        <a:t>Series forecast</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300" dirty="0">
                          <a:solidFill>
                            <a:srgbClr val="2B2B2B"/>
                          </a:solidFill>
                          <a:latin typeface="Calibri" pitchFamily="34" charset="0"/>
                          <a:ea typeface="Calibri" pitchFamily="34" charset="-122"/>
                          <a:cs typeface="Calibri" pitchFamily="34" charset="-120"/>
                        </a:rPr>
                        <a:t>500 store-item series (10 stores x 50 items)</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300" dirty="0">
                          <a:solidFill>
                            <a:srgbClr val="2B2B2B"/>
                          </a:solidFill>
                          <a:latin typeface="Calibri" pitchFamily="34" charset="0"/>
                          <a:ea typeface="Calibri" pitchFamily="34" charset="-122"/>
                          <a:cs typeface="Calibri" pitchFamily="34" charset="-120"/>
                        </a:rPr>
                        <a:t>1,115 store series</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extLst>
                  <a:ext uri="{0D108BD9-81ED-4DB2-BD59-A6C34878D82A}">
                    <a16:rowId xmlns:a16="http://schemas.microsoft.com/office/drawing/2014/main" val="10004"/>
                  </a:ext>
                </a:extLst>
              </a:tr>
              <a:tr h="457200">
                <a:tc>
                  <a:txBody>
                    <a:bodyPr/>
                    <a:lstStyle/>
                    <a:p>
                      <a:pPr marL="0" indent="0">
                        <a:buNone/>
                      </a:pPr>
                      <a:r>
                        <a:rPr lang="en-US" sz="1300" b="1" dirty="0">
                          <a:solidFill>
                            <a:srgbClr val="6B6B63"/>
                          </a:solidFill>
                          <a:latin typeface="Calibri" pitchFamily="34" charset="0"/>
                          <a:ea typeface="Calibri" pitchFamily="34" charset="-122"/>
                          <a:cs typeface="Calibri" pitchFamily="34" charset="-120"/>
                        </a:rPr>
                        <a:t>Columns</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300" dirty="0">
                          <a:solidFill>
                            <a:srgbClr val="2B2B2B"/>
                          </a:solidFill>
                          <a:latin typeface="Calibri" pitchFamily="34" charset="0"/>
                          <a:ea typeface="Calibri" pitchFamily="34" charset="-122"/>
                          <a:cs typeface="Calibri" pitchFamily="34" charset="-120"/>
                        </a:rPr>
                        <a:t>4: date, store, item, sales</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300" dirty="0">
                          <a:solidFill>
                            <a:srgbClr val="2B2B2B"/>
                          </a:solidFill>
                          <a:latin typeface="Calibri" pitchFamily="34" charset="0"/>
                          <a:ea typeface="Calibri" pitchFamily="34" charset="-122"/>
                          <a:cs typeface="Calibri" pitchFamily="34" charset="-120"/>
                        </a:rPr>
                        <a:t>9, plus store details from store.csv</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extLst>
                  <a:ext uri="{0D108BD9-81ED-4DB2-BD59-A6C34878D82A}">
                    <a16:rowId xmlns:a16="http://schemas.microsoft.com/office/drawing/2014/main" val="10005"/>
                  </a:ext>
                </a:extLst>
              </a:tr>
              <a:tr h="457200">
                <a:tc>
                  <a:txBody>
                    <a:bodyPr/>
                    <a:lstStyle/>
                    <a:p>
                      <a:pPr marL="0" indent="0">
                        <a:buNone/>
                      </a:pPr>
                      <a:r>
                        <a:rPr lang="en-US" sz="1300" b="1" dirty="0">
                          <a:solidFill>
                            <a:srgbClr val="6B6B63"/>
                          </a:solidFill>
                          <a:latin typeface="Calibri" pitchFamily="34" charset="0"/>
                          <a:ea typeface="Calibri" pitchFamily="34" charset="-122"/>
                          <a:cs typeface="Calibri" pitchFamily="34" charset="-120"/>
                        </a:rPr>
                        <a:t>Mean sales per record</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300" dirty="0">
                          <a:solidFill>
                            <a:srgbClr val="2B2B2B"/>
                          </a:solidFill>
                          <a:latin typeface="Calibri" pitchFamily="34" charset="0"/>
                          <a:ea typeface="Calibri" pitchFamily="34" charset="-122"/>
                          <a:cs typeface="Calibri" pitchFamily="34" charset="-120"/>
                        </a:rPr>
                        <a:t>52.25</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300" dirty="0">
                          <a:solidFill>
                            <a:srgbClr val="2B2B2B"/>
                          </a:solidFill>
                          <a:latin typeface="Calibri" pitchFamily="34" charset="0"/>
                          <a:ea typeface="Calibri" pitchFamily="34" charset="-122"/>
                          <a:cs typeface="Calibri" pitchFamily="34" charset="-120"/>
                        </a:rPr>
                        <a:t>5,773.82</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extLst>
                  <a:ext uri="{0D108BD9-81ED-4DB2-BD59-A6C34878D82A}">
                    <a16:rowId xmlns:a16="http://schemas.microsoft.com/office/drawing/2014/main" val="1385497693"/>
                  </a:ext>
                </a:extLst>
              </a:tr>
              <a:tr h="457200">
                <a:tc>
                  <a:txBody>
                    <a:bodyPr/>
                    <a:lstStyle/>
                    <a:p>
                      <a:pPr marL="0" indent="0">
                        <a:buNone/>
                      </a:pPr>
                      <a:r>
                        <a:rPr lang="en-US" sz="1300" b="1" dirty="0">
                          <a:solidFill>
                            <a:srgbClr val="6B6B63"/>
                          </a:solidFill>
                          <a:latin typeface="Calibri" pitchFamily="34" charset="0"/>
                          <a:ea typeface="Calibri" pitchFamily="34" charset="-122"/>
                          <a:cs typeface="Calibri" pitchFamily="34" charset="-120"/>
                        </a:rPr>
                        <a:t>Maximum sales</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300" dirty="0">
                          <a:solidFill>
                            <a:srgbClr val="2B2B2B"/>
                          </a:solidFill>
                          <a:latin typeface="Calibri" pitchFamily="34" charset="0"/>
                          <a:ea typeface="Calibri" pitchFamily="34" charset="-122"/>
                          <a:cs typeface="Calibri" pitchFamily="34" charset="-120"/>
                        </a:rPr>
                        <a:t>231</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300" dirty="0">
                          <a:solidFill>
                            <a:srgbClr val="2B2B2B"/>
                          </a:solidFill>
                          <a:latin typeface="Calibri" pitchFamily="34" charset="0"/>
                          <a:ea typeface="Calibri" pitchFamily="34" charset="-122"/>
                          <a:cs typeface="Calibri" pitchFamily="34" charset="-120"/>
                        </a:rPr>
                        <a:t>41,551</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extLst>
                  <a:ext uri="{0D108BD9-81ED-4DB2-BD59-A6C34878D82A}">
                    <a16:rowId xmlns:a16="http://schemas.microsoft.com/office/drawing/2014/main" val="2839290186"/>
                  </a:ext>
                </a:extLst>
              </a:tr>
            </a:tbl>
          </a:graphicData>
        </a:graphic>
      </p:graphicFrame>
      <p:sp>
        <p:nvSpPr>
          <p:cNvPr id="7" name="Shape 4"/>
          <p:cNvSpPr/>
          <p:nvPr/>
        </p:nvSpPr>
        <p:spPr>
          <a:xfrm>
            <a:off x="8412480" y="1920240"/>
            <a:ext cx="0" cy="4023360"/>
          </a:xfrm>
          <a:prstGeom prst="line">
            <a:avLst/>
          </a:prstGeom>
          <a:noFill/>
          <a:ln w="9525">
            <a:solidFill>
              <a:schemeClr val="accent3"/>
            </a:solidFill>
            <a:prstDash val="solid"/>
          </a:ln>
        </p:spPr>
        <p:txBody>
          <a:bodyPr/>
          <a:lstStyle/>
          <a:p>
            <a:endParaRPr/>
          </a:p>
        </p:txBody>
      </p:sp>
      <p:sp>
        <p:nvSpPr>
          <p:cNvPr id="8" name="Scale callout"/>
          <p:cNvSpPr txBox="1"/>
          <p:nvPr/>
        </p:nvSpPr>
        <p:spPr>
          <a:xfrm>
            <a:off x="8686800" y="1828800"/>
            <a:ext cx="3017520" cy="1280160"/>
          </a:xfrm>
          <a:prstGeom prst="rect">
            <a:avLst/>
          </a:prstGeom>
          <a:noFill/>
          <a:ln/>
        </p:spPr>
        <p:txBody>
          <a:bodyPr wrap="square" lIns="0" tIns="0" rIns="0" bIns="0" rtlCol="0" anchor="ctr"/>
          <a:lstStyle/>
          <a:p>
            <a:pPr marL="0" indent="0">
              <a:buNone/>
            </a:pPr>
            <a:endParaRPr lang="en-US" sz="7200" dirty="0"/>
          </a:p>
        </p:txBody>
      </p:sp>
      <p:sp>
        <p:nvSpPr>
          <p:cNvPr id="9" name="Text 6"/>
          <p:cNvSpPr txBox="1"/>
          <p:nvPr/>
        </p:nvSpPr>
        <p:spPr>
          <a:xfrm>
            <a:off x="8686800" y="3200400"/>
            <a:ext cx="2971800" cy="2560320"/>
          </a:xfrm>
          <a:prstGeom prst="rect">
            <a:avLst/>
          </a:prstGeom>
          <a:noFill/>
          <a:ln/>
        </p:spPr>
        <p:txBody>
          <a:bodyPr wrap="square" lIns="0" tIns="0" rIns="0" bIns="0" rtlCol="0" anchor="t"/>
          <a:lstStyle/>
          <a:p>
            <a:pPr marL="0" indent="0">
              <a:buNone/>
            </a:pPr>
            <a:endParaRPr lang="en-US" sz="1600" dirty="0"/>
          </a:p>
        </p:txBody>
      </p:sp>
      <p:sp>
        <p:nvSpPr>
          <p:cNvPr id="10" name="Text 7"/>
          <p:cNvSpPr txBox="1"/>
          <p:nvPr/>
        </p:nvSpPr>
        <p:spPr>
          <a:xfrm>
            <a:off x="8686800" y="4663440"/>
            <a:ext cx="2971800" cy="1280160"/>
          </a:xfrm>
          <a:prstGeom prst="rect">
            <a:avLst/>
          </a:prstGeom>
          <a:noFill/>
          <a:ln/>
        </p:spPr>
        <p:txBody>
          <a:bodyPr wrap="square" lIns="0" tIns="0" rIns="0" bIns="0" rtlCol="0" anchor="t"/>
          <a:lstStyle/>
          <a:p>
            <a:pPr marL="0" indent="0">
              <a:buNone/>
            </a:pPr>
            <a:endParaRPr lang="en-US" sz="1400" dirty="0"/>
          </a:p>
        </p:txBody>
      </p:sp>
      <p:sp>
        <p:nvSpPr>
          <p:cNvPr id="25" name="Slide Number Placeholder 0"/>
          <p:cNvSpPr>
            <a:spLocks noGrp="1"/>
          </p:cNvSpPr>
          <p:nvPr>
            <p:ph type="sldNum" sz="quarter" idx="4294967295"/>
          </p:nvPr>
        </p:nvSpPr>
        <p:spPr>
          <a:xfrm>
            <a:off x="10698480" y="6473952"/>
            <a:ext cx="41148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tion marker"/>
          <p:cNvSpPr/>
          <p:nvPr/>
        </p:nvSpPr>
        <p:spPr>
          <a:xfrm>
            <a:off x="548640" y="420624"/>
            <a:ext cx="118872" cy="118872"/>
          </a:xfrm>
          <a:prstGeom prst="rect">
            <a:avLst/>
          </a:prstGeom>
          <a:solidFill>
            <a:schemeClr val="accent2"/>
          </a:solidFill>
          <a:ln w="12700">
            <a:solidFill>
              <a:schemeClr val="accent2"/>
            </a:solidFill>
            <a:prstDash val="solid"/>
          </a:ln>
        </p:spPr>
        <p:txBody>
          <a:bodyPr/>
          <a:lstStyle/>
          <a:p>
            <a:endParaRPr/>
          </a:p>
        </p:txBody>
      </p:sp>
      <p:sp>
        <p:nvSpPr>
          <p:cNvPr id="3" name="Section label"/>
          <p:cNvSpPr txBox="1"/>
          <p:nvPr/>
        </p:nvSpPr>
        <p:spPr>
          <a:xfrm>
            <a:off x="777240" y="347472"/>
            <a:ext cx="5486400" cy="274320"/>
          </a:xfrm>
          <a:prstGeom prst="rect">
            <a:avLst/>
          </a:prstGeom>
          <a:noFill/>
          <a:ln/>
        </p:spPr>
        <p:txBody>
          <a:bodyPr wrap="square" lIns="0" tIns="0" rIns="0" bIns="0" rtlCol="0" anchor="ctr"/>
          <a:lstStyle/>
          <a:p>
            <a:pPr marL="0" indent="0">
              <a:buNone/>
            </a:pPr>
            <a:r>
              <a:rPr lang="en-US" sz="1200" b="1" kern="0" spc="300" dirty="0">
                <a:solidFill>
                  <a:schemeClr val="accent5"/>
                </a:solidFill>
              </a:rPr>
              <a:t>04  METHODOLOGY: KDD</a:t>
            </a:r>
            <a:endParaRPr lang="en-US" sz="1200" dirty="0"/>
          </a:p>
        </p:txBody>
      </p:sp>
      <p:sp>
        <p:nvSpPr>
          <p:cNvPr id="4" name="Text 3"/>
          <p:cNvSpPr>
            <a:spLocks noGrp="1"/>
          </p:cNvSpPr>
          <p:nvPr>
            <p:ph idx="103" hasCustomPrompt="1"/>
          </p:nvPr>
        </p:nvSpPr>
        <p:spPr>
          <a:xfrm>
            <a:off x="548640" y="777240"/>
            <a:ext cx="11091672" cy="1005840"/>
          </a:xfrm>
          <a:prstGeom prst="rect">
            <a:avLst/>
          </a:prstGeom>
          <a:noFill/>
          <a:ln/>
        </p:spPr>
        <p:txBody>
          <a:bodyPr wrap="square" lIns="0" tIns="0" rIns="0" bIns="0" rtlCol="0" anchor="t"/>
          <a:lstStyle/>
          <a:p>
            <a:pPr marL="0" indent="0">
              <a:buNone/>
            </a:pPr>
            <a:r>
              <a:rPr lang="en-US" sz="3200" b="1" dirty="0">
                <a:solidFill>
                  <a:schemeClr val="tx1"/>
                </a:solidFill>
                <a:latin typeface="Cambria" pitchFamily="34" charset="0"/>
                <a:ea typeface="Cambria" pitchFamily="34" charset="-122"/>
                <a:cs typeface="Cambria" pitchFamily="34" charset="-120"/>
              </a:rPr>
              <a:t>The project follows the six stages of KDD</a:t>
            </a:r>
            <a:endParaRPr lang="en-US" sz="3200" dirty="0"/>
          </a:p>
        </p:txBody>
      </p:sp>
      <p:sp>
        <p:nvSpPr>
          <p:cNvPr id="5" name="Stage 1 block"/>
          <p:cNvSpPr/>
          <p:nvPr/>
        </p:nvSpPr>
        <p:spPr>
          <a:xfrm>
            <a:off x="548640" y="3520440"/>
            <a:ext cx="1764792" cy="2651760"/>
          </a:xfrm>
          <a:prstGeom prst="rect">
            <a:avLst/>
          </a:prstGeom>
          <a:solidFill>
            <a:schemeClr val="tx2"/>
          </a:solidFill>
          <a:ln w="12700">
            <a:solidFill>
              <a:schemeClr val="tx2"/>
            </a:solidFill>
            <a:prstDash val="solid"/>
          </a:ln>
        </p:spPr>
        <p:txBody>
          <a:bodyPr/>
          <a:lstStyle/>
          <a:p>
            <a:endParaRPr/>
          </a:p>
        </p:txBody>
      </p:sp>
      <p:sp>
        <p:nvSpPr>
          <p:cNvPr id="6" name="Text 4"/>
          <p:cNvSpPr txBox="1"/>
          <p:nvPr/>
        </p:nvSpPr>
        <p:spPr>
          <a:xfrm>
            <a:off x="685800" y="3611880"/>
            <a:ext cx="731520" cy="640080"/>
          </a:xfrm>
          <a:prstGeom prst="rect">
            <a:avLst/>
          </a:prstGeom>
          <a:noFill/>
          <a:ln/>
        </p:spPr>
        <p:txBody>
          <a:bodyPr wrap="square" lIns="0" tIns="0" rIns="0" bIns="0" rtlCol="0" anchor="t"/>
          <a:lstStyle/>
          <a:p>
            <a:pPr marL="0" indent="0">
              <a:buNone/>
            </a:pPr>
            <a:r>
              <a:rPr lang="en-US" sz="4000" b="1" dirty="0">
                <a:solidFill>
                  <a:schemeClr val="accent2"/>
                </a:solidFill>
                <a:latin typeface="Cambria" pitchFamily="34" charset="0"/>
                <a:ea typeface="Cambria" pitchFamily="34" charset="-122"/>
                <a:cs typeface="Cambria" pitchFamily="34" charset="-120"/>
              </a:rPr>
              <a:t>1</a:t>
            </a:r>
            <a:endParaRPr lang="en-US" sz="4000" dirty="0"/>
          </a:p>
        </p:txBody>
      </p:sp>
      <p:sp>
        <p:nvSpPr>
          <p:cNvPr id="7" name="Text 5"/>
          <p:cNvSpPr txBox="1"/>
          <p:nvPr/>
        </p:nvSpPr>
        <p:spPr>
          <a:xfrm>
            <a:off x="685800" y="4297680"/>
            <a:ext cx="1490472" cy="411480"/>
          </a:xfrm>
          <a:prstGeom prst="rect">
            <a:avLst/>
          </a:prstGeom>
          <a:noFill/>
          <a:ln/>
        </p:spPr>
        <p:txBody>
          <a:bodyPr wrap="square" lIns="0" tIns="0" rIns="0" bIns="0" rtlCol="0" anchor="t"/>
          <a:lstStyle/>
          <a:p>
            <a:pPr marL="0" indent="0">
              <a:buNone/>
            </a:pPr>
            <a:r>
              <a:rPr lang="en-US" sz="1400" b="1" dirty="0">
                <a:solidFill>
                  <a:schemeClr val="bg1"/>
                </a:solidFill>
                <a:latin typeface="Cambria" pitchFamily="34" charset="0"/>
                <a:ea typeface="Cambria" pitchFamily="34" charset="-122"/>
                <a:cs typeface="Cambria" pitchFamily="34" charset="-120"/>
              </a:rPr>
              <a:t>Data Selection</a:t>
            </a:r>
            <a:endParaRPr lang="en-US" sz="1600" dirty="0"/>
          </a:p>
        </p:txBody>
      </p:sp>
      <p:sp>
        <p:nvSpPr>
          <p:cNvPr id="8" name="Text 6"/>
          <p:cNvSpPr txBox="1"/>
          <p:nvPr/>
        </p:nvSpPr>
        <p:spPr>
          <a:xfrm>
            <a:off x="685800" y="4754880"/>
            <a:ext cx="1490472" cy="1325880"/>
          </a:xfrm>
          <a:prstGeom prst="rect">
            <a:avLst/>
          </a:prstGeom>
          <a:noFill/>
          <a:ln/>
        </p:spPr>
        <p:txBody>
          <a:bodyPr wrap="square" lIns="0" tIns="0" rIns="0" bIns="0" rtlCol="0" anchor="t"/>
          <a:lstStyle/>
          <a:p>
            <a:pPr marL="0" indent="0">
              <a:buNone/>
            </a:pPr>
            <a:r>
              <a:rPr lang="en-US" sz="1400" dirty="0">
                <a:solidFill>
                  <a:schemeClr val="bg1"/>
                </a:solidFill>
                <a:latin typeface="Calibri" pitchFamily="34" charset="0"/>
                <a:ea typeface="Calibri" pitchFamily="34" charset="-122"/>
                <a:cs typeface="Calibri" pitchFamily="34" charset="-120"/>
              </a:rPr>
              <a:t>Choose the two datasets and load each train file.</a:t>
            </a:r>
            <a:endParaRPr lang="en-US" sz="1400" dirty="0"/>
          </a:p>
        </p:txBody>
      </p:sp>
      <p:sp>
        <p:nvSpPr>
          <p:cNvPr id="9" name="Stage 2 block"/>
          <p:cNvSpPr/>
          <p:nvPr/>
        </p:nvSpPr>
        <p:spPr>
          <a:xfrm>
            <a:off x="2414016" y="3227832"/>
            <a:ext cx="1764792" cy="2944368"/>
          </a:xfrm>
          <a:prstGeom prst="rect">
            <a:avLst/>
          </a:prstGeom>
          <a:solidFill>
            <a:schemeClr val="tx2"/>
          </a:solidFill>
          <a:ln w="12700">
            <a:solidFill>
              <a:schemeClr val="tx2"/>
            </a:solidFill>
            <a:prstDash val="solid"/>
          </a:ln>
        </p:spPr>
        <p:txBody>
          <a:bodyPr/>
          <a:lstStyle/>
          <a:p>
            <a:endParaRPr/>
          </a:p>
        </p:txBody>
      </p:sp>
      <p:sp>
        <p:nvSpPr>
          <p:cNvPr id="10" name="Text 8"/>
          <p:cNvSpPr txBox="1"/>
          <p:nvPr/>
        </p:nvSpPr>
        <p:spPr>
          <a:xfrm>
            <a:off x="2551176" y="3319272"/>
            <a:ext cx="731520" cy="640080"/>
          </a:xfrm>
          <a:prstGeom prst="rect">
            <a:avLst/>
          </a:prstGeom>
          <a:noFill/>
          <a:ln/>
        </p:spPr>
        <p:txBody>
          <a:bodyPr wrap="square" lIns="0" tIns="0" rIns="0" bIns="0" rtlCol="0" anchor="t"/>
          <a:lstStyle/>
          <a:p>
            <a:pPr marL="0" indent="0">
              <a:buNone/>
            </a:pPr>
            <a:r>
              <a:rPr lang="en-US" sz="4000" b="1" dirty="0">
                <a:solidFill>
                  <a:schemeClr val="accent2"/>
                </a:solidFill>
                <a:latin typeface="Cambria" pitchFamily="34" charset="0"/>
                <a:ea typeface="Cambria" pitchFamily="34" charset="-122"/>
                <a:cs typeface="Cambria" pitchFamily="34" charset="-120"/>
              </a:rPr>
              <a:t>2</a:t>
            </a:r>
            <a:endParaRPr lang="en-US" sz="4000" dirty="0"/>
          </a:p>
        </p:txBody>
      </p:sp>
      <p:sp>
        <p:nvSpPr>
          <p:cNvPr id="11" name="Text 9"/>
          <p:cNvSpPr txBox="1"/>
          <p:nvPr/>
        </p:nvSpPr>
        <p:spPr>
          <a:xfrm>
            <a:off x="2551176" y="4005072"/>
            <a:ext cx="1490472" cy="411480"/>
          </a:xfrm>
          <a:prstGeom prst="rect">
            <a:avLst/>
          </a:prstGeom>
          <a:noFill/>
          <a:ln/>
        </p:spPr>
        <p:txBody>
          <a:bodyPr wrap="square" lIns="0" tIns="0" rIns="0" bIns="0" rtlCol="0" anchor="t"/>
          <a:lstStyle/>
          <a:p>
            <a:pPr marL="0" indent="0">
              <a:buNone/>
            </a:pPr>
            <a:r>
              <a:rPr lang="en-US" sz="1400" b="1" dirty="0">
                <a:solidFill>
                  <a:schemeClr val="bg1"/>
                </a:solidFill>
                <a:latin typeface="Cambria" pitchFamily="34" charset="0"/>
                <a:ea typeface="Cambria" pitchFamily="34" charset="-122"/>
                <a:cs typeface="Cambria" pitchFamily="34" charset="-120"/>
              </a:rPr>
              <a:t>Data Cleaning</a:t>
            </a:r>
            <a:endParaRPr lang="en-US" sz="1600" dirty="0"/>
          </a:p>
        </p:txBody>
      </p:sp>
      <p:sp>
        <p:nvSpPr>
          <p:cNvPr id="12" name="Text 10"/>
          <p:cNvSpPr txBox="1"/>
          <p:nvPr/>
        </p:nvSpPr>
        <p:spPr>
          <a:xfrm>
            <a:off x="2551176" y="4462272"/>
            <a:ext cx="1490472" cy="1618488"/>
          </a:xfrm>
          <a:prstGeom prst="rect">
            <a:avLst/>
          </a:prstGeom>
          <a:noFill/>
          <a:ln/>
        </p:spPr>
        <p:txBody>
          <a:bodyPr wrap="square" lIns="0" tIns="0" rIns="0" bIns="0" rtlCol="0" anchor="t"/>
          <a:lstStyle/>
          <a:p>
            <a:pPr marL="0" indent="0">
              <a:buNone/>
            </a:pPr>
            <a:r>
              <a:rPr lang="en-US" sz="1400" dirty="0">
                <a:solidFill>
                  <a:schemeClr val="bg1"/>
                </a:solidFill>
                <a:latin typeface="Calibri" pitchFamily="34" charset="0"/>
                <a:ea typeface="Calibri" pitchFamily="34" charset="-122"/>
                <a:cs typeface="Calibri" pitchFamily="34" charset="-120"/>
              </a:rPr>
              <a:t>Check missing values, duplicates and types; fix dates.</a:t>
            </a:r>
            <a:endParaRPr lang="en-US" sz="1400" dirty="0"/>
          </a:p>
        </p:txBody>
      </p:sp>
      <p:sp>
        <p:nvSpPr>
          <p:cNvPr id="13" name="Stage 3 block"/>
          <p:cNvSpPr/>
          <p:nvPr/>
        </p:nvSpPr>
        <p:spPr>
          <a:xfrm>
            <a:off x="4279392" y="2935224"/>
            <a:ext cx="1764792" cy="3236976"/>
          </a:xfrm>
          <a:prstGeom prst="rect">
            <a:avLst/>
          </a:prstGeom>
          <a:solidFill>
            <a:schemeClr val="tx2"/>
          </a:solidFill>
          <a:ln w="12700">
            <a:solidFill>
              <a:schemeClr val="tx2"/>
            </a:solidFill>
            <a:prstDash val="solid"/>
          </a:ln>
        </p:spPr>
        <p:txBody>
          <a:bodyPr/>
          <a:lstStyle/>
          <a:p>
            <a:endParaRPr/>
          </a:p>
        </p:txBody>
      </p:sp>
      <p:sp>
        <p:nvSpPr>
          <p:cNvPr id="14" name="Text 12"/>
          <p:cNvSpPr txBox="1"/>
          <p:nvPr/>
        </p:nvSpPr>
        <p:spPr>
          <a:xfrm>
            <a:off x="4416552" y="3026664"/>
            <a:ext cx="731520" cy="640080"/>
          </a:xfrm>
          <a:prstGeom prst="rect">
            <a:avLst/>
          </a:prstGeom>
          <a:noFill/>
          <a:ln/>
        </p:spPr>
        <p:txBody>
          <a:bodyPr wrap="square" lIns="0" tIns="0" rIns="0" bIns="0" rtlCol="0" anchor="t"/>
          <a:lstStyle/>
          <a:p>
            <a:pPr marL="0" indent="0">
              <a:buNone/>
            </a:pPr>
            <a:r>
              <a:rPr lang="en-US" sz="4000" b="1" dirty="0">
                <a:solidFill>
                  <a:schemeClr val="accent2"/>
                </a:solidFill>
                <a:latin typeface="Cambria" pitchFamily="34" charset="0"/>
                <a:ea typeface="Cambria" pitchFamily="34" charset="-122"/>
                <a:cs typeface="Cambria" pitchFamily="34" charset="-120"/>
              </a:rPr>
              <a:t>3</a:t>
            </a:r>
            <a:endParaRPr lang="en-US" sz="4000" dirty="0"/>
          </a:p>
        </p:txBody>
      </p:sp>
      <p:sp>
        <p:nvSpPr>
          <p:cNvPr id="15" name="Text 13"/>
          <p:cNvSpPr txBox="1"/>
          <p:nvPr/>
        </p:nvSpPr>
        <p:spPr>
          <a:xfrm>
            <a:off x="4416552" y="3712464"/>
            <a:ext cx="1490472" cy="411480"/>
          </a:xfrm>
          <a:prstGeom prst="rect">
            <a:avLst/>
          </a:prstGeom>
          <a:noFill/>
          <a:ln/>
        </p:spPr>
        <p:txBody>
          <a:bodyPr wrap="square" lIns="0" tIns="0" rIns="0" bIns="0" rtlCol="0" anchor="t"/>
          <a:lstStyle/>
          <a:p>
            <a:pPr marL="0" indent="0">
              <a:buNone/>
            </a:pPr>
            <a:r>
              <a:rPr lang="en-US" sz="1400" b="1" dirty="0">
                <a:solidFill>
                  <a:schemeClr val="bg1"/>
                </a:solidFill>
                <a:latin typeface="Cambria" pitchFamily="34" charset="0"/>
                <a:ea typeface="Cambria" pitchFamily="34" charset="-122"/>
                <a:cs typeface="Cambria" pitchFamily="34" charset="-120"/>
              </a:rPr>
              <a:t>Transformation</a:t>
            </a:r>
            <a:endParaRPr lang="en-US" sz="1600" dirty="0"/>
          </a:p>
        </p:txBody>
      </p:sp>
      <p:sp>
        <p:nvSpPr>
          <p:cNvPr id="16" name="Text 14"/>
          <p:cNvSpPr txBox="1"/>
          <p:nvPr/>
        </p:nvSpPr>
        <p:spPr>
          <a:xfrm>
            <a:off x="4416552" y="4169664"/>
            <a:ext cx="1490472" cy="1911096"/>
          </a:xfrm>
          <a:prstGeom prst="rect">
            <a:avLst/>
          </a:prstGeom>
          <a:noFill/>
          <a:ln/>
        </p:spPr>
        <p:txBody>
          <a:bodyPr wrap="square" lIns="0" tIns="0" rIns="0" bIns="0" rtlCol="0" anchor="t"/>
          <a:lstStyle/>
          <a:p>
            <a:pPr marL="0" indent="0">
              <a:buNone/>
            </a:pPr>
            <a:r>
              <a:rPr lang="en-US" sz="1400" dirty="0">
                <a:solidFill>
                  <a:schemeClr val="bg1"/>
                </a:solidFill>
                <a:latin typeface="Calibri" pitchFamily="34" charset="0"/>
                <a:ea typeface="Calibri" pitchFamily="34" charset="-122"/>
                <a:cs typeface="Calibri" pitchFamily="34" charset="-120"/>
              </a:rPr>
              <a:t>One row per series; calendar, lag and promo features; date split.</a:t>
            </a:r>
            <a:endParaRPr lang="en-US" sz="1400" dirty="0"/>
          </a:p>
        </p:txBody>
      </p:sp>
      <p:sp>
        <p:nvSpPr>
          <p:cNvPr id="17" name="Stage 4 block"/>
          <p:cNvSpPr/>
          <p:nvPr/>
        </p:nvSpPr>
        <p:spPr>
          <a:xfrm>
            <a:off x="6144768" y="2642616"/>
            <a:ext cx="1764792" cy="3529584"/>
          </a:xfrm>
          <a:prstGeom prst="rect">
            <a:avLst/>
          </a:prstGeom>
          <a:solidFill>
            <a:schemeClr val="tx2"/>
          </a:solidFill>
          <a:ln w="12700">
            <a:solidFill>
              <a:schemeClr val="tx2"/>
            </a:solidFill>
            <a:prstDash val="solid"/>
          </a:ln>
        </p:spPr>
        <p:txBody>
          <a:bodyPr/>
          <a:lstStyle/>
          <a:p>
            <a:endParaRPr/>
          </a:p>
        </p:txBody>
      </p:sp>
      <p:sp>
        <p:nvSpPr>
          <p:cNvPr id="18" name="Text 16"/>
          <p:cNvSpPr txBox="1"/>
          <p:nvPr/>
        </p:nvSpPr>
        <p:spPr>
          <a:xfrm>
            <a:off x="6281928" y="2734056"/>
            <a:ext cx="731520" cy="640080"/>
          </a:xfrm>
          <a:prstGeom prst="rect">
            <a:avLst/>
          </a:prstGeom>
          <a:noFill/>
          <a:ln/>
        </p:spPr>
        <p:txBody>
          <a:bodyPr wrap="square" lIns="0" tIns="0" rIns="0" bIns="0" rtlCol="0" anchor="t"/>
          <a:lstStyle/>
          <a:p>
            <a:pPr marL="0" indent="0">
              <a:buNone/>
            </a:pPr>
            <a:r>
              <a:rPr lang="en-US" sz="4000" b="1" dirty="0">
                <a:solidFill>
                  <a:schemeClr val="accent2"/>
                </a:solidFill>
                <a:latin typeface="Cambria" pitchFamily="34" charset="0"/>
                <a:ea typeface="Cambria" pitchFamily="34" charset="-122"/>
                <a:cs typeface="Cambria" pitchFamily="34" charset="-120"/>
              </a:rPr>
              <a:t>4</a:t>
            </a:r>
            <a:endParaRPr lang="en-US" sz="4000" dirty="0"/>
          </a:p>
        </p:txBody>
      </p:sp>
      <p:sp>
        <p:nvSpPr>
          <p:cNvPr id="19" name="Text 17"/>
          <p:cNvSpPr txBox="1"/>
          <p:nvPr/>
        </p:nvSpPr>
        <p:spPr>
          <a:xfrm>
            <a:off x="6281928" y="3419856"/>
            <a:ext cx="1490472" cy="411480"/>
          </a:xfrm>
          <a:prstGeom prst="rect">
            <a:avLst/>
          </a:prstGeom>
          <a:noFill/>
          <a:ln/>
        </p:spPr>
        <p:txBody>
          <a:bodyPr wrap="square" lIns="0" tIns="0" rIns="0" bIns="0" rtlCol="0" anchor="t"/>
          <a:lstStyle/>
          <a:p>
            <a:pPr marL="0" indent="0">
              <a:buNone/>
            </a:pPr>
            <a:r>
              <a:rPr lang="en-US" sz="1400" b="1" dirty="0">
                <a:solidFill>
                  <a:schemeClr val="bg1"/>
                </a:solidFill>
                <a:latin typeface="Cambria" pitchFamily="34" charset="0"/>
                <a:ea typeface="Cambria" pitchFamily="34" charset="-122"/>
                <a:cs typeface="Cambria" pitchFamily="34" charset="-120"/>
              </a:rPr>
              <a:t>Data Mining</a:t>
            </a:r>
            <a:endParaRPr lang="en-US" sz="1600" dirty="0"/>
          </a:p>
        </p:txBody>
      </p:sp>
      <p:sp>
        <p:nvSpPr>
          <p:cNvPr id="20" name="Text 18"/>
          <p:cNvSpPr txBox="1"/>
          <p:nvPr/>
        </p:nvSpPr>
        <p:spPr>
          <a:xfrm>
            <a:off x="6281928" y="3877056"/>
            <a:ext cx="1490472" cy="2203704"/>
          </a:xfrm>
          <a:prstGeom prst="rect">
            <a:avLst/>
          </a:prstGeom>
          <a:noFill/>
          <a:ln/>
        </p:spPr>
        <p:txBody>
          <a:bodyPr wrap="square" lIns="0" tIns="0" rIns="0" bIns="0" rtlCol="0" anchor="t"/>
          <a:lstStyle/>
          <a:p>
            <a:pPr marL="0" indent="0">
              <a:buNone/>
            </a:pPr>
            <a:r>
              <a:rPr lang="en-US" sz="1400" dirty="0">
                <a:solidFill>
                  <a:schemeClr val="bg1"/>
                </a:solidFill>
                <a:latin typeface="Calibri" pitchFamily="34" charset="0"/>
                <a:ea typeface="Calibri" pitchFamily="34" charset="-122"/>
                <a:cs typeface="Calibri" pitchFamily="34" charset="-120"/>
              </a:rPr>
              <a:t>Train five regression models on each dataset.</a:t>
            </a:r>
            <a:endParaRPr lang="en-US" sz="1400" dirty="0"/>
          </a:p>
        </p:txBody>
      </p:sp>
      <p:sp>
        <p:nvSpPr>
          <p:cNvPr id="21" name="Stage 5 block"/>
          <p:cNvSpPr/>
          <p:nvPr/>
        </p:nvSpPr>
        <p:spPr>
          <a:xfrm>
            <a:off x="8010144" y="2350008"/>
            <a:ext cx="1764792" cy="3822192"/>
          </a:xfrm>
          <a:prstGeom prst="rect">
            <a:avLst/>
          </a:prstGeom>
          <a:solidFill>
            <a:schemeClr val="tx2"/>
          </a:solidFill>
          <a:ln w="12700">
            <a:solidFill>
              <a:schemeClr val="tx2"/>
            </a:solidFill>
            <a:prstDash val="solid"/>
          </a:ln>
        </p:spPr>
        <p:txBody>
          <a:bodyPr/>
          <a:lstStyle/>
          <a:p>
            <a:endParaRPr/>
          </a:p>
        </p:txBody>
      </p:sp>
      <p:sp>
        <p:nvSpPr>
          <p:cNvPr id="22" name="Text 20"/>
          <p:cNvSpPr txBox="1"/>
          <p:nvPr/>
        </p:nvSpPr>
        <p:spPr>
          <a:xfrm>
            <a:off x="8147304" y="2441448"/>
            <a:ext cx="731520" cy="640080"/>
          </a:xfrm>
          <a:prstGeom prst="rect">
            <a:avLst/>
          </a:prstGeom>
          <a:noFill/>
          <a:ln/>
        </p:spPr>
        <p:txBody>
          <a:bodyPr wrap="square" lIns="0" tIns="0" rIns="0" bIns="0" rtlCol="0" anchor="t"/>
          <a:lstStyle/>
          <a:p>
            <a:pPr marL="0" indent="0">
              <a:buNone/>
            </a:pPr>
            <a:r>
              <a:rPr lang="en-US" sz="4000" b="1" dirty="0">
                <a:solidFill>
                  <a:schemeClr val="accent2"/>
                </a:solidFill>
                <a:latin typeface="Cambria" pitchFamily="34" charset="0"/>
                <a:ea typeface="Cambria" pitchFamily="34" charset="-122"/>
                <a:cs typeface="Cambria" pitchFamily="34" charset="-120"/>
              </a:rPr>
              <a:t>5</a:t>
            </a:r>
            <a:endParaRPr lang="en-US" sz="4000" dirty="0"/>
          </a:p>
        </p:txBody>
      </p:sp>
      <p:sp>
        <p:nvSpPr>
          <p:cNvPr id="23" name="Text 21"/>
          <p:cNvSpPr txBox="1"/>
          <p:nvPr/>
        </p:nvSpPr>
        <p:spPr>
          <a:xfrm>
            <a:off x="8147304" y="3127248"/>
            <a:ext cx="1490472" cy="411480"/>
          </a:xfrm>
          <a:prstGeom prst="rect">
            <a:avLst/>
          </a:prstGeom>
          <a:noFill/>
          <a:ln/>
        </p:spPr>
        <p:txBody>
          <a:bodyPr wrap="square" lIns="0" tIns="0" rIns="0" bIns="0" rtlCol="0" anchor="t"/>
          <a:lstStyle/>
          <a:p>
            <a:pPr marL="0" indent="0">
              <a:buNone/>
            </a:pPr>
            <a:r>
              <a:rPr lang="en-US" sz="1400" b="1" dirty="0">
                <a:solidFill>
                  <a:schemeClr val="bg1"/>
                </a:solidFill>
                <a:latin typeface="Cambria" pitchFamily="34" charset="0"/>
                <a:ea typeface="Cambria" pitchFamily="34" charset="-122"/>
                <a:cs typeface="Cambria" pitchFamily="34" charset="-120"/>
              </a:rPr>
              <a:t>Evaluation</a:t>
            </a:r>
            <a:endParaRPr lang="en-US" sz="1600" dirty="0"/>
          </a:p>
        </p:txBody>
      </p:sp>
      <p:sp>
        <p:nvSpPr>
          <p:cNvPr id="24" name="Text 22"/>
          <p:cNvSpPr txBox="1"/>
          <p:nvPr/>
        </p:nvSpPr>
        <p:spPr>
          <a:xfrm>
            <a:off x="8147304" y="3584448"/>
            <a:ext cx="1490472" cy="2496312"/>
          </a:xfrm>
          <a:prstGeom prst="rect">
            <a:avLst/>
          </a:prstGeom>
          <a:noFill/>
          <a:ln/>
        </p:spPr>
        <p:txBody>
          <a:bodyPr wrap="square" lIns="0" tIns="0" rIns="0" bIns="0" rtlCol="0" anchor="t"/>
          <a:lstStyle/>
          <a:p>
            <a:pPr marL="0" indent="0">
              <a:buNone/>
            </a:pPr>
            <a:r>
              <a:rPr lang="en-US" sz="1400" dirty="0">
                <a:solidFill>
                  <a:schemeClr val="bg1"/>
                </a:solidFill>
                <a:latin typeface="Calibri" pitchFamily="34" charset="0"/>
                <a:ea typeface="Calibri" pitchFamily="34" charset="-122"/>
                <a:cs typeface="Calibri" pitchFamily="34" charset="-120"/>
              </a:rPr>
              <a:t>Score with MAE, MSE, RMSE, WAPE and R² on unseen days.</a:t>
            </a:r>
            <a:endParaRPr lang="en-US" sz="1400" dirty="0"/>
          </a:p>
        </p:txBody>
      </p:sp>
      <p:sp>
        <p:nvSpPr>
          <p:cNvPr id="25" name="Stage 6 block"/>
          <p:cNvSpPr/>
          <p:nvPr/>
        </p:nvSpPr>
        <p:spPr>
          <a:xfrm>
            <a:off x="9875520" y="2057400"/>
            <a:ext cx="1764792" cy="4114800"/>
          </a:xfrm>
          <a:prstGeom prst="rect">
            <a:avLst/>
          </a:prstGeom>
          <a:solidFill>
            <a:schemeClr val="accent2"/>
          </a:solidFill>
          <a:ln w="12700">
            <a:solidFill>
              <a:schemeClr val="accent2"/>
            </a:solidFill>
            <a:prstDash val="solid"/>
          </a:ln>
        </p:spPr>
        <p:txBody>
          <a:bodyPr/>
          <a:lstStyle/>
          <a:p>
            <a:endParaRPr/>
          </a:p>
        </p:txBody>
      </p:sp>
      <p:sp>
        <p:nvSpPr>
          <p:cNvPr id="26" name="Text 24"/>
          <p:cNvSpPr txBox="1"/>
          <p:nvPr/>
        </p:nvSpPr>
        <p:spPr>
          <a:xfrm>
            <a:off x="10012680" y="2148840"/>
            <a:ext cx="731520" cy="640080"/>
          </a:xfrm>
          <a:prstGeom prst="rect">
            <a:avLst/>
          </a:prstGeom>
          <a:noFill/>
          <a:ln/>
        </p:spPr>
        <p:txBody>
          <a:bodyPr wrap="square" lIns="0" tIns="0" rIns="0" bIns="0" rtlCol="0" anchor="t"/>
          <a:lstStyle/>
          <a:p>
            <a:pPr marL="0" indent="0">
              <a:buNone/>
            </a:pPr>
            <a:r>
              <a:rPr lang="en-US" sz="4000" b="1" dirty="0">
                <a:solidFill>
                  <a:schemeClr val="tx2"/>
                </a:solidFill>
                <a:latin typeface="Cambria" pitchFamily="34" charset="0"/>
                <a:ea typeface="Cambria" pitchFamily="34" charset="-122"/>
                <a:cs typeface="Cambria" pitchFamily="34" charset="-120"/>
              </a:rPr>
              <a:t>6</a:t>
            </a:r>
            <a:endParaRPr lang="en-US" sz="4000" dirty="0"/>
          </a:p>
        </p:txBody>
      </p:sp>
      <p:sp>
        <p:nvSpPr>
          <p:cNvPr id="27" name="Text 25"/>
          <p:cNvSpPr txBox="1"/>
          <p:nvPr/>
        </p:nvSpPr>
        <p:spPr>
          <a:xfrm>
            <a:off x="10012680" y="2834640"/>
            <a:ext cx="1490472" cy="411480"/>
          </a:xfrm>
          <a:prstGeom prst="rect">
            <a:avLst/>
          </a:prstGeom>
          <a:noFill/>
          <a:ln/>
        </p:spPr>
        <p:txBody>
          <a:bodyPr wrap="square" lIns="0" tIns="0" rIns="0" bIns="0" rtlCol="0" anchor="t"/>
          <a:lstStyle/>
          <a:p>
            <a:pPr marL="0" indent="0">
              <a:buNone/>
            </a:pPr>
            <a:r>
              <a:rPr lang="en-US" sz="1400" b="1" dirty="0">
                <a:solidFill>
                  <a:schemeClr val="bg1"/>
                </a:solidFill>
                <a:latin typeface="Cambria" pitchFamily="34" charset="0"/>
                <a:ea typeface="Cambria" pitchFamily="34" charset="-122"/>
                <a:cs typeface="Cambria" pitchFamily="34" charset="-120"/>
              </a:rPr>
              <a:t>Knowledge Presentation</a:t>
            </a:r>
            <a:endParaRPr lang="en-US" sz="1600" dirty="0"/>
          </a:p>
        </p:txBody>
      </p:sp>
      <p:sp>
        <p:nvSpPr>
          <p:cNvPr id="28" name="Text 26"/>
          <p:cNvSpPr txBox="1"/>
          <p:nvPr/>
        </p:nvSpPr>
        <p:spPr>
          <a:xfrm>
            <a:off x="10012680" y="3291840"/>
            <a:ext cx="1490472" cy="2788920"/>
          </a:xfrm>
          <a:prstGeom prst="rect">
            <a:avLst/>
          </a:prstGeom>
          <a:noFill/>
          <a:ln/>
        </p:spPr>
        <p:txBody>
          <a:bodyPr wrap="square" lIns="0" tIns="0" rIns="0" bIns="0" rtlCol="0" anchor="t"/>
          <a:lstStyle/>
          <a:p>
            <a:pPr marL="0" indent="0">
              <a:buNone/>
            </a:pPr>
            <a:r>
              <a:rPr lang="en-US" sz="1400" dirty="0">
                <a:solidFill>
                  <a:schemeClr val="tx2"/>
                </a:solidFill>
                <a:latin typeface="Calibri" pitchFamily="34" charset="0"/>
                <a:ea typeface="Calibri" pitchFamily="34" charset="-122"/>
                <a:cs typeface="Calibri" pitchFamily="34" charset="-120"/>
              </a:rPr>
              <a:t>Present results, interpretation and conclusions.</a:t>
            </a:r>
            <a:endParaRPr lang="en-US" sz="1400" dirty="0"/>
          </a:p>
        </p:txBody>
      </p:sp>
      <p:sp>
        <p:nvSpPr>
          <p:cNvPr id="29" name="Slide Number Placeholder 0"/>
          <p:cNvSpPr>
            <a:spLocks noGrp="1"/>
          </p:cNvSpPr>
          <p:nvPr>
            <p:ph type="sldNum" sz="quarter" idx="4294967295"/>
          </p:nvPr>
        </p:nvSpPr>
        <p:spPr>
          <a:xfrm>
            <a:off x="10698480" y="6473952"/>
            <a:ext cx="41148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Forest panel"/>
          <p:cNvSpPr/>
          <p:nvPr/>
        </p:nvSpPr>
        <p:spPr>
          <a:xfrm>
            <a:off x="0" y="0"/>
            <a:ext cx="4297680" cy="6419088"/>
          </a:xfrm>
          <a:prstGeom prst="rect">
            <a:avLst/>
          </a:prstGeom>
          <a:solidFill>
            <a:schemeClr val="tx2"/>
          </a:solidFill>
          <a:ln w="12700">
            <a:solidFill>
              <a:schemeClr val="tx2"/>
            </a:solidFill>
            <a:prstDash val="solid"/>
          </a:ln>
        </p:spPr>
        <p:txBody>
          <a:bodyPr/>
          <a:lstStyle/>
          <a:p>
            <a:endParaRPr/>
          </a:p>
        </p:txBody>
      </p:sp>
      <p:sp>
        <p:nvSpPr>
          <p:cNvPr id="3" name="Section marker"/>
          <p:cNvSpPr/>
          <p:nvPr/>
        </p:nvSpPr>
        <p:spPr>
          <a:xfrm>
            <a:off x="548640" y="420624"/>
            <a:ext cx="118872" cy="118872"/>
          </a:xfrm>
          <a:prstGeom prst="rect">
            <a:avLst/>
          </a:prstGeom>
          <a:solidFill>
            <a:schemeClr val="accent2"/>
          </a:solidFill>
          <a:ln w="12700">
            <a:solidFill>
              <a:schemeClr val="accent2"/>
            </a:solidFill>
            <a:prstDash val="solid"/>
          </a:ln>
        </p:spPr>
        <p:txBody>
          <a:bodyPr/>
          <a:lstStyle/>
          <a:p>
            <a:endParaRPr/>
          </a:p>
        </p:txBody>
      </p:sp>
      <p:sp>
        <p:nvSpPr>
          <p:cNvPr id="4" name="Section label"/>
          <p:cNvSpPr txBox="1"/>
          <p:nvPr/>
        </p:nvSpPr>
        <p:spPr>
          <a:xfrm>
            <a:off x="777240" y="347472"/>
            <a:ext cx="5486400" cy="274320"/>
          </a:xfrm>
          <a:prstGeom prst="rect">
            <a:avLst/>
          </a:prstGeom>
          <a:noFill/>
          <a:ln/>
        </p:spPr>
        <p:txBody>
          <a:bodyPr wrap="square" lIns="0" tIns="0" rIns="0" bIns="0" rtlCol="0" anchor="ctr"/>
          <a:lstStyle/>
          <a:p>
            <a:pPr marL="0" indent="0">
              <a:buNone/>
            </a:pPr>
            <a:r>
              <a:rPr lang="en-US" sz="1200" b="1" kern="0" spc="300" dirty="0">
                <a:solidFill>
                  <a:schemeClr val="bg2"/>
                </a:solidFill>
              </a:rPr>
              <a:t>05  KDD STAGES 1 AND 2</a:t>
            </a:r>
            <a:endParaRPr lang="en-US" sz="1200" dirty="0"/>
          </a:p>
        </p:txBody>
      </p:sp>
      <p:sp>
        <p:nvSpPr>
          <p:cNvPr id="5" name="Text 3"/>
          <p:cNvSpPr>
            <a:spLocks noGrp="1"/>
          </p:cNvSpPr>
          <p:nvPr>
            <p:ph idx="103" hasCustomPrompt="1"/>
          </p:nvPr>
        </p:nvSpPr>
        <p:spPr>
          <a:xfrm>
            <a:off x="4846320" y="777240"/>
            <a:ext cx="6793992" cy="1005840"/>
          </a:xfrm>
          <a:prstGeom prst="rect">
            <a:avLst/>
          </a:prstGeom>
          <a:noFill/>
          <a:ln/>
        </p:spPr>
        <p:txBody>
          <a:bodyPr wrap="square" lIns="0" tIns="0" rIns="0" bIns="0" rtlCol="0" anchor="t"/>
          <a:lstStyle/>
          <a:p>
            <a:pPr marL="0" indent="0">
              <a:buNone/>
            </a:pPr>
            <a:r>
              <a:rPr lang="en-US" sz="3200" b="1" dirty="0">
                <a:solidFill>
                  <a:schemeClr val="tx1"/>
                </a:solidFill>
                <a:latin typeface="Cambria" pitchFamily="34" charset="0"/>
                <a:ea typeface="Cambria" pitchFamily="34" charset="-122"/>
                <a:cs typeface="Cambria" pitchFamily="34" charset="-120"/>
              </a:rPr>
              <a:t>Stages 1 and 2: selection and cleaning</a:t>
            </a:r>
            <a:endParaRPr lang="en-US" sz="3200" dirty="0"/>
          </a:p>
        </p:txBody>
      </p:sp>
      <p:sp>
        <p:nvSpPr>
          <p:cNvPr id="6" name="Text 4"/>
          <p:cNvSpPr txBox="1"/>
          <p:nvPr/>
        </p:nvSpPr>
        <p:spPr>
          <a:xfrm>
            <a:off x="548640" y="1097280"/>
            <a:ext cx="1463040" cy="1280160"/>
          </a:xfrm>
          <a:prstGeom prst="rect">
            <a:avLst/>
          </a:prstGeom>
          <a:noFill/>
          <a:ln/>
        </p:spPr>
        <p:txBody>
          <a:bodyPr wrap="square" lIns="0" tIns="0" rIns="0" bIns="0" rtlCol="0" anchor="ctr"/>
          <a:lstStyle/>
          <a:p>
            <a:pPr marL="0" indent="0">
              <a:buNone/>
            </a:pPr>
            <a:r>
              <a:rPr lang="en-US" sz="8800" b="1" dirty="0">
                <a:solidFill>
                  <a:schemeClr val="accent2"/>
                </a:solidFill>
                <a:latin typeface="Cambria" pitchFamily="34" charset="0"/>
                <a:ea typeface="Cambria" pitchFamily="34" charset="-122"/>
                <a:cs typeface="Cambria" pitchFamily="34" charset="-120"/>
              </a:rPr>
              <a:t>0</a:t>
            </a:r>
            <a:endParaRPr lang="en-US" sz="8800" dirty="0"/>
          </a:p>
        </p:txBody>
      </p:sp>
      <p:sp>
        <p:nvSpPr>
          <p:cNvPr id="7" name="Text 5"/>
          <p:cNvSpPr txBox="1"/>
          <p:nvPr/>
        </p:nvSpPr>
        <p:spPr>
          <a:xfrm>
            <a:off x="2011680" y="1188720"/>
            <a:ext cx="2103120" cy="1097280"/>
          </a:xfrm>
          <a:prstGeom prst="rect">
            <a:avLst/>
          </a:prstGeom>
          <a:noFill/>
          <a:ln/>
        </p:spPr>
        <p:txBody>
          <a:bodyPr wrap="square" lIns="0" tIns="0" rIns="0" bIns="0" rtlCol="0" anchor="ctr"/>
          <a:lstStyle/>
          <a:p>
            <a:pPr marL="0" indent="0">
              <a:buNone/>
            </a:pPr>
            <a:r>
              <a:rPr lang="en-US" sz="1600" dirty="0">
                <a:solidFill>
                  <a:schemeClr val="bg1"/>
                </a:solidFill>
                <a:latin typeface="Calibri" pitchFamily="34" charset="0"/>
                <a:ea typeface="Calibri" pitchFamily="34" charset="-122"/>
                <a:cs typeface="Calibri" pitchFamily="34" charset="-120"/>
              </a:rPr>
              <a:t>missing values in either dataset</a:t>
            </a:r>
            <a:endParaRPr lang="en-US" sz="1600" dirty="0"/>
          </a:p>
        </p:txBody>
      </p:sp>
      <p:sp>
        <p:nvSpPr>
          <p:cNvPr id="8" name="Text 6"/>
          <p:cNvSpPr txBox="1"/>
          <p:nvPr/>
        </p:nvSpPr>
        <p:spPr>
          <a:xfrm>
            <a:off x="548640" y="2788920"/>
            <a:ext cx="1463040" cy="1280160"/>
          </a:xfrm>
          <a:prstGeom prst="rect">
            <a:avLst/>
          </a:prstGeom>
          <a:noFill/>
          <a:ln/>
        </p:spPr>
        <p:txBody>
          <a:bodyPr wrap="square" lIns="0" tIns="0" rIns="0" bIns="0" rtlCol="0" anchor="ctr"/>
          <a:lstStyle/>
          <a:p>
            <a:pPr marL="0" indent="0">
              <a:buNone/>
            </a:pPr>
            <a:r>
              <a:rPr lang="en-US" sz="8800" b="1" dirty="0">
                <a:solidFill>
                  <a:schemeClr val="accent2"/>
                </a:solidFill>
                <a:latin typeface="Cambria" pitchFamily="34" charset="0"/>
                <a:ea typeface="Cambria" pitchFamily="34" charset="-122"/>
                <a:cs typeface="Cambria" pitchFamily="34" charset="-120"/>
              </a:rPr>
              <a:t>0</a:t>
            </a:r>
            <a:endParaRPr lang="en-US" sz="8800" dirty="0"/>
          </a:p>
        </p:txBody>
      </p:sp>
      <p:sp>
        <p:nvSpPr>
          <p:cNvPr id="9" name="Text 7"/>
          <p:cNvSpPr txBox="1"/>
          <p:nvPr/>
        </p:nvSpPr>
        <p:spPr>
          <a:xfrm>
            <a:off x="2011680" y="2880360"/>
            <a:ext cx="2103120" cy="1097280"/>
          </a:xfrm>
          <a:prstGeom prst="rect">
            <a:avLst/>
          </a:prstGeom>
          <a:noFill/>
          <a:ln/>
        </p:spPr>
        <p:txBody>
          <a:bodyPr wrap="square" lIns="0" tIns="0" rIns="0" bIns="0" rtlCol="0" anchor="ctr"/>
          <a:lstStyle/>
          <a:p>
            <a:pPr marL="0" indent="0">
              <a:buNone/>
            </a:pPr>
            <a:r>
              <a:rPr lang="en-US" sz="1600" dirty="0">
                <a:solidFill>
                  <a:schemeClr val="bg1"/>
                </a:solidFill>
                <a:latin typeface="Calibri" pitchFamily="34" charset="0"/>
                <a:ea typeface="Calibri" pitchFamily="34" charset="-122"/>
                <a:cs typeface="Calibri" pitchFamily="34" charset="-120"/>
              </a:rPr>
              <a:t>duplicate rows in either dataset</a:t>
            </a:r>
            <a:endParaRPr lang="en-US" sz="1600" dirty="0"/>
          </a:p>
        </p:txBody>
      </p:sp>
      <p:sp>
        <p:nvSpPr>
          <p:cNvPr id="10" name="Text 8"/>
          <p:cNvSpPr txBox="1"/>
          <p:nvPr/>
        </p:nvSpPr>
        <p:spPr>
          <a:xfrm>
            <a:off x="548640" y="4480560"/>
            <a:ext cx="1463040" cy="1280160"/>
          </a:xfrm>
          <a:prstGeom prst="rect">
            <a:avLst/>
          </a:prstGeom>
          <a:noFill/>
          <a:ln/>
        </p:spPr>
        <p:txBody>
          <a:bodyPr wrap="square" lIns="0" tIns="0" rIns="0" bIns="0" rtlCol="0" anchor="ctr"/>
          <a:lstStyle/>
          <a:p>
            <a:pPr marL="0" indent="0">
              <a:buNone/>
            </a:pPr>
            <a:r>
              <a:rPr lang="en-US" sz="8800" b="1" dirty="0">
                <a:solidFill>
                  <a:schemeClr val="accent2"/>
                </a:solidFill>
                <a:latin typeface="Cambria" pitchFamily="34" charset="0"/>
                <a:ea typeface="Cambria" pitchFamily="34" charset="-122"/>
                <a:cs typeface="Cambria" pitchFamily="34" charset="-120"/>
              </a:rPr>
              <a:t>0</a:t>
            </a:r>
            <a:endParaRPr lang="en-US" sz="8800" dirty="0"/>
          </a:p>
        </p:txBody>
      </p:sp>
      <p:sp>
        <p:nvSpPr>
          <p:cNvPr id="11" name="Text 9"/>
          <p:cNvSpPr txBox="1"/>
          <p:nvPr/>
        </p:nvSpPr>
        <p:spPr>
          <a:xfrm>
            <a:off x="2011680" y="4572000"/>
            <a:ext cx="2103120" cy="1097280"/>
          </a:xfrm>
          <a:prstGeom prst="rect">
            <a:avLst/>
          </a:prstGeom>
          <a:noFill/>
          <a:ln/>
        </p:spPr>
        <p:txBody>
          <a:bodyPr wrap="square" lIns="0" tIns="0" rIns="0" bIns="0" rtlCol="0" anchor="ctr"/>
          <a:lstStyle/>
          <a:p>
            <a:pPr marL="0" indent="0">
              <a:buNone/>
            </a:pPr>
            <a:r>
              <a:rPr lang="en-US" sz="1600" dirty="0">
                <a:solidFill>
                  <a:schemeClr val="bg1"/>
                </a:solidFill>
                <a:latin typeface="Calibri" pitchFamily="34" charset="0"/>
                <a:ea typeface="Calibri" pitchFamily="34" charset="-122"/>
                <a:cs typeface="Calibri" pitchFamily="34" charset="-120"/>
              </a:rPr>
              <a:t>rows dropped during cleaning</a:t>
            </a:r>
            <a:endParaRPr lang="en-US" sz="1600" dirty="0"/>
          </a:p>
        </p:txBody>
      </p:sp>
      <p:graphicFrame>
        <p:nvGraphicFramePr>
          <p:cNvPr id="12" name="Cleaning checks table"/>
          <p:cNvGraphicFramePr>
            <a:graphicFrameLocks noGrp="1"/>
          </p:cNvGraphicFramePr>
          <p:nvPr>
            <p:extLst>
              <p:ext uri="{D42A27DB-BD31-4B8C-83A1-F6EECF244321}">
                <p14:modId xmlns:p14="http://schemas.microsoft.com/office/powerpoint/2010/main" val="642355915"/>
              </p:ext>
            </p:extLst>
          </p:nvPr>
        </p:nvGraphicFramePr>
        <p:xfrm>
          <a:off x="4846320" y="2057400"/>
          <a:ext cx="6793992" cy="2743200"/>
        </p:xfrm>
        <a:graphic>
          <a:graphicData uri="http://schemas.openxmlformats.org/drawingml/2006/table">
            <a:tbl>
              <a:tblPr/>
              <a:tblGrid>
                <a:gridCol w="201168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404872">
                  <a:extLst>
                    <a:ext uri="{9D8B030D-6E8A-4147-A177-3AD203B41FA5}">
                      <a16:colId xmlns:a16="http://schemas.microsoft.com/office/drawing/2014/main" val="20002"/>
                    </a:ext>
                  </a:extLst>
                </a:gridCol>
              </a:tblGrid>
              <a:tr h="457200">
                <a:tc>
                  <a:txBody>
                    <a:bodyPr/>
                    <a:lstStyle/>
                    <a:p>
                      <a:pPr marL="0" indent="0" algn="l">
                        <a:buNone/>
                      </a:pPr>
                      <a:r>
                        <a:rPr lang="en-US" sz="1400" b="1" dirty="0">
                          <a:solidFill>
                            <a:srgbClr val="F6F1E7"/>
                          </a:solidFill>
                          <a:latin typeface="Calibri" pitchFamily="34" charset="0"/>
                          <a:ea typeface="Calibri" pitchFamily="34" charset="-122"/>
                          <a:cs typeface="Calibri" pitchFamily="34" charset="-120"/>
                        </a:rPr>
                        <a:t>Check</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1F3D2E"/>
                    </a:solidFill>
                  </a:tcPr>
                </a:tc>
                <a:tc>
                  <a:txBody>
                    <a:bodyPr/>
                    <a:lstStyle/>
                    <a:p>
                      <a:pPr marL="0" indent="0" algn="l">
                        <a:buNone/>
                      </a:pPr>
                      <a:r>
                        <a:rPr lang="en-US" sz="1400" b="1" dirty="0">
                          <a:solidFill>
                            <a:srgbClr val="F6F1E7"/>
                          </a:solidFill>
                          <a:latin typeface="Calibri" pitchFamily="34" charset="0"/>
                          <a:ea typeface="Calibri" pitchFamily="34" charset="-122"/>
                          <a:cs typeface="Calibri" pitchFamily="34" charset="-120"/>
                        </a:rPr>
                        <a:t>Store Item Demand</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1F3D2E"/>
                    </a:solidFill>
                  </a:tcPr>
                </a:tc>
                <a:tc>
                  <a:txBody>
                    <a:bodyPr/>
                    <a:lstStyle/>
                    <a:p>
                      <a:pPr marL="0" indent="0" algn="l">
                        <a:buNone/>
                      </a:pPr>
                      <a:r>
                        <a:rPr lang="en-US" sz="1400" b="1" dirty="0">
                          <a:solidFill>
                            <a:srgbClr val="F6F1E7"/>
                          </a:solidFill>
                          <a:latin typeface="Calibri" pitchFamily="34" charset="0"/>
                          <a:ea typeface="Calibri" pitchFamily="34" charset="-122"/>
                          <a:cs typeface="Calibri" pitchFamily="34" charset="-120"/>
                        </a:rPr>
                        <a:t>Rossmann</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1F3D2E"/>
                    </a:solidFill>
                  </a:tcPr>
                </a:tc>
                <a:extLst>
                  <a:ext uri="{0D108BD9-81ED-4DB2-BD59-A6C34878D82A}">
                    <a16:rowId xmlns:a16="http://schemas.microsoft.com/office/drawing/2014/main" val="10000"/>
                  </a:ext>
                </a:extLst>
              </a:tr>
              <a:tr h="457200">
                <a:tc>
                  <a:txBody>
                    <a:bodyPr/>
                    <a:lstStyle/>
                    <a:p>
                      <a:pPr marL="0" indent="0">
                        <a:buNone/>
                      </a:pPr>
                      <a:r>
                        <a:rPr lang="en-US" sz="1400" b="1" dirty="0">
                          <a:solidFill>
                            <a:srgbClr val="6B6B63"/>
                          </a:solidFill>
                          <a:latin typeface="Calibri" pitchFamily="34" charset="0"/>
                          <a:ea typeface="Calibri" pitchFamily="34" charset="-122"/>
                          <a:cs typeface="Calibri" pitchFamily="34" charset="-120"/>
                        </a:rPr>
                        <a:t>Missing values</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0 in all 4 columns</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0 in all 9 columns</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extLst>
                  <a:ext uri="{0D108BD9-81ED-4DB2-BD59-A6C34878D82A}">
                    <a16:rowId xmlns:a16="http://schemas.microsoft.com/office/drawing/2014/main" val="10001"/>
                  </a:ext>
                </a:extLst>
              </a:tr>
              <a:tr h="457200">
                <a:tc>
                  <a:txBody>
                    <a:bodyPr/>
                    <a:lstStyle/>
                    <a:p>
                      <a:pPr marL="0" indent="0">
                        <a:buNone/>
                      </a:pPr>
                      <a:r>
                        <a:rPr lang="en-US" sz="1400" b="1" dirty="0">
                          <a:solidFill>
                            <a:srgbClr val="6B6B63"/>
                          </a:solidFill>
                          <a:latin typeface="Calibri" pitchFamily="34" charset="0"/>
                          <a:ea typeface="Calibri" pitchFamily="34" charset="-122"/>
                          <a:cs typeface="Calibri" pitchFamily="34" charset="-120"/>
                        </a:rPr>
                        <a:t>Duplicate rows</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extLst>
                  <a:ext uri="{0D108BD9-81ED-4DB2-BD59-A6C34878D82A}">
                    <a16:rowId xmlns:a16="http://schemas.microsoft.com/office/drawing/2014/main" val="10002"/>
                  </a:ext>
                </a:extLst>
              </a:tr>
              <a:tr h="457200">
                <a:tc>
                  <a:txBody>
                    <a:bodyPr/>
                    <a:lstStyle/>
                    <a:p>
                      <a:pPr marL="0" indent="0">
                        <a:buNone/>
                      </a:pPr>
                      <a:r>
                        <a:rPr lang="en-US" sz="1400" b="1" dirty="0">
                          <a:solidFill>
                            <a:srgbClr val="6B6B63"/>
                          </a:solidFill>
                          <a:latin typeface="Calibri" pitchFamily="34" charset="0"/>
                          <a:ea typeface="Calibri" pitchFamily="34" charset="-122"/>
                          <a:cs typeface="Calibri" pitchFamily="34" charset="-120"/>
                        </a:rPr>
                        <a:t>Date column</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object to datetime</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object to datetime</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extLst>
                  <a:ext uri="{0D108BD9-81ED-4DB2-BD59-A6C34878D82A}">
                    <a16:rowId xmlns:a16="http://schemas.microsoft.com/office/drawing/2014/main" val="10003"/>
                  </a:ext>
                </a:extLst>
              </a:tr>
              <a:tr h="457200">
                <a:tc>
                  <a:txBody>
                    <a:bodyPr/>
                    <a:lstStyle/>
                    <a:p>
                      <a:pPr marL="0" indent="0">
                        <a:buNone/>
                      </a:pPr>
                      <a:r>
                        <a:rPr lang="en-US" sz="1400" b="1" dirty="0">
                          <a:solidFill>
                            <a:srgbClr val="6B6B63"/>
                          </a:solidFill>
                          <a:latin typeface="Calibri" pitchFamily="34" charset="0"/>
                          <a:ea typeface="Calibri" pitchFamily="34" charset="-122"/>
                          <a:cs typeface="Calibri" pitchFamily="34" charset="-120"/>
                        </a:rPr>
                        <a:t>Other steps</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None needed</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StateHoliday coded; store.csv joined</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extLst>
                  <a:ext uri="{0D108BD9-81ED-4DB2-BD59-A6C34878D82A}">
                    <a16:rowId xmlns:a16="http://schemas.microsoft.com/office/drawing/2014/main" val="10004"/>
                  </a:ext>
                </a:extLst>
              </a:tr>
              <a:tr h="457200">
                <a:tc>
                  <a:txBody>
                    <a:bodyPr/>
                    <a:lstStyle/>
                    <a:p>
                      <a:pPr marL="0" indent="0">
                        <a:buNone/>
                      </a:pPr>
                      <a:r>
                        <a:rPr lang="en-US" sz="1400" b="1" dirty="0">
                          <a:solidFill>
                            <a:srgbClr val="6B6B63"/>
                          </a:solidFill>
                          <a:latin typeface="Calibri" pitchFamily="34" charset="0"/>
                          <a:ea typeface="Calibri" pitchFamily="34" charset="-122"/>
                          <a:cs typeface="Calibri" pitchFamily="34" charset="-120"/>
                        </a:rPr>
                        <a:t>Rows after cleaning</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400" dirty="0" smtClean="0">
                          <a:solidFill>
                            <a:srgbClr val="2B2B2B"/>
                          </a:solidFill>
                          <a:latin typeface="Calibri" pitchFamily="34" charset="0"/>
                          <a:ea typeface="Calibri" pitchFamily="34" charset="-122"/>
                          <a:cs typeface="Calibri" pitchFamily="34" charset="-120"/>
                        </a:rPr>
                        <a:t>9,13,000</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400" dirty="0" smtClean="0">
                          <a:solidFill>
                            <a:srgbClr val="2B2B2B"/>
                          </a:solidFill>
                          <a:latin typeface="Calibri" pitchFamily="34" charset="0"/>
                          <a:ea typeface="Calibri" pitchFamily="34" charset="-122"/>
                          <a:cs typeface="Calibri" pitchFamily="34" charset="-120"/>
                        </a:rPr>
                        <a:t>10,17,209</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extLst>
                  <a:ext uri="{0D108BD9-81ED-4DB2-BD59-A6C34878D82A}">
                    <a16:rowId xmlns:a16="http://schemas.microsoft.com/office/drawing/2014/main" val="10005"/>
                  </a:ext>
                </a:extLst>
              </a:tr>
            </a:tbl>
          </a:graphicData>
        </a:graphic>
      </p:graphicFrame>
      <p:sp>
        <p:nvSpPr>
          <p:cNvPr id="13" name="Selection note"/>
          <p:cNvSpPr txBox="1"/>
          <p:nvPr/>
        </p:nvSpPr>
        <p:spPr>
          <a:xfrm>
            <a:off x="4846320" y="5029200"/>
            <a:ext cx="6793992" cy="118872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Each train file is loaded as its own problem, and Rossmann store.csv (store type, assortment, competition, Promo2) is joined by store. No valid sales were removed. Closed-store days (172,817 rows, sales always 0) keep their history for lag features but are not used for training or scoring.</a:t>
            </a:r>
            <a:endParaRPr lang="en-US" sz="1400" dirty="0"/>
          </a:p>
        </p:txBody>
      </p:sp>
      <p:sp>
        <p:nvSpPr>
          <p:cNvPr id="25" name="Slide Number Placeholder 0"/>
          <p:cNvSpPr>
            <a:spLocks noGrp="1"/>
          </p:cNvSpPr>
          <p:nvPr>
            <p:ph type="sldNum" sz="quarter" idx="4294967295"/>
          </p:nvPr>
        </p:nvSpPr>
        <p:spPr>
          <a:xfrm>
            <a:off x="10698480" y="6473952"/>
            <a:ext cx="41148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ection marker"/>
          <p:cNvSpPr/>
          <p:nvPr/>
        </p:nvSpPr>
        <p:spPr>
          <a:xfrm>
            <a:off x="548640" y="420624"/>
            <a:ext cx="118872" cy="118872"/>
          </a:xfrm>
          <a:prstGeom prst="rect">
            <a:avLst/>
          </a:prstGeom>
          <a:solidFill>
            <a:schemeClr val="accent2"/>
          </a:solidFill>
          <a:ln w="12700">
            <a:solidFill>
              <a:schemeClr val="accent2"/>
            </a:solidFill>
            <a:prstDash val="solid"/>
          </a:ln>
        </p:spPr>
        <p:txBody>
          <a:bodyPr/>
          <a:lstStyle/>
          <a:p>
            <a:endParaRPr/>
          </a:p>
        </p:txBody>
      </p:sp>
      <p:sp>
        <p:nvSpPr>
          <p:cNvPr id="3" name="Section label"/>
          <p:cNvSpPr txBox="1"/>
          <p:nvPr/>
        </p:nvSpPr>
        <p:spPr>
          <a:xfrm>
            <a:off x="777240" y="347472"/>
            <a:ext cx="5486400" cy="274320"/>
          </a:xfrm>
          <a:prstGeom prst="rect">
            <a:avLst/>
          </a:prstGeom>
          <a:noFill/>
          <a:ln/>
        </p:spPr>
        <p:txBody>
          <a:bodyPr wrap="square" lIns="0" tIns="0" rIns="0" bIns="0" rtlCol="0" anchor="ctr"/>
          <a:lstStyle/>
          <a:p>
            <a:pPr marL="0" indent="0">
              <a:buNone/>
            </a:pPr>
            <a:r>
              <a:rPr lang="en-US" sz="1200" b="1" kern="0" spc="300" dirty="0">
                <a:solidFill>
                  <a:schemeClr val="accent5"/>
                </a:solidFill>
              </a:rPr>
              <a:t>06  KDD STAGE 3</a:t>
            </a:r>
            <a:endParaRPr lang="en-US" sz="1200" dirty="0"/>
          </a:p>
        </p:txBody>
      </p:sp>
      <p:sp>
        <p:nvSpPr>
          <p:cNvPr id="4" name="Text 3"/>
          <p:cNvSpPr>
            <a:spLocks noGrp="1"/>
          </p:cNvSpPr>
          <p:nvPr>
            <p:ph idx="103" hasCustomPrompt="1"/>
          </p:nvPr>
        </p:nvSpPr>
        <p:spPr>
          <a:xfrm>
            <a:off x="548640" y="777240"/>
            <a:ext cx="11091672" cy="1005840"/>
          </a:xfrm>
          <a:prstGeom prst="rect">
            <a:avLst/>
          </a:prstGeom>
          <a:noFill/>
          <a:ln/>
        </p:spPr>
        <p:txBody>
          <a:bodyPr wrap="square" lIns="0" tIns="0" rIns="0" bIns="0" rtlCol="0" anchor="t"/>
          <a:lstStyle/>
          <a:p>
            <a:pPr marL="0" indent="0">
              <a:buNone/>
            </a:pPr>
            <a:r>
              <a:rPr lang="en-US" sz="3200" b="1" dirty="0">
                <a:solidFill>
                  <a:schemeClr val="tx1"/>
                </a:solidFill>
                <a:latin typeface="Cambria" pitchFamily="34" charset="0"/>
                <a:ea typeface="Cambria" pitchFamily="34" charset="-122"/>
                <a:cs typeface="Cambria" pitchFamily="34" charset="-120"/>
              </a:rPr>
              <a:t>Stage 3: data transformation</a:t>
            </a:r>
            <a:endParaRPr lang="en-US" sz="3200" dirty="0"/>
          </a:p>
        </p:txBody>
      </p:sp>
      <p:sp>
        <p:nvSpPr>
          <p:cNvPr id="5" name="Shape 3"/>
          <p:cNvSpPr/>
          <p:nvPr/>
        </p:nvSpPr>
        <p:spPr>
          <a:xfrm>
            <a:off x="548640" y="1920240"/>
            <a:ext cx="5394960" cy="0"/>
          </a:xfrm>
          <a:prstGeom prst="line">
            <a:avLst/>
          </a:prstGeom>
          <a:noFill/>
          <a:ln w="9525">
            <a:solidFill>
              <a:schemeClr val="accent3"/>
            </a:solidFill>
            <a:prstDash val="solid"/>
          </a:ln>
        </p:spPr>
        <p:txBody>
          <a:bodyPr/>
          <a:lstStyle/>
          <a:p>
            <a:endParaRPr/>
          </a:p>
        </p:txBody>
      </p:sp>
      <p:sp>
        <p:nvSpPr>
          <p:cNvPr id="6" name="Text 4"/>
          <p:cNvSpPr txBox="1"/>
          <p:nvPr/>
        </p:nvSpPr>
        <p:spPr>
          <a:xfrm>
            <a:off x="548640" y="2057400"/>
            <a:ext cx="548640" cy="640080"/>
          </a:xfrm>
          <a:prstGeom prst="rect">
            <a:avLst/>
          </a:prstGeom>
          <a:noFill/>
          <a:ln/>
        </p:spPr>
        <p:txBody>
          <a:bodyPr wrap="square" lIns="0" tIns="0" rIns="0" bIns="0" rtlCol="0" anchor="t"/>
          <a:lstStyle/>
          <a:p>
            <a:pPr marL="0" indent="0">
              <a:buNone/>
            </a:pPr>
            <a:r>
              <a:rPr lang="en-US" sz="3600" b="1" dirty="0">
                <a:solidFill>
                  <a:schemeClr val="accent2"/>
                </a:solidFill>
                <a:latin typeface="Cambria" pitchFamily="34" charset="0"/>
                <a:ea typeface="Cambria" pitchFamily="34" charset="-122"/>
                <a:cs typeface="Cambria" pitchFamily="34" charset="-120"/>
              </a:rPr>
              <a:t>A</a:t>
            </a:r>
            <a:endParaRPr lang="en-US" sz="3600" dirty="0"/>
          </a:p>
        </p:txBody>
      </p:sp>
      <p:sp>
        <p:nvSpPr>
          <p:cNvPr id="7" name="Text 5"/>
          <p:cNvSpPr txBox="1"/>
          <p:nvPr/>
        </p:nvSpPr>
        <p:spPr>
          <a:xfrm>
            <a:off x="1188720" y="2057400"/>
            <a:ext cx="4754880" cy="32004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Keep each series separate</a:t>
            </a:r>
            <a:endParaRPr lang="en-US" sz="1800" dirty="0"/>
          </a:p>
        </p:txBody>
      </p:sp>
      <p:sp>
        <p:nvSpPr>
          <p:cNvPr id="8" name="Text 6"/>
          <p:cNvSpPr txBox="1"/>
          <p:nvPr/>
        </p:nvSpPr>
        <p:spPr>
          <a:xfrm>
            <a:off x="1188720" y="2423160"/>
            <a:ext cx="4754880" cy="8686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Each row is one item in one store on one day (Dataset 1), or one store on one day (Dataset 2). No sales are added up across stores.</a:t>
            </a:r>
            <a:endParaRPr lang="en-US" sz="1400" dirty="0"/>
          </a:p>
        </p:txBody>
      </p:sp>
      <p:sp>
        <p:nvSpPr>
          <p:cNvPr id="9" name="Shape 7"/>
          <p:cNvSpPr/>
          <p:nvPr/>
        </p:nvSpPr>
        <p:spPr>
          <a:xfrm>
            <a:off x="548640" y="3383280"/>
            <a:ext cx="5394960" cy="0"/>
          </a:xfrm>
          <a:prstGeom prst="line">
            <a:avLst/>
          </a:prstGeom>
          <a:noFill/>
          <a:ln w="9525">
            <a:solidFill>
              <a:schemeClr val="accent3"/>
            </a:solidFill>
            <a:prstDash val="solid"/>
          </a:ln>
        </p:spPr>
        <p:txBody>
          <a:bodyPr/>
          <a:lstStyle/>
          <a:p>
            <a:endParaRPr/>
          </a:p>
        </p:txBody>
      </p:sp>
      <p:sp>
        <p:nvSpPr>
          <p:cNvPr id="10" name="Text 8"/>
          <p:cNvSpPr txBox="1"/>
          <p:nvPr/>
        </p:nvSpPr>
        <p:spPr>
          <a:xfrm>
            <a:off x="548640" y="3520440"/>
            <a:ext cx="548640" cy="640080"/>
          </a:xfrm>
          <a:prstGeom prst="rect">
            <a:avLst/>
          </a:prstGeom>
          <a:noFill/>
          <a:ln/>
        </p:spPr>
        <p:txBody>
          <a:bodyPr wrap="square" lIns="0" tIns="0" rIns="0" bIns="0" rtlCol="0" anchor="t"/>
          <a:lstStyle/>
          <a:p>
            <a:pPr marL="0" indent="0">
              <a:buNone/>
            </a:pPr>
            <a:r>
              <a:rPr lang="en-US" sz="3600" b="1" dirty="0">
                <a:solidFill>
                  <a:schemeClr val="accent2"/>
                </a:solidFill>
                <a:latin typeface="Cambria" pitchFamily="34" charset="0"/>
                <a:ea typeface="Cambria" pitchFamily="34" charset="-122"/>
                <a:cs typeface="Cambria" pitchFamily="34" charset="-120"/>
              </a:rPr>
              <a:t>B</a:t>
            </a:r>
            <a:endParaRPr lang="en-US" sz="3600" dirty="0"/>
          </a:p>
        </p:txBody>
      </p:sp>
      <p:sp>
        <p:nvSpPr>
          <p:cNvPr id="11" name="Text 9"/>
          <p:cNvSpPr txBox="1"/>
          <p:nvPr/>
        </p:nvSpPr>
        <p:spPr>
          <a:xfrm>
            <a:off x="1188720" y="3520440"/>
            <a:ext cx="4754880" cy="32004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Create features for each series</a:t>
            </a:r>
            <a:endParaRPr lang="en-US" sz="1800" dirty="0"/>
          </a:p>
        </p:txBody>
      </p:sp>
      <p:sp>
        <p:nvSpPr>
          <p:cNvPr id="12" name="Text 10"/>
          <p:cNvSpPr txBox="1"/>
          <p:nvPr/>
        </p:nvSpPr>
        <p:spPr>
          <a:xfrm>
            <a:off x="1188720" y="3886200"/>
            <a:ext cx="4754880" cy="8686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Calendar details, promo and holiday flags (Dataset 2), and sales 1, 7, 14 and 28 days ago (plus 364 for Dataset 1). Lags are created separately for each series.</a:t>
            </a:r>
            <a:endParaRPr lang="en-US" sz="1400" dirty="0"/>
          </a:p>
        </p:txBody>
      </p:sp>
      <p:sp>
        <p:nvSpPr>
          <p:cNvPr id="13" name="Shape 11"/>
          <p:cNvSpPr/>
          <p:nvPr/>
        </p:nvSpPr>
        <p:spPr>
          <a:xfrm>
            <a:off x="548640" y="4846320"/>
            <a:ext cx="5394960" cy="0"/>
          </a:xfrm>
          <a:prstGeom prst="line">
            <a:avLst/>
          </a:prstGeom>
          <a:noFill/>
          <a:ln w="9525">
            <a:solidFill>
              <a:schemeClr val="accent3"/>
            </a:solidFill>
            <a:prstDash val="solid"/>
          </a:ln>
        </p:spPr>
        <p:txBody>
          <a:bodyPr/>
          <a:lstStyle/>
          <a:p>
            <a:endParaRPr/>
          </a:p>
        </p:txBody>
      </p:sp>
      <p:sp>
        <p:nvSpPr>
          <p:cNvPr id="14" name="Text 12"/>
          <p:cNvSpPr txBox="1"/>
          <p:nvPr/>
        </p:nvSpPr>
        <p:spPr>
          <a:xfrm>
            <a:off x="548640" y="4983480"/>
            <a:ext cx="548640" cy="640080"/>
          </a:xfrm>
          <a:prstGeom prst="rect">
            <a:avLst/>
          </a:prstGeom>
          <a:noFill/>
          <a:ln/>
        </p:spPr>
        <p:txBody>
          <a:bodyPr wrap="square" lIns="0" tIns="0" rIns="0" bIns="0" rtlCol="0" anchor="t"/>
          <a:lstStyle/>
          <a:p>
            <a:pPr marL="0" indent="0">
              <a:buNone/>
            </a:pPr>
            <a:r>
              <a:rPr lang="en-US" sz="3600" b="1" dirty="0">
                <a:solidFill>
                  <a:schemeClr val="accent2"/>
                </a:solidFill>
                <a:latin typeface="Cambria" pitchFamily="34" charset="0"/>
                <a:ea typeface="Cambria" pitchFamily="34" charset="-122"/>
                <a:cs typeface="Cambria" pitchFamily="34" charset="-120"/>
              </a:rPr>
              <a:t>C</a:t>
            </a:r>
            <a:endParaRPr lang="en-US" sz="3600" dirty="0"/>
          </a:p>
        </p:txBody>
      </p:sp>
      <p:sp>
        <p:nvSpPr>
          <p:cNvPr id="15" name="Text 13"/>
          <p:cNvSpPr txBox="1"/>
          <p:nvPr/>
        </p:nvSpPr>
        <p:spPr>
          <a:xfrm>
            <a:off x="1188720" y="4983480"/>
            <a:ext cx="4754880" cy="32004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Split by time, not at random</a:t>
            </a:r>
            <a:endParaRPr lang="en-US" sz="1800" dirty="0"/>
          </a:p>
        </p:txBody>
      </p:sp>
      <p:sp>
        <p:nvSpPr>
          <p:cNvPr id="16" name="Text 14"/>
          <p:cNvSpPr txBox="1"/>
          <p:nvPr/>
        </p:nvSpPr>
        <p:spPr>
          <a:xfrm>
            <a:off x="1188720" y="5349240"/>
            <a:ext cx="4754880" cy="8686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The latest days are held out for testing: the last 90 days for Dataset 1 and the last 42 days for Dataset 2. Earlier days train the models.</a:t>
            </a:r>
            <a:endParaRPr lang="en-US" sz="1400" dirty="0"/>
          </a:p>
        </p:txBody>
      </p:sp>
      <p:sp>
        <p:nvSpPr>
          <p:cNvPr id="17" name="Text 15"/>
          <p:cNvSpPr txBox="1"/>
          <p:nvPr/>
        </p:nvSpPr>
        <p:spPr>
          <a:xfrm>
            <a:off x="6583680" y="1920240"/>
            <a:ext cx="2743200" cy="274320"/>
          </a:xfrm>
          <a:prstGeom prst="rect">
            <a:avLst/>
          </a:prstGeom>
          <a:noFill/>
          <a:ln/>
        </p:spPr>
        <p:txBody>
          <a:bodyPr wrap="square" lIns="0" tIns="0" rIns="0" bIns="0" rtlCol="0" anchor="ctr"/>
          <a:lstStyle/>
          <a:p>
            <a:pPr marL="0" indent="0">
              <a:buNone/>
            </a:pPr>
            <a:r>
              <a:rPr lang="en-US" sz="1200" b="1" kern="0" spc="300" dirty="0">
                <a:solidFill>
                  <a:schemeClr val="accent5"/>
                </a:solidFill>
                <a:latin typeface="Calibri" pitchFamily="34" charset="0"/>
                <a:ea typeface="Calibri" pitchFamily="34" charset="-122"/>
                <a:cs typeface="Calibri" pitchFamily="34" charset="-120"/>
              </a:rPr>
              <a:t>FEATURE GROUPS (7)</a:t>
            </a:r>
            <a:endParaRPr lang="en-US" sz="1200" dirty="0"/>
          </a:p>
        </p:txBody>
      </p:sp>
      <p:sp>
        <p:nvSpPr>
          <p:cNvPr id="18" name="Feature year"/>
          <p:cNvSpPr/>
          <p:nvPr/>
        </p:nvSpPr>
        <p:spPr>
          <a:xfrm>
            <a:off x="6583680" y="2286000"/>
            <a:ext cx="1051560" cy="384048"/>
          </a:xfrm>
          <a:prstGeom prst="rect">
            <a:avLst/>
          </a:prstGeom>
          <a:solidFill>
            <a:schemeClr val="bg2"/>
          </a:solidFill>
          <a:ln w="12700">
            <a:solidFill>
              <a:schemeClr val="bg2"/>
            </a:solidFill>
            <a:prstDash val="solid"/>
          </a:ln>
        </p:spPr>
        <p:txBody>
          <a:bodyPr/>
          <a:lstStyle/>
          <a:p>
            <a:endParaRPr/>
          </a:p>
        </p:txBody>
      </p:sp>
      <p:sp>
        <p:nvSpPr>
          <p:cNvPr id="19" name="Text 17"/>
          <p:cNvSpPr txBox="1"/>
          <p:nvPr/>
        </p:nvSpPr>
        <p:spPr>
          <a:xfrm>
            <a:off x="6583680" y="2286000"/>
            <a:ext cx="1051560" cy="384048"/>
          </a:xfrm>
          <a:prstGeom prst="rect">
            <a:avLst/>
          </a:prstGeom>
          <a:noFill/>
          <a:ln/>
        </p:spPr>
        <p:txBody>
          <a:bodyPr wrap="square" lIns="0" tIns="0" rIns="0" bIns="0" rtlCol="0" anchor="ctr"/>
          <a:lstStyle/>
          <a:p>
            <a:pPr marL="0" indent="0" algn="ctr">
              <a:buNone/>
            </a:pPr>
            <a:r>
              <a:rPr lang="en-US" sz="1400" b="1" dirty="0">
                <a:solidFill>
                  <a:schemeClr val="tx1"/>
                </a:solidFill>
                <a:latin typeface="Consolas" pitchFamily="34" charset="0"/>
                <a:ea typeface="Consolas" pitchFamily="34" charset="-122"/>
                <a:cs typeface="Consolas" pitchFamily="34" charset="-120"/>
              </a:rPr>
              <a:t>calendar</a:t>
            </a:r>
            <a:endParaRPr lang="en-US" sz="1400" dirty="0"/>
          </a:p>
        </p:txBody>
      </p:sp>
      <p:sp>
        <p:nvSpPr>
          <p:cNvPr id="20" name="Feature month"/>
          <p:cNvSpPr/>
          <p:nvPr/>
        </p:nvSpPr>
        <p:spPr>
          <a:xfrm>
            <a:off x="7772400" y="2286000"/>
            <a:ext cx="1417320" cy="384048"/>
          </a:xfrm>
          <a:prstGeom prst="rect">
            <a:avLst/>
          </a:prstGeom>
          <a:solidFill>
            <a:schemeClr val="bg2"/>
          </a:solidFill>
          <a:ln w="12700">
            <a:solidFill>
              <a:schemeClr val="bg2"/>
            </a:solidFill>
            <a:prstDash val="solid"/>
          </a:ln>
        </p:spPr>
        <p:txBody>
          <a:bodyPr/>
          <a:lstStyle/>
          <a:p>
            <a:endParaRPr/>
          </a:p>
        </p:txBody>
      </p:sp>
      <p:sp>
        <p:nvSpPr>
          <p:cNvPr id="21" name="Text 19"/>
          <p:cNvSpPr txBox="1"/>
          <p:nvPr/>
        </p:nvSpPr>
        <p:spPr>
          <a:xfrm>
            <a:off x="7772400" y="2286000"/>
            <a:ext cx="1417320" cy="384048"/>
          </a:xfrm>
          <a:prstGeom prst="rect">
            <a:avLst/>
          </a:prstGeom>
          <a:noFill/>
          <a:ln/>
        </p:spPr>
        <p:txBody>
          <a:bodyPr wrap="square" lIns="0" tIns="0" rIns="0" bIns="0" rtlCol="0" anchor="ctr"/>
          <a:lstStyle/>
          <a:p>
            <a:pPr marL="0" indent="0" algn="ctr">
              <a:buNone/>
            </a:pPr>
            <a:r>
              <a:rPr lang="en-US" sz="1400" b="1" dirty="0">
                <a:solidFill>
                  <a:schemeClr val="tx1"/>
                </a:solidFill>
                <a:latin typeface="Consolas" pitchFamily="34" charset="0"/>
                <a:ea typeface="Consolas" pitchFamily="34" charset="-122"/>
                <a:cs typeface="Consolas" pitchFamily="34" charset="-120"/>
              </a:rPr>
              <a:t>store / item</a:t>
            </a:r>
            <a:endParaRPr lang="en-US" sz="1400" dirty="0"/>
          </a:p>
        </p:txBody>
      </p:sp>
      <p:sp>
        <p:nvSpPr>
          <p:cNvPr id="22" name="Feature day"/>
          <p:cNvSpPr/>
          <p:nvPr/>
        </p:nvSpPr>
        <p:spPr>
          <a:xfrm>
            <a:off x="9326880" y="2286000"/>
            <a:ext cx="777240" cy="384048"/>
          </a:xfrm>
          <a:prstGeom prst="rect">
            <a:avLst/>
          </a:prstGeom>
          <a:solidFill>
            <a:schemeClr val="bg2"/>
          </a:solidFill>
          <a:ln w="12700">
            <a:solidFill>
              <a:schemeClr val="bg2"/>
            </a:solidFill>
            <a:prstDash val="solid"/>
          </a:ln>
        </p:spPr>
        <p:txBody>
          <a:bodyPr/>
          <a:lstStyle/>
          <a:p>
            <a:endParaRPr/>
          </a:p>
        </p:txBody>
      </p:sp>
      <p:sp>
        <p:nvSpPr>
          <p:cNvPr id="23" name="Text 21"/>
          <p:cNvSpPr txBox="1"/>
          <p:nvPr/>
        </p:nvSpPr>
        <p:spPr>
          <a:xfrm>
            <a:off x="9326880" y="2286000"/>
            <a:ext cx="777240" cy="384048"/>
          </a:xfrm>
          <a:prstGeom prst="rect">
            <a:avLst/>
          </a:prstGeom>
          <a:noFill/>
          <a:ln/>
        </p:spPr>
        <p:txBody>
          <a:bodyPr wrap="square" lIns="0" tIns="0" rIns="0" bIns="0" rtlCol="0" anchor="ctr"/>
          <a:lstStyle/>
          <a:p>
            <a:pPr marL="0" indent="0" algn="ctr">
              <a:buNone/>
            </a:pPr>
            <a:r>
              <a:rPr lang="en-US" sz="1400" b="1" dirty="0">
                <a:solidFill>
                  <a:schemeClr val="tx1"/>
                </a:solidFill>
                <a:latin typeface="Consolas" pitchFamily="34" charset="0"/>
                <a:ea typeface="Consolas" pitchFamily="34" charset="-122"/>
                <a:cs typeface="Consolas" pitchFamily="34" charset="-120"/>
              </a:rPr>
              <a:t>promo</a:t>
            </a:r>
            <a:endParaRPr lang="en-US" sz="1400" dirty="0"/>
          </a:p>
        </p:txBody>
      </p:sp>
      <p:sp>
        <p:nvSpPr>
          <p:cNvPr id="24" name="Feature day_of_week"/>
          <p:cNvSpPr/>
          <p:nvPr/>
        </p:nvSpPr>
        <p:spPr>
          <a:xfrm>
            <a:off x="10241280" y="2286000"/>
            <a:ext cx="960120" cy="384048"/>
          </a:xfrm>
          <a:prstGeom prst="rect">
            <a:avLst/>
          </a:prstGeom>
          <a:solidFill>
            <a:schemeClr val="bg2"/>
          </a:solidFill>
          <a:ln w="12700">
            <a:solidFill>
              <a:schemeClr val="bg2"/>
            </a:solidFill>
            <a:prstDash val="solid"/>
          </a:ln>
        </p:spPr>
        <p:txBody>
          <a:bodyPr/>
          <a:lstStyle/>
          <a:p>
            <a:endParaRPr/>
          </a:p>
        </p:txBody>
      </p:sp>
      <p:sp>
        <p:nvSpPr>
          <p:cNvPr id="25" name="Text 23"/>
          <p:cNvSpPr txBox="1"/>
          <p:nvPr/>
        </p:nvSpPr>
        <p:spPr>
          <a:xfrm>
            <a:off x="10241280" y="2286000"/>
            <a:ext cx="960120" cy="384048"/>
          </a:xfrm>
          <a:prstGeom prst="rect">
            <a:avLst/>
          </a:prstGeom>
          <a:noFill/>
          <a:ln/>
        </p:spPr>
        <p:txBody>
          <a:bodyPr wrap="square" lIns="0" tIns="0" rIns="0" bIns="0" rtlCol="0" anchor="ctr"/>
          <a:lstStyle/>
          <a:p>
            <a:pPr marL="0" indent="0" algn="ctr">
              <a:buNone/>
            </a:pPr>
            <a:r>
              <a:rPr lang="en-US" sz="1400" b="1" dirty="0">
                <a:solidFill>
                  <a:schemeClr val="tx1"/>
                </a:solidFill>
                <a:latin typeface="Consolas" pitchFamily="34" charset="0"/>
                <a:ea typeface="Consolas" pitchFamily="34" charset="-122"/>
                <a:cs typeface="Consolas" pitchFamily="34" charset="-120"/>
              </a:rPr>
              <a:t>holiday</a:t>
            </a:r>
            <a:endParaRPr lang="en-US" sz="1400" dirty="0"/>
          </a:p>
        </p:txBody>
      </p:sp>
      <p:sp>
        <p:nvSpPr>
          <p:cNvPr id="28" name="Feature lag_1"/>
          <p:cNvSpPr/>
          <p:nvPr/>
        </p:nvSpPr>
        <p:spPr>
          <a:xfrm>
            <a:off x="6583680" y="2788920"/>
            <a:ext cx="1234440" cy="384048"/>
          </a:xfrm>
          <a:prstGeom prst="rect">
            <a:avLst/>
          </a:prstGeom>
          <a:solidFill>
            <a:schemeClr val="accent2"/>
          </a:solidFill>
          <a:ln w="12700">
            <a:solidFill>
              <a:schemeClr val="accent2"/>
            </a:solidFill>
            <a:prstDash val="solid"/>
          </a:ln>
        </p:spPr>
        <p:txBody>
          <a:bodyPr/>
          <a:lstStyle/>
          <a:p>
            <a:endParaRPr/>
          </a:p>
        </p:txBody>
      </p:sp>
      <p:sp>
        <p:nvSpPr>
          <p:cNvPr id="29" name="Text 27"/>
          <p:cNvSpPr txBox="1"/>
          <p:nvPr/>
        </p:nvSpPr>
        <p:spPr>
          <a:xfrm>
            <a:off x="6583680" y="2788920"/>
            <a:ext cx="1234440" cy="384048"/>
          </a:xfrm>
          <a:prstGeom prst="rect">
            <a:avLst/>
          </a:prstGeom>
          <a:noFill/>
          <a:ln/>
        </p:spPr>
        <p:txBody>
          <a:bodyPr wrap="square" lIns="0" tIns="0" rIns="0" bIns="0" rtlCol="0" anchor="ctr"/>
          <a:lstStyle/>
          <a:p>
            <a:pPr marL="0" indent="0" algn="ctr">
              <a:buNone/>
            </a:pPr>
            <a:r>
              <a:rPr lang="en-US" sz="1400" b="1" dirty="0">
                <a:solidFill>
                  <a:schemeClr val="bg1"/>
                </a:solidFill>
                <a:latin typeface="Consolas" pitchFamily="34" charset="0"/>
                <a:ea typeface="Consolas" pitchFamily="34" charset="-122"/>
                <a:cs typeface="Consolas" pitchFamily="34" charset="-120"/>
              </a:rPr>
              <a:t>past sales</a:t>
            </a:r>
            <a:endParaRPr lang="en-US" sz="1400" dirty="0"/>
          </a:p>
        </p:txBody>
      </p:sp>
      <p:sp>
        <p:nvSpPr>
          <p:cNvPr id="30" name="Feature lag_7"/>
          <p:cNvSpPr/>
          <p:nvPr/>
        </p:nvSpPr>
        <p:spPr>
          <a:xfrm>
            <a:off x="7955279" y="2788920"/>
            <a:ext cx="1234440" cy="384048"/>
          </a:xfrm>
          <a:prstGeom prst="rect">
            <a:avLst/>
          </a:prstGeom>
          <a:solidFill>
            <a:schemeClr val="accent2"/>
          </a:solidFill>
          <a:ln w="12700">
            <a:solidFill>
              <a:schemeClr val="accent2"/>
            </a:solidFill>
            <a:prstDash val="solid"/>
          </a:ln>
        </p:spPr>
        <p:txBody>
          <a:bodyPr/>
          <a:lstStyle/>
          <a:p>
            <a:endParaRPr/>
          </a:p>
        </p:txBody>
      </p:sp>
      <p:sp>
        <p:nvSpPr>
          <p:cNvPr id="31" name="Text 29"/>
          <p:cNvSpPr txBox="1"/>
          <p:nvPr/>
        </p:nvSpPr>
        <p:spPr>
          <a:xfrm>
            <a:off x="7955279" y="2788920"/>
            <a:ext cx="1234440" cy="384048"/>
          </a:xfrm>
          <a:prstGeom prst="rect">
            <a:avLst/>
          </a:prstGeom>
          <a:noFill/>
          <a:ln/>
        </p:spPr>
        <p:txBody>
          <a:bodyPr wrap="square" lIns="0" tIns="0" rIns="0" bIns="0" rtlCol="0" anchor="ctr"/>
          <a:lstStyle/>
          <a:p>
            <a:pPr marL="0" indent="0" algn="ctr">
              <a:buNone/>
            </a:pPr>
            <a:r>
              <a:rPr lang="en-US" sz="1400" b="1" dirty="0">
                <a:solidFill>
                  <a:schemeClr val="bg1"/>
                </a:solidFill>
                <a:latin typeface="Consolas" pitchFamily="34" charset="0"/>
                <a:ea typeface="Consolas" pitchFamily="34" charset="-122"/>
                <a:cs typeface="Consolas" pitchFamily="34" charset="-120"/>
              </a:rPr>
              <a:t>recent avg</a:t>
            </a:r>
            <a:endParaRPr lang="en-US" sz="1400" dirty="0"/>
          </a:p>
        </p:txBody>
      </p:sp>
      <p:sp>
        <p:nvSpPr>
          <p:cNvPr id="32" name="Feature lag_14"/>
          <p:cNvSpPr/>
          <p:nvPr/>
        </p:nvSpPr>
        <p:spPr>
          <a:xfrm>
            <a:off x="9326880" y="2788920"/>
            <a:ext cx="1508760" cy="384048"/>
          </a:xfrm>
          <a:prstGeom prst="rect">
            <a:avLst/>
          </a:prstGeom>
          <a:solidFill>
            <a:schemeClr val="accent2"/>
          </a:solidFill>
          <a:ln w="12700">
            <a:solidFill>
              <a:schemeClr val="accent2"/>
            </a:solidFill>
            <a:prstDash val="solid"/>
          </a:ln>
        </p:spPr>
        <p:txBody>
          <a:bodyPr/>
          <a:lstStyle/>
          <a:p>
            <a:endParaRPr/>
          </a:p>
        </p:txBody>
      </p:sp>
      <p:sp>
        <p:nvSpPr>
          <p:cNvPr id="33" name="Text 31"/>
          <p:cNvSpPr txBox="1"/>
          <p:nvPr/>
        </p:nvSpPr>
        <p:spPr>
          <a:xfrm>
            <a:off x="9326880" y="2788920"/>
            <a:ext cx="1508760" cy="384048"/>
          </a:xfrm>
          <a:prstGeom prst="rect">
            <a:avLst/>
          </a:prstGeom>
          <a:noFill/>
          <a:ln/>
        </p:spPr>
        <p:txBody>
          <a:bodyPr wrap="square" lIns="0" tIns="0" rIns="0" bIns="0" rtlCol="0" anchor="ctr"/>
          <a:lstStyle/>
          <a:p>
            <a:pPr marL="0" indent="0" algn="ctr">
              <a:buNone/>
            </a:pPr>
            <a:r>
              <a:rPr lang="en-US" sz="1400" b="1" dirty="0">
                <a:solidFill>
                  <a:schemeClr val="bg1"/>
                </a:solidFill>
                <a:latin typeface="Consolas" pitchFamily="34" charset="0"/>
                <a:ea typeface="Consolas" pitchFamily="34" charset="-122"/>
                <a:cs typeface="Consolas" pitchFamily="34" charset="-120"/>
              </a:rPr>
              <a:t>typical level</a:t>
            </a:r>
            <a:endParaRPr lang="en-US" sz="1400" dirty="0"/>
          </a:p>
        </p:txBody>
      </p:sp>
      <p:sp>
        <p:nvSpPr>
          <p:cNvPr id="34" name="Text 32"/>
          <p:cNvSpPr txBox="1"/>
          <p:nvPr/>
        </p:nvSpPr>
        <p:spPr>
          <a:xfrm>
            <a:off x="6583680" y="3383280"/>
            <a:ext cx="5029200" cy="548640"/>
          </a:xfrm>
          <a:prstGeom prst="rect">
            <a:avLst/>
          </a:prstGeom>
          <a:noFill/>
          <a:ln/>
        </p:spPr>
        <p:txBody>
          <a:bodyPr wrap="square" lIns="0" tIns="0" rIns="0" bIns="0" rtlCol="0" anchor="t"/>
          <a:lstStyle/>
          <a:p>
            <a:pPr marL="0" indent="0">
              <a:buNone/>
            </a:pPr>
            <a:r>
              <a:rPr lang="en-US" sz="1400" dirty="0">
                <a:solidFill>
                  <a:schemeClr val="accent5"/>
                </a:solidFill>
                <a:latin typeface="Calibri" pitchFamily="34" charset="0"/>
                <a:ea typeface="Calibri" pitchFamily="34" charset="-122"/>
                <a:cs typeface="Calibri" pitchFamily="34" charset="-120"/>
              </a:rPr>
              <a:t>Sand chips give calendar and context; coral chips are sales history. Promo and holiday apply to Dataset 2 only.</a:t>
            </a:r>
            <a:endParaRPr lang="en-US" sz="1400" dirty="0"/>
          </a:p>
        </p:txBody>
      </p:sp>
      <p:sp>
        <p:nvSpPr>
          <p:cNvPr id="35" name="Text 33"/>
          <p:cNvSpPr txBox="1"/>
          <p:nvPr/>
        </p:nvSpPr>
        <p:spPr>
          <a:xfrm>
            <a:off x="6583680" y="4160520"/>
            <a:ext cx="4572000" cy="274320"/>
          </a:xfrm>
          <a:prstGeom prst="rect">
            <a:avLst/>
          </a:prstGeom>
          <a:noFill/>
          <a:ln/>
        </p:spPr>
        <p:txBody>
          <a:bodyPr wrap="square" lIns="0" tIns="0" rIns="0" bIns="0" rtlCol="0" anchor="ctr"/>
          <a:lstStyle/>
          <a:p>
            <a:pPr marL="0" indent="0">
              <a:buNone/>
            </a:pPr>
            <a:r>
              <a:rPr lang="en-US" sz="1200" b="1" kern="0" spc="300" dirty="0">
                <a:solidFill>
                  <a:schemeClr val="accent5"/>
                </a:solidFill>
                <a:latin typeface="Calibri" pitchFamily="34" charset="0"/>
                <a:ea typeface="Calibri" pitchFamily="34" charset="-122"/>
                <a:cs typeface="Calibri" pitchFamily="34" charset="-120"/>
              </a:rPr>
              <a:t>SPLIT, ROWS (NOT TO SCALE)</a:t>
            </a:r>
            <a:endParaRPr lang="en-US" sz="1200" dirty="0"/>
          </a:p>
        </p:txBody>
      </p:sp>
      <p:sp>
        <p:nvSpPr>
          <p:cNvPr id="36" name="Text 34"/>
          <p:cNvSpPr txBox="1"/>
          <p:nvPr/>
        </p:nvSpPr>
        <p:spPr>
          <a:xfrm>
            <a:off x="6583680" y="4526280"/>
            <a:ext cx="4572000" cy="274320"/>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Store Item Demand</a:t>
            </a:r>
            <a:endParaRPr lang="en-US" sz="1400" dirty="0"/>
          </a:p>
        </p:txBody>
      </p:sp>
      <p:sp>
        <p:nvSpPr>
          <p:cNvPr id="37" name="Store Item Demand train bar"/>
          <p:cNvSpPr/>
          <p:nvPr/>
        </p:nvSpPr>
        <p:spPr>
          <a:xfrm>
            <a:off x="6583680" y="4846320"/>
            <a:ext cx="4297680" cy="347472"/>
          </a:xfrm>
          <a:prstGeom prst="rect">
            <a:avLst/>
          </a:prstGeom>
          <a:solidFill>
            <a:schemeClr val="tx2"/>
          </a:solidFill>
          <a:ln w="12700">
            <a:solidFill>
              <a:schemeClr val="tx2"/>
            </a:solidFill>
            <a:prstDash val="solid"/>
          </a:ln>
        </p:spPr>
        <p:txBody>
          <a:bodyPr/>
          <a:lstStyle/>
          <a:p>
            <a:endParaRPr/>
          </a:p>
        </p:txBody>
      </p:sp>
      <p:sp>
        <p:nvSpPr>
          <p:cNvPr id="38" name="Store Item Demand validation bar"/>
          <p:cNvSpPr/>
          <p:nvPr/>
        </p:nvSpPr>
        <p:spPr>
          <a:xfrm>
            <a:off x="10881360" y="4846320"/>
            <a:ext cx="758952" cy="347472"/>
          </a:xfrm>
          <a:prstGeom prst="rect">
            <a:avLst/>
          </a:prstGeom>
          <a:solidFill>
            <a:schemeClr val="accent2"/>
          </a:solidFill>
          <a:ln w="12700">
            <a:solidFill>
              <a:schemeClr val="accent2"/>
            </a:solidFill>
            <a:prstDash val="solid"/>
          </a:ln>
        </p:spPr>
        <p:txBody>
          <a:bodyPr/>
          <a:lstStyle/>
          <a:p>
            <a:endParaRPr/>
          </a:p>
        </p:txBody>
      </p:sp>
      <p:sp>
        <p:nvSpPr>
          <p:cNvPr id="39" name="Text 37"/>
          <p:cNvSpPr txBox="1"/>
          <p:nvPr/>
        </p:nvSpPr>
        <p:spPr>
          <a:xfrm>
            <a:off x="6675120" y="4846320"/>
            <a:ext cx="2743200" cy="347472"/>
          </a:xfrm>
          <a:prstGeom prst="rect">
            <a:avLst/>
          </a:prstGeom>
          <a:noFill/>
          <a:ln/>
        </p:spPr>
        <p:txBody>
          <a:bodyPr wrap="square" lIns="0" tIns="0" rIns="0" bIns="0" rtlCol="0" anchor="ctr"/>
          <a:lstStyle/>
          <a:p>
            <a:pPr marL="0" indent="0">
              <a:buNone/>
            </a:pPr>
            <a:r>
              <a:rPr lang="en-US" sz="1400" b="1" dirty="0">
                <a:solidFill>
                  <a:schemeClr val="bg1"/>
                </a:solidFill>
                <a:latin typeface="Calibri" pitchFamily="34" charset="0"/>
                <a:ea typeface="Calibri" pitchFamily="34" charset="-122"/>
                <a:cs typeface="Calibri" pitchFamily="34" charset="-120"/>
              </a:rPr>
              <a:t>Train 686,000</a:t>
            </a:r>
            <a:endParaRPr lang="en-US" sz="1400" dirty="0"/>
          </a:p>
        </p:txBody>
      </p:sp>
      <p:sp>
        <p:nvSpPr>
          <p:cNvPr id="40" name="Text 38"/>
          <p:cNvSpPr txBox="1"/>
          <p:nvPr/>
        </p:nvSpPr>
        <p:spPr>
          <a:xfrm>
            <a:off x="10881360" y="4846320"/>
            <a:ext cx="758952"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45,000</a:t>
            </a:r>
            <a:endParaRPr lang="en-US" sz="1400" dirty="0"/>
          </a:p>
        </p:txBody>
      </p:sp>
      <p:sp>
        <p:nvSpPr>
          <p:cNvPr id="41" name="Text 39"/>
          <p:cNvSpPr txBox="1"/>
          <p:nvPr/>
        </p:nvSpPr>
        <p:spPr>
          <a:xfrm>
            <a:off x="6583680" y="5394960"/>
            <a:ext cx="4572000" cy="274320"/>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Rossmann</a:t>
            </a:r>
            <a:endParaRPr lang="en-US" sz="1400" dirty="0"/>
          </a:p>
        </p:txBody>
      </p:sp>
      <p:sp>
        <p:nvSpPr>
          <p:cNvPr id="42" name="Rossmann train bar"/>
          <p:cNvSpPr/>
          <p:nvPr/>
        </p:nvSpPr>
        <p:spPr>
          <a:xfrm>
            <a:off x="6583680" y="5715000"/>
            <a:ext cx="4297680" cy="347472"/>
          </a:xfrm>
          <a:prstGeom prst="rect">
            <a:avLst/>
          </a:prstGeom>
          <a:solidFill>
            <a:schemeClr val="tx2"/>
          </a:solidFill>
          <a:ln w="12700">
            <a:solidFill>
              <a:schemeClr val="tx2"/>
            </a:solidFill>
            <a:prstDash val="solid"/>
          </a:ln>
        </p:spPr>
        <p:txBody>
          <a:bodyPr/>
          <a:lstStyle/>
          <a:p>
            <a:endParaRPr/>
          </a:p>
        </p:txBody>
      </p:sp>
      <p:sp>
        <p:nvSpPr>
          <p:cNvPr id="43" name="Rossmann validation bar"/>
          <p:cNvSpPr/>
          <p:nvPr/>
        </p:nvSpPr>
        <p:spPr>
          <a:xfrm>
            <a:off x="10881360" y="5715000"/>
            <a:ext cx="758952" cy="347472"/>
          </a:xfrm>
          <a:prstGeom prst="rect">
            <a:avLst/>
          </a:prstGeom>
          <a:solidFill>
            <a:schemeClr val="accent2"/>
          </a:solidFill>
          <a:ln w="12700">
            <a:solidFill>
              <a:schemeClr val="accent2"/>
            </a:solidFill>
            <a:prstDash val="solid"/>
          </a:ln>
        </p:spPr>
        <p:txBody>
          <a:bodyPr/>
          <a:lstStyle/>
          <a:p>
            <a:endParaRPr/>
          </a:p>
        </p:txBody>
      </p:sp>
      <p:sp>
        <p:nvSpPr>
          <p:cNvPr id="44" name="Text 42"/>
          <p:cNvSpPr txBox="1"/>
          <p:nvPr/>
        </p:nvSpPr>
        <p:spPr>
          <a:xfrm>
            <a:off x="6675120" y="5715000"/>
            <a:ext cx="2743200" cy="347472"/>
          </a:xfrm>
          <a:prstGeom prst="rect">
            <a:avLst/>
          </a:prstGeom>
          <a:noFill/>
          <a:ln/>
        </p:spPr>
        <p:txBody>
          <a:bodyPr wrap="square" lIns="0" tIns="0" rIns="0" bIns="0" rtlCol="0" anchor="ctr"/>
          <a:lstStyle/>
          <a:p>
            <a:pPr marL="0" indent="0">
              <a:buNone/>
            </a:pPr>
            <a:r>
              <a:rPr lang="en-US" sz="1400" b="1" dirty="0">
                <a:solidFill>
                  <a:schemeClr val="bg1"/>
                </a:solidFill>
                <a:latin typeface="Calibri" pitchFamily="34" charset="0"/>
                <a:ea typeface="Calibri" pitchFamily="34" charset="-122"/>
                <a:cs typeface="Calibri" pitchFamily="34" charset="-120"/>
              </a:rPr>
              <a:t>Train 778,563</a:t>
            </a:r>
            <a:endParaRPr lang="en-US" sz="1400" dirty="0"/>
          </a:p>
        </p:txBody>
      </p:sp>
      <p:sp>
        <p:nvSpPr>
          <p:cNvPr id="45" name="Text 43"/>
          <p:cNvSpPr txBox="1"/>
          <p:nvPr/>
        </p:nvSpPr>
        <p:spPr>
          <a:xfrm>
            <a:off x="10881360" y="5715000"/>
            <a:ext cx="758952"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40,282</a:t>
            </a:r>
            <a:endParaRPr lang="en-US" sz="1400" dirty="0"/>
          </a:p>
        </p:txBody>
      </p:sp>
      <p:sp>
        <p:nvSpPr>
          <p:cNvPr id="46" name="Slide Number Placeholder 0"/>
          <p:cNvSpPr>
            <a:spLocks noGrp="1"/>
          </p:cNvSpPr>
          <p:nvPr>
            <p:ph type="sldNum" sz="quarter" idx="4294967295"/>
          </p:nvPr>
        </p:nvSpPr>
        <p:spPr>
          <a:xfrm>
            <a:off x="10698480" y="6473952"/>
            <a:ext cx="41148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marker"/>
          <p:cNvSpPr/>
          <p:nvPr/>
        </p:nvSpPr>
        <p:spPr>
          <a:xfrm>
            <a:off x="548640" y="420624"/>
            <a:ext cx="118872" cy="118872"/>
          </a:xfrm>
          <a:prstGeom prst="rect">
            <a:avLst/>
          </a:prstGeom>
          <a:solidFill>
            <a:schemeClr val="accent2"/>
          </a:solidFill>
          <a:ln w="12700">
            <a:solidFill>
              <a:schemeClr val="accent2"/>
            </a:solidFill>
            <a:prstDash val="solid"/>
          </a:ln>
        </p:spPr>
        <p:txBody>
          <a:bodyPr/>
          <a:lstStyle/>
          <a:p>
            <a:endParaRPr/>
          </a:p>
        </p:txBody>
      </p:sp>
      <p:sp>
        <p:nvSpPr>
          <p:cNvPr id="3" name="Section label"/>
          <p:cNvSpPr txBox="1"/>
          <p:nvPr/>
        </p:nvSpPr>
        <p:spPr>
          <a:xfrm>
            <a:off x="777240" y="347472"/>
            <a:ext cx="5486400" cy="274320"/>
          </a:xfrm>
          <a:prstGeom prst="rect">
            <a:avLst/>
          </a:prstGeom>
          <a:noFill/>
          <a:ln/>
        </p:spPr>
        <p:txBody>
          <a:bodyPr wrap="square" lIns="0" tIns="0" rIns="0" bIns="0" rtlCol="0" anchor="ctr"/>
          <a:lstStyle/>
          <a:p>
            <a:pPr marL="0" indent="0">
              <a:buNone/>
            </a:pPr>
            <a:r>
              <a:rPr lang="en-US" sz="1200" b="1" kern="0" spc="300" dirty="0">
                <a:solidFill>
                  <a:schemeClr val="accent5"/>
                </a:solidFill>
              </a:rPr>
              <a:t>07  KDD STAGE 3 | FEATURES</a:t>
            </a:r>
            <a:endParaRPr lang="en-US" sz="1200" dirty="0"/>
          </a:p>
        </p:txBody>
      </p:sp>
      <p:sp>
        <p:nvSpPr>
          <p:cNvPr id="4" name="Text 3"/>
          <p:cNvSpPr>
            <a:spLocks noGrp="1"/>
          </p:cNvSpPr>
          <p:nvPr>
            <p:ph idx="103" hasCustomPrompt="1"/>
          </p:nvPr>
        </p:nvSpPr>
        <p:spPr>
          <a:xfrm>
            <a:off x="548640" y="777240"/>
            <a:ext cx="11091672" cy="1005840"/>
          </a:xfrm>
          <a:prstGeom prst="rect">
            <a:avLst/>
          </a:prstGeom>
          <a:noFill/>
          <a:ln/>
        </p:spPr>
        <p:txBody>
          <a:bodyPr wrap="square" lIns="0" tIns="0" rIns="0" bIns="0" rtlCol="0" anchor="t"/>
          <a:lstStyle/>
          <a:p>
            <a:pPr marL="0" indent="0">
              <a:buNone/>
            </a:pPr>
            <a:r>
              <a:rPr lang="en-US" sz="3200" b="1" dirty="0">
                <a:solidFill>
                  <a:schemeClr val="tx1"/>
                </a:solidFill>
                <a:latin typeface="Cambria" pitchFamily="34" charset="0"/>
                <a:ea typeface="Cambria" pitchFamily="34" charset="-122"/>
                <a:cs typeface="Cambria" pitchFamily="34" charset="-120"/>
              </a:rPr>
              <a:t>How the features help predict demand</a:t>
            </a:r>
            <a:endParaRPr lang="en-US" sz="3200" dirty="0"/>
          </a:p>
        </p:txBody>
      </p:sp>
      <p:graphicFrame>
        <p:nvGraphicFramePr>
          <p:cNvPr id="5" name="Dataset comparison table"/>
          <p:cNvGraphicFramePr>
            <a:graphicFrameLocks noGrp="1"/>
          </p:cNvGraphicFramePr>
          <p:nvPr>
            <p:extLst>
              <p:ext uri="{D42A27DB-BD31-4B8C-83A1-F6EECF244321}">
                <p14:modId xmlns:p14="http://schemas.microsoft.com/office/powerpoint/2010/main" val="1579011935"/>
              </p:ext>
            </p:extLst>
          </p:nvPr>
        </p:nvGraphicFramePr>
        <p:xfrm>
          <a:off x="548640" y="1920240"/>
          <a:ext cx="7589520" cy="3291840"/>
        </p:xfrm>
        <a:graphic>
          <a:graphicData uri="http://schemas.openxmlformats.org/drawingml/2006/table">
            <a:tbl>
              <a:tblPr/>
              <a:tblGrid>
                <a:gridCol w="173736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457200">
                <a:tc>
                  <a:txBody>
                    <a:bodyPr/>
                    <a:lstStyle/>
                    <a:p>
                      <a:pPr marL="0" indent="0" algn="l">
                        <a:buNone/>
                      </a:pPr>
                      <a:r>
                        <a:rPr lang="en-US" sz="1200" b="1" dirty="0">
                          <a:solidFill>
                            <a:srgbClr val="F6F1E7"/>
                          </a:solidFill>
                          <a:latin typeface="Calibri" pitchFamily="34" charset="0"/>
                          <a:ea typeface="Calibri" pitchFamily="34" charset="-122"/>
                          <a:cs typeface="Calibri" pitchFamily="34" charset="-120"/>
                        </a:rPr>
                        <a:t>Feature group</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1F3D2E"/>
                    </a:solidFill>
                  </a:tcPr>
                </a:tc>
                <a:tc>
                  <a:txBody>
                    <a:bodyPr/>
                    <a:lstStyle/>
                    <a:p>
                      <a:pPr marL="0" indent="0" algn="l">
                        <a:buNone/>
                      </a:pPr>
                      <a:r>
                        <a:rPr lang="en-US" sz="1200" b="1" dirty="0">
                          <a:solidFill>
                            <a:srgbClr val="F6F1E7"/>
                          </a:solidFill>
                          <a:latin typeface="Calibri" pitchFamily="34" charset="0"/>
                          <a:ea typeface="Calibri" pitchFamily="34" charset="-122"/>
                          <a:cs typeface="Calibri" pitchFamily="34" charset="-120"/>
                        </a:rPr>
                        <a:t>Examples</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1F3D2E"/>
                    </a:solidFill>
                  </a:tcPr>
                </a:tc>
                <a:tc>
                  <a:txBody>
                    <a:bodyPr/>
                    <a:lstStyle/>
                    <a:p>
                      <a:pPr marL="0" indent="0" algn="l">
                        <a:buNone/>
                      </a:pPr>
                      <a:r>
                        <a:rPr lang="en-US" sz="1200" b="1" dirty="0">
                          <a:solidFill>
                            <a:srgbClr val="F6F1E7"/>
                          </a:solidFill>
                          <a:latin typeface="Calibri" pitchFamily="34" charset="0"/>
                          <a:ea typeface="Calibri" pitchFamily="34" charset="-122"/>
                          <a:cs typeface="Calibri" pitchFamily="34" charset="-120"/>
                        </a:rPr>
                        <a:t>Why it helps</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1F3D2E"/>
                    </a:solidFill>
                  </a:tcPr>
                </a:tc>
                <a:extLst>
                  <a:ext uri="{0D108BD9-81ED-4DB2-BD59-A6C34878D82A}">
                    <a16:rowId xmlns:a16="http://schemas.microsoft.com/office/drawing/2014/main" val="10000"/>
                  </a:ext>
                </a:extLst>
              </a:tr>
              <a:tr h="457200">
                <a:tc>
                  <a:txBody>
                    <a:bodyPr/>
                    <a:lstStyle/>
                    <a:p>
                      <a:pPr marL="0" indent="0">
                        <a:buNone/>
                      </a:pPr>
                      <a:r>
                        <a:rPr lang="en-US" sz="1200" b="1" dirty="0">
                          <a:solidFill>
                            <a:srgbClr val="6B6B63"/>
                          </a:solidFill>
                          <a:latin typeface="Calibri" pitchFamily="34" charset="0"/>
                          <a:ea typeface="Calibri" pitchFamily="34" charset="-122"/>
                          <a:cs typeface="Calibri" pitchFamily="34" charset="-120"/>
                        </a:rPr>
                        <a:t>Store / item identifier</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store, item (Dataset 1); Store, StoreType, Assortment, CompetitionDistance (Dataset 2)</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Tells the model which series it predicts, since each sells at its own level</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extLst>
                  <a:ext uri="{0D108BD9-81ED-4DB2-BD59-A6C34878D82A}">
                    <a16:rowId xmlns:a16="http://schemas.microsoft.com/office/drawing/2014/main" val="10001"/>
                  </a:ext>
                </a:extLst>
              </a:tr>
              <a:tr h="457200">
                <a:tc>
                  <a:txBody>
                    <a:bodyPr/>
                    <a:lstStyle/>
                    <a:p>
                      <a:pPr marL="0" indent="0">
                        <a:buNone/>
                      </a:pPr>
                      <a:r>
                        <a:rPr lang="en-US" sz="1200" b="1" dirty="0">
                          <a:solidFill>
                            <a:srgbClr val="6B6B63"/>
                          </a:solidFill>
                          <a:latin typeface="Calibri" pitchFamily="34" charset="0"/>
                          <a:ea typeface="Calibri" pitchFamily="34" charset="-122"/>
                          <a:cs typeface="Calibri" pitchFamily="34" charset="-120"/>
                        </a:rPr>
                        <a:t>Calendar</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day of week, month, day, year, week and day of year</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Captures weekly cycles and seasonality</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extLst>
                  <a:ext uri="{0D108BD9-81ED-4DB2-BD59-A6C34878D82A}">
                    <a16:rowId xmlns:a16="http://schemas.microsoft.com/office/drawing/2014/main" val="10002"/>
                  </a:ext>
                </a:extLst>
              </a:tr>
              <a:tr h="457200">
                <a:tc>
                  <a:txBody>
                    <a:bodyPr/>
                    <a:lstStyle/>
                    <a:p>
                      <a:pPr marL="0" indent="0">
                        <a:buNone/>
                      </a:pPr>
                      <a:r>
                        <a:rPr lang="en-US" sz="1200" b="1" dirty="0">
                          <a:solidFill>
                            <a:srgbClr val="6B6B63"/>
                          </a:solidFill>
                          <a:latin typeface="Calibri" pitchFamily="34" charset="0"/>
                          <a:ea typeface="Calibri" pitchFamily="34" charset="-122"/>
                          <a:cs typeface="Calibri" pitchFamily="34" charset="-120"/>
                        </a:rPr>
                        <a:t>Promotions and holidays</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Promo, Promo2, SchoolHoliday, StateHoliday (Dataset 2 only)</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Explains jumps and dips around offers and holidays</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extLst>
                  <a:ext uri="{0D108BD9-81ED-4DB2-BD59-A6C34878D82A}">
                    <a16:rowId xmlns:a16="http://schemas.microsoft.com/office/drawing/2014/main" val="10003"/>
                  </a:ext>
                </a:extLst>
              </a:tr>
              <a:tr h="457200">
                <a:tc>
                  <a:txBody>
                    <a:bodyPr/>
                    <a:lstStyle/>
                    <a:p>
                      <a:pPr marL="0" indent="0">
                        <a:buNone/>
                      </a:pPr>
                      <a:r>
                        <a:rPr lang="en-US" sz="1200" b="1" dirty="0">
                          <a:solidFill>
                            <a:srgbClr val="6B6B63"/>
                          </a:solidFill>
                          <a:latin typeface="Calibri" pitchFamily="34" charset="0"/>
                          <a:ea typeface="Calibri" pitchFamily="34" charset="-122"/>
                          <a:cs typeface="Calibri" pitchFamily="34" charset="-120"/>
                        </a:rPr>
                        <a:t>Lag sales</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Sales 1, 7, 14 and 28 days ago (plus 364 for Dataset 1, 21 for Dataset 2)</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Recent sales are the best clue to tomorrow's sales</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extLst>
                  <a:ext uri="{0D108BD9-81ED-4DB2-BD59-A6C34878D82A}">
                    <a16:rowId xmlns:a16="http://schemas.microsoft.com/office/drawing/2014/main" val="10004"/>
                  </a:ext>
                </a:extLst>
              </a:tr>
              <a:tr h="457200">
                <a:tc>
                  <a:txBody>
                    <a:bodyPr/>
                    <a:lstStyle/>
                    <a:p>
                      <a:pPr marL="0" indent="0">
                        <a:buNone/>
                      </a:pPr>
                      <a:r>
                        <a:rPr lang="en-US" sz="1200" b="1" dirty="0">
                          <a:solidFill>
                            <a:srgbClr val="6B6B63"/>
                          </a:solidFill>
                          <a:latin typeface="Calibri" pitchFamily="34" charset="0"/>
                          <a:ea typeface="Calibri" pitchFamily="34" charset="-122"/>
                          <a:cs typeface="Calibri" pitchFamily="34" charset="-120"/>
                        </a:rPr>
                        <a:t>Rolling averages</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7 and 28 day mean (plus 7 day spread for Dataset 2)</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Smooths daily noise and shows the recent level</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extLst>
                  <a:ext uri="{0D108BD9-81ED-4DB2-BD59-A6C34878D82A}">
                    <a16:rowId xmlns:a16="http://schemas.microsoft.com/office/drawing/2014/main" val="10005"/>
                  </a:ext>
                </a:extLst>
              </a:tr>
              <a:tr h="457200">
                <a:tc>
                  <a:txBody>
                    <a:bodyPr/>
                    <a:lstStyle/>
                    <a:p>
                      <a:pPr marL="0" indent="0">
                        <a:buNone/>
                      </a:pPr>
                      <a:r>
                        <a:rPr lang="en-US" sz="1200" b="1" dirty="0">
                          <a:solidFill>
                            <a:srgbClr val="6B6B63"/>
                          </a:solidFill>
                          <a:latin typeface="Calibri" pitchFamily="34" charset="0"/>
                          <a:ea typeface="Calibri" pitchFamily="34" charset="-122"/>
                          <a:cs typeface="Calibri" pitchFamily="34" charset="-120"/>
                        </a:rPr>
                        <a:t>Series average</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Average sales of the series in the training data</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Gives each series its own baseline level</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extLst>
                  <a:ext uri="{0D108BD9-81ED-4DB2-BD59-A6C34878D82A}">
                    <a16:rowId xmlns:a16="http://schemas.microsoft.com/office/drawing/2014/main" val="1083376231"/>
                  </a:ext>
                </a:extLst>
              </a:tr>
            </a:tbl>
          </a:graphicData>
        </a:graphic>
      </p:graphicFrame>
      <p:sp>
        <p:nvSpPr>
          <p:cNvPr id="7" name="Shape 4"/>
          <p:cNvSpPr/>
          <p:nvPr/>
        </p:nvSpPr>
        <p:spPr>
          <a:xfrm>
            <a:off x="8549640" y="1920240"/>
            <a:ext cx="0" cy="4023360"/>
          </a:xfrm>
          <a:prstGeom prst="line">
            <a:avLst/>
          </a:prstGeom>
          <a:noFill/>
          <a:ln w="9525">
            <a:solidFill>
              <a:schemeClr val="accent3"/>
            </a:solidFill>
            <a:prstDash val="solid"/>
          </a:ln>
        </p:spPr>
        <p:txBody>
          <a:bodyPr/>
          <a:lstStyle/>
          <a:p>
            <a:endParaRPr/>
          </a:p>
        </p:txBody>
      </p:sp>
      <p:sp>
        <p:nvSpPr>
          <p:cNvPr id="8" name="Scale callout"/>
          <p:cNvSpPr txBox="1"/>
          <p:nvPr/>
        </p:nvSpPr>
        <p:spPr>
          <a:xfrm>
            <a:off x="8823960" y="1828800"/>
            <a:ext cx="3017520" cy="1280160"/>
          </a:xfrm>
          <a:prstGeom prst="rect">
            <a:avLst/>
          </a:prstGeom>
          <a:noFill/>
          <a:ln/>
        </p:spPr>
        <p:txBody>
          <a:bodyPr wrap="square" lIns="0" tIns="0" rIns="0" bIns="0" rtlCol="0" anchor="ctr"/>
          <a:lstStyle/>
          <a:p>
            <a:pPr marL="0" indent="0">
              <a:buNone/>
            </a:pPr>
            <a:r>
              <a:rPr lang="en-US" sz="4400" b="1" dirty="0">
                <a:solidFill>
                  <a:schemeClr val="accent2"/>
                </a:solidFill>
                <a:latin typeface="Cambria" pitchFamily="34" charset="0"/>
                <a:ea typeface="Cambria" pitchFamily="34" charset="-122"/>
                <a:cs typeface="Cambria" pitchFamily="34" charset="-120"/>
              </a:rPr>
              <a:t>16 and 22</a:t>
            </a:r>
            <a:endParaRPr lang="en-US" sz="7200" dirty="0"/>
          </a:p>
        </p:txBody>
      </p:sp>
      <p:sp>
        <p:nvSpPr>
          <p:cNvPr id="9" name="Text 6"/>
          <p:cNvSpPr txBox="1"/>
          <p:nvPr/>
        </p:nvSpPr>
        <p:spPr>
          <a:xfrm>
            <a:off x="8823960" y="3200400"/>
            <a:ext cx="2971800" cy="237744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features for Store Item Demand and Rossmann. All lags and rolling averages are calculated inside each series, so one store never leaks into another.</a:t>
            </a:r>
            <a:endParaRPr lang="en-US" sz="1600" dirty="0"/>
          </a:p>
        </p:txBody>
      </p:sp>
      <p:sp>
        <p:nvSpPr>
          <p:cNvPr id="10" name="Text 7"/>
          <p:cNvSpPr txBox="1"/>
          <p:nvPr/>
        </p:nvSpPr>
        <p:spPr>
          <a:xfrm>
            <a:off x="8823960" y="4663440"/>
            <a:ext cx="2971800" cy="1280160"/>
          </a:xfrm>
          <a:prstGeom prst="rect">
            <a:avLst/>
          </a:prstGeom>
          <a:noFill/>
          <a:ln/>
        </p:spPr>
        <p:txBody>
          <a:bodyPr wrap="square" lIns="0" tIns="0" rIns="0" bIns="0" rtlCol="0" anchor="t"/>
          <a:lstStyle/>
          <a:p>
            <a:pPr marL="0" indent="0">
              <a:buNone/>
            </a:pPr>
            <a:endParaRPr lang="en-US" sz="1400" dirty="0"/>
          </a:p>
        </p:txBody>
      </p:sp>
      <p:sp>
        <p:nvSpPr>
          <p:cNvPr id="25" name="Slide Number Placeholder 0"/>
          <p:cNvSpPr>
            <a:spLocks noGrp="1"/>
          </p:cNvSpPr>
          <p:nvPr>
            <p:ph type="sldNum" sz="quarter" idx="4294967295"/>
          </p:nvPr>
        </p:nvSpPr>
        <p:spPr>
          <a:xfrm>
            <a:off x="10698480" y="6473952"/>
            <a:ext cx="41148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 marker"/>
          <p:cNvSpPr/>
          <p:nvPr/>
        </p:nvSpPr>
        <p:spPr>
          <a:xfrm>
            <a:off x="548640" y="420624"/>
            <a:ext cx="118872" cy="118872"/>
          </a:xfrm>
          <a:prstGeom prst="rect">
            <a:avLst/>
          </a:prstGeom>
          <a:solidFill>
            <a:schemeClr val="accent2"/>
          </a:solidFill>
          <a:ln w="12700">
            <a:solidFill>
              <a:schemeClr val="accent2"/>
            </a:solidFill>
            <a:prstDash val="solid"/>
          </a:ln>
        </p:spPr>
        <p:txBody>
          <a:bodyPr/>
          <a:lstStyle/>
          <a:p>
            <a:endParaRPr/>
          </a:p>
        </p:txBody>
      </p:sp>
      <p:sp>
        <p:nvSpPr>
          <p:cNvPr id="3" name="Section label"/>
          <p:cNvSpPr txBox="1"/>
          <p:nvPr/>
        </p:nvSpPr>
        <p:spPr>
          <a:xfrm>
            <a:off x="777240" y="347472"/>
            <a:ext cx="5486400" cy="274320"/>
          </a:xfrm>
          <a:prstGeom prst="rect">
            <a:avLst/>
          </a:prstGeom>
          <a:noFill/>
          <a:ln/>
        </p:spPr>
        <p:txBody>
          <a:bodyPr wrap="square" lIns="0" tIns="0" rIns="0" bIns="0" rtlCol="0" anchor="ctr"/>
          <a:lstStyle/>
          <a:p>
            <a:pPr marL="0" indent="0">
              <a:buNone/>
            </a:pPr>
            <a:r>
              <a:rPr lang="en-US" sz="1200" b="1" kern="0" spc="300" dirty="0">
                <a:solidFill>
                  <a:schemeClr val="accent5"/>
                </a:solidFill>
              </a:rPr>
              <a:t>08  KDD STAGE 4</a:t>
            </a:r>
            <a:endParaRPr lang="en-US" sz="1200" dirty="0"/>
          </a:p>
        </p:txBody>
      </p:sp>
      <p:sp>
        <p:nvSpPr>
          <p:cNvPr id="4" name="Text 3"/>
          <p:cNvSpPr>
            <a:spLocks noGrp="1"/>
          </p:cNvSpPr>
          <p:nvPr>
            <p:ph idx="103" hasCustomPrompt="1"/>
          </p:nvPr>
        </p:nvSpPr>
        <p:spPr>
          <a:xfrm>
            <a:off x="548640" y="777240"/>
            <a:ext cx="11091672" cy="1005840"/>
          </a:xfrm>
          <a:prstGeom prst="rect">
            <a:avLst/>
          </a:prstGeom>
          <a:noFill/>
          <a:ln/>
        </p:spPr>
        <p:txBody>
          <a:bodyPr wrap="square" lIns="0" tIns="0" rIns="0" bIns="0" rtlCol="0" anchor="t"/>
          <a:lstStyle/>
          <a:p>
            <a:pPr marL="0" indent="0">
              <a:buNone/>
            </a:pPr>
            <a:r>
              <a:rPr lang="en-US" sz="3200" b="1" dirty="0">
                <a:solidFill>
                  <a:schemeClr val="tx1"/>
                </a:solidFill>
                <a:latin typeface="Cambria" pitchFamily="34" charset="0"/>
                <a:ea typeface="Cambria" pitchFamily="34" charset="-122"/>
                <a:cs typeface="Cambria" pitchFamily="34" charset="-120"/>
              </a:rPr>
              <a:t>Stage 4: data mining with five regression models</a:t>
            </a:r>
            <a:endParaRPr lang="en-US" sz="3200" dirty="0"/>
          </a:p>
        </p:txBody>
      </p:sp>
      <p:sp>
        <p:nvSpPr>
          <p:cNvPr id="5" name="Text 3"/>
          <p:cNvSpPr txBox="1"/>
          <p:nvPr/>
        </p:nvSpPr>
        <p:spPr>
          <a:xfrm>
            <a:off x="3657600" y="1783080"/>
            <a:ext cx="2743200" cy="256032"/>
          </a:xfrm>
          <a:prstGeom prst="rect">
            <a:avLst/>
          </a:prstGeom>
          <a:noFill/>
          <a:ln/>
        </p:spPr>
        <p:txBody>
          <a:bodyPr wrap="square" lIns="0" tIns="0" rIns="0" bIns="0" rtlCol="0" anchor="ctr"/>
          <a:lstStyle/>
          <a:p>
            <a:pPr marL="0" indent="0">
              <a:buNone/>
            </a:pPr>
            <a:r>
              <a:rPr lang="en-US" sz="1200" b="1" kern="0" spc="300" dirty="0">
                <a:solidFill>
                  <a:schemeClr val="accent5"/>
                </a:solidFill>
                <a:latin typeface="Calibri" pitchFamily="34" charset="0"/>
                <a:ea typeface="Calibri" pitchFamily="34" charset="-122"/>
                <a:cs typeface="Calibri" pitchFamily="34" charset="-120"/>
              </a:rPr>
              <a:t>HOW IT WORKS</a:t>
            </a:r>
            <a:endParaRPr lang="en-US" sz="1200" dirty="0"/>
          </a:p>
        </p:txBody>
      </p:sp>
      <p:sp>
        <p:nvSpPr>
          <p:cNvPr id="7" name="Shape 5"/>
          <p:cNvSpPr/>
          <p:nvPr/>
        </p:nvSpPr>
        <p:spPr>
          <a:xfrm>
            <a:off x="548640" y="2103120"/>
            <a:ext cx="11091672" cy="0"/>
          </a:xfrm>
          <a:prstGeom prst="line">
            <a:avLst/>
          </a:prstGeom>
          <a:noFill/>
          <a:ln w="9525">
            <a:solidFill>
              <a:schemeClr val="accent3"/>
            </a:solidFill>
            <a:prstDash val="solid"/>
          </a:ln>
        </p:spPr>
        <p:txBody>
          <a:bodyPr/>
          <a:lstStyle/>
          <a:p>
            <a:endParaRPr/>
          </a:p>
        </p:txBody>
      </p:sp>
      <p:sp>
        <p:nvSpPr>
          <p:cNvPr id="8" name="Text 6"/>
          <p:cNvSpPr txBox="1"/>
          <p:nvPr/>
        </p:nvSpPr>
        <p:spPr>
          <a:xfrm>
            <a:off x="685800" y="2148839"/>
            <a:ext cx="457200" cy="777240"/>
          </a:xfrm>
          <a:prstGeom prst="rect">
            <a:avLst/>
          </a:prstGeom>
          <a:noFill/>
          <a:ln/>
        </p:spPr>
        <p:txBody>
          <a:bodyPr wrap="square" lIns="0" tIns="0" rIns="0" bIns="0" rtlCol="0" anchor="ctr"/>
          <a:lstStyle/>
          <a:p>
            <a:pPr marL="0" indent="0">
              <a:buNone/>
            </a:pPr>
            <a:r>
              <a:rPr lang="en-US" sz="2800" b="1" dirty="0">
                <a:solidFill>
                  <a:schemeClr val="accent2"/>
                </a:solidFill>
                <a:latin typeface="Cambria" pitchFamily="34" charset="0"/>
                <a:ea typeface="Cambria" pitchFamily="34" charset="-122"/>
                <a:cs typeface="Cambria" pitchFamily="34" charset="-120"/>
              </a:rPr>
              <a:t>1</a:t>
            </a:r>
            <a:endParaRPr lang="en-US" sz="2800" dirty="0"/>
          </a:p>
        </p:txBody>
      </p:sp>
      <p:sp>
        <p:nvSpPr>
          <p:cNvPr id="9" name="Text 7"/>
          <p:cNvSpPr txBox="1"/>
          <p:nvPr/>
        </p:nvSpPr>
        <p:spPr>
          <a:xfrm>
            <a:off x="1188720" y="2148839"/>
            <a:ext cx="2377440" cy="77724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Linear Regression</a:t>
            </a:r>
            <a:endParaRPr lang="en-US" sz="2000" dirty="0"/>
          </a:p>
        </p:txBody>
      </p:sp>
      <p:sp>
        <p:nvSpPr>
          <p:cNvPr id="10" name="Text 8"/>
          <p:cNvSpPr txBox="1"/>
          <p:nvPr/>
        </p:nvSpPr>
        <p:spPr>
          <a:xfrm>
            <a:off x="3657600" y="2148839"/>
            <a:ext cx="5303520" cy="777240"/>
          </a:xfrm>
          <a:prstGeom prst="rect">
            <a:avLst/>
          </a:prstGeom>
          <a:noFill/>
          <a:ln/>
        </p:spPr>
        <p:txBody>
          <a:bodyPr wrap="square" lIns="0" tIns="0" rIns="0" bIns="0" rtlCol="0" anchor="ctr"/>
          <a:lstStyle/>
          <a:p>
            <a:pPr marL="0" indent="0">
              <a:buNone/>
            </a:pPr>
            <a:r>
              <a:rPr lang="en-US" sz="1400" dirty="0">
                <a:solidFill>
                  <a:schemeClr val="tx1"/>
                </a:solidFill>
                <a:latin typeface="Calibri" pitchFamily="34" charset="0"/>
                <a:ea typeface="Calibri" pitchFamily="34" charset="-122"/>
                <a:cs typeface="Calibri" pitchFamily="34" charset="-120"/>
              </a:rPr>
              <a:t>Fits one straight-line equation to all features. Simple and fast, but cannot capture curves or sudden changes.</a:t>
            </a:r>
            <a:endParaRPr lang="en-US" sz="1400" dirty="0"/>
          </a:p>
        </p:txBody>
      </p:sp>
      <p:sp>
        <p:nvSpPr>
          <p:cNvPr id="12" name="Shape 10"/>
          <p:cNvSpPr/>
          <p:nvPr/>
        </p:nvSpPr>
        <p:spPr>
          <a:xfrm>
            <a:off x="548640" y="2944368"/>
            <a:ext cx="11091672" cy="0"/>
          </a:xfrm>
          <a:prstGeom prst="line">
            <a:avLst/>
          </a:prstGeom>
          <a:noFill/>
          <a:ln w="9525">
            <a:solidFill>
              <a:schemeClr val="accent3"/>
            </a:solidFill>
            <a:prstDash val="solid"/>
          </a:ln>
        </p:spPr>
        <p:txBody>
          <a:bodyPr/>
          <a:lstStyle/>
          <a:p>
            <a:endParaRPr/>
          </a:p>
        </p:txBody>
      </p:sp>
      <p:sp>
        <p:nvSpPr>
          <p:cNvPr id="13" name="Text 11"/>
          <p:cNvSpPr txBox="1"/>
          <p:nvPr/>
        </p:nvSpPr>
        <p:spPr>
          <a:xfrm>
            <a:off x="685800" y="2990087"/>
            <a:ext cx="457200" cy="777240"/>
          </a:xfrm>
          <a:prstGeom prst="rect">
            <a:avLst/>
          </a:prstGeom>
          <a:noFill/>
          <a:ln/>
        </p:spPr>
        <p:txBody>
          <a:bodyPr wrap="square" lIns="0" tIns="0" rIns="0" bIns="0" rtlCol="0" anchor="ctr"/>
          <a:lstStyle/>
          <a:p>
            <a:pPr marL="0" indent="0">
              <a:buNone/>
            </a:pPr>
            <a:r>
              <a:rPr lang="en-US" sz="2800" b="1" dirty="0">
                <a:solidFill>
                  <a:schemeClr val="accent2"/>
                </a:solidFill>
                <a:latin typeface="Cambria" pitchFamily="34" charset="0"/>
                <a:ea typeface="Cambria" pitchFamily="34" charset="-122"/>
                <a:cs typeface="Cambria" pitchFamily="34" charset="-120"/>
              </a:rPr>
              <a:t>2</a:t>
            </a:r>
            <a:endParaRPr lang="en-US" sz="2800" dirty="0"/>
          </a:p>
        </p:txBody>
      </p:sp>
      <p:sp>
        <p:nvSpPr>
          <p:cNvPr id="14" name="Text 12"/>
          <p:cNvSpPr txBox="1"/>
          <p:nvPr/>
        </p:nvSpPr>
        <p:spPr>
          <a:xfrm>
            <a:off x="1188720" y="2990087"/>
            <a:ext cx="2377440" cy="77724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Decision Tree</a:t>
            </a:r>
            <a:endParaRPr lang="en-US" sz="2000" dirty="0"/>
          </a:p>
        </p:txBody>
      </p:sp>
      <p:sp>
        <p:nvSpPr>
          <p:cNvPr id="15" name="Text 13"/>
          <p:cNvSpPr txBox="1"/>
          <p:nvPr/>
        </p:nvSpPr>
        <p:spPr>
          <a:xfrm>
            <a:off x="3657600" y="2990087"/>
            <a:ext cx="5303520" cy="777240"/>
          </a:xfrm>
          <a:prstGeom prst="rect">
            <a:avLst/>
          </a:prstGeom>
          <a:noFill/>
          <a:ln/>
        </p:spPr>
        <p:txBody>
          <a:bodyPr wrap="square" lIns="0" tIns="0" rIns="0" bIns="0" rtlCol="0" anchor="ctr"/>
          <a:lstStyle/>
          <a:p>
            <a:pPr marL="0" indent="0">
              <a:buNone/>
            </a:pPr>
            <a:r>
              <a:rPr lang="en-US" sz="1400" dirty="0">
                <a:solidFill>
                  <a:schemeClr val="tx1"/>
                </a:solidFill>
                <a:latin typeface="Calibri" pitchFamily="34" charset="0"/>
                <a:ea typeface="Calibri" pitchFamily="34" charset="-122"/>
                <a:cs typeface="Calibri" pitchFamily="34" charset="-120"/>
              </a:rPr>
              <a:t>Asks a chain of yes/no questions (is it a weekend? is there a promo?) and predicts the average of each group. Depth is limited to 12.</a:t>
            </a:r>
            <a:endParaRPr lang="en-US" sz="1400" dirty="0"/>
          </a:p>
        </p:txBody>
      </p:sp>
      <p:sp>
        <p:nvSpPr>
          <p:cNvPr id="17" name="Shape 15"/>
          <p:cNvSpPr/>
          <p:nvPr/>
        </p:nvSpPr>
        <p:spPr>
          <a:xfrm>
            <a:off x="548640" y="3785615"/>
            <a:ext cx="11091672" cy="0"/>
          </a:xfrm>
          <a:prstGeom prst="line">
            <a:avLst/>
          </a:prstGeom>
          <a:noFill/>
          <a:ln w="9525">
            <a:solidFill>
              <a:schemeClr val="accent3"/>
            </a:solidFill>
            <a:prstDash val="solid"/>
          </a:ln>
        </p:spPr>
        <p:txBody>
          <a:bodyPr/>
          <a:lstStyle/>
          <a:p>
            <a:endParaRPr/>
          </a:p>
        </p:txBody>
      </p:sp>
      <p:sp>
        <p:nvSpPr>
          <p:cNvPr id="18" name="Text 16"/>
          <p:cNvSpPr txBox="1"/>
          <p:nvPr/>
        </p:nvSpPr>
        <p:spPr>
          <a:xfrm>
            <a:off x="685800" y="3831335"/>
            <a:ext cx="457200" cy="777240"/>
          </a:xfrm>
          <a:prstGeom prst="rect">
            <a:avLst/>
          </a:prstGeom>
          <a:noFill/>
          <a:ln/>
        </p:spPr>
        <p:txBody>
          <a:bodyPr wrap="square" lIns="0" tIns="0" rIns="0" bIns="0" rtlCol="0" anchor="ctr"/>
          <a:lstStyle/>
          <a:p>
            <a:pPr marL="0" indent="0">
              <a:buNone/>
            </a:pPr>
            <a:r>
              <a:rPr lang="en-US" sz="2800" b="1" dirty="0">
                <a:solidFill>
                  <a:schemeClr val="accent2"/>
                </a:solidFill>
                <a:latin typeface="Cambria" pitchFamily="34" charset="0"/>
                <a:ea typeface="Cambria" pitchFamily="34" charset="-122"/>
                <a:cs typeface="Cambria" pitchFamily="34" charset="-120"/>
              </a:rPr>
              <a:t>3</a:t>
            </a:r>
            <a:endParaRPr lang="en-US" sz="2800" dirty="0"/>
          </a:p>
        </p:txBody>
      </p:sp>
      <p:sp>
        <p:nvSpPr>
          <p:cNvPr id="19" name="Text 17"/>
          <p:cNvSpPr txBox="1"/>
          <p:nvPr/>
        </p:nvSpPr>
        <p:spPr>
          <a:xfrm>
            <a:off x="1188720" y="3831335"/>
            <a:ext cx="2377440" cy="77724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Random Forest</a:t>
            </a:r>
            <a:endParaRPr lang="en-US" sz="2000" dirty="0"/>
          </a:p>
        </p:txBody>
      </p:sp>
      <p:sp>
        <p:nvSpPr>
          <p:cNvPr id="20" name="Text 18"/>
          <p:cNvSpPr txBox="1"/>
          <p:nvPr/>
        </p:nvSpPr>
        <p:spPr>
          <a:xfrm>
            <a:off x="3657600" y="3831335"/>
            <a:ext cx="5303520" cy="777240"/>
          </a:xfrm>
          <a:prstGeom prst="rect">
            <a:avLst/>
          </a:prstGeom>
          <a:noFill/>
          <a:ln/>
        </p:spPr>
        <p:txBody>
          <a:bodyPr wrap="square" lIns="0" tIns="0" rIns="0" bIns="0" rtlCol="0" anchor="ctr"/>
          <a:lstStyle/>
          <a:p>
            <a:pPr marL="0" indent="0">
              <a:buNone/>
            </a:pPr>
            <a:r>
              <a:rPr lang="en-US" sz="1400" dirty="0">
                <a:solidFill>
                  <a:schemeClr val="tx1"/>
                </a:solidFill>
                <a:latin typeface="Calibri" pitchFamily="34" charset="0"/>
                <a:ea typeface="Calibri" pitchFamily="34" charset="-122"/>
                <a:cs typeface="Calibri" pitchFamily="34" charset="-120"/>
              </a:rPr>
              <a:t>Builds 60 trees on random samples of the data and averages their answers, so one weak tree matters less.</a:t>
            </a:r>
            <a:endParaRPr lang="en-US" sz="1400" dirty="0"/>
          </a:p>
        </p:txBody>
      </p:sp>
      <p:sp>
        <p:nvSpPr>
          <p:cNvPr id="23" name="Shape 21"/>
          <p:cNvSpPr/>
          <p:nvPr/>
        </p:nvSpPr>
        <p:spPr>
          <a:xfrm>
            <a:off x="548640" y="4626864"/>
            <a:ext cx="11091672" cy="0"/>
          </a:xfrm>
          <a:prstGeom prst="line">
            <a:avLst/>
          </a:prstGeom>
          <a:noFill/>
          <a:ln w="9525">
            <a:solidFill>
              <a:schemeClr val="accent3"/>
            </a:solidFill>
            <a:prstDash val="solid"/>
          </a:ln>
        </p:spPr>
        <p:txBody>
          <a:bodyPr/>
          <a:lstStyle/>
          <a:p>
            <a:endParaRPr/>
          </a:p>
        </p:txBody>
      </p:sp>
      <p:sp>
        <p:nvSpPr>
          <p:cNvPr id="24" name="Text 22"/>
          <p:cNvSpPr txBox="1"/>
          <p:nvPr/>
        </p:nvSpPr>
        <p:spPr>
          <a:xfrm>
            <a:off x="685800" y="4672584"/>
            <a:ext cx="457200" cy="777240"/>
          </a:xfrm>
          <a:prstGeom prst="rect">
            <a:avLst/>
          </a:prstGeom>
          <a:noFill/>
          <a:ln/>
        </p:spPr>
        <p:txBody>
          <a:bodyPr wrap="square" lIns="0" tIns="0" rIns="0" bIns="0" rtlCol="0" anchor="ctr"/>
          <a:lstStyle/>
          <a:p>
            <a:pPr marL="0" indent="0">
              <a:buNone/>
            </a:pPr>
            <a:r>
              <a:rPr lang="en-US" sz="2800" b="1" dirty="0">
                <a:solidFill>
                  <a:schemeClr val="accent2"/>
                </a:solidFill>
                <a:latin typeface="Cambria" pitchFamily="34" charset="0"/>
                <a:ea typeface="Cambria" pitchFamily="34" charset="-122"/>
                <a:cs typeface="Cambria" pitchFamily="34" charset="-120"/>
              </a:rPr>
              <a:t>4</a:t>
            </a:r>
            <a:endParaRPr lang="en-US" sz="2800" dirty="0"/>
          </a:p>
        </p:txBody>
      </p:sp>
      <p:sp>
        <p:nvSpPr>
          <p:cNvPr id="25" name="Text 23"/>
          <p:cNvSpPr txBox="1"/>
          <p:nvPr/>
        </p:nvSpPr>
        <p:spPr>
          <a:xfrm>
            <a:off x="1188720" y="4672584"/>
            <a:ext cx="2377440" cy="77724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Gradient Boosting</a:t>
            </a:r>
            <a:endParaRPr lang="en-US" sz="2000" dirty="0"/>
          </a:p>
        </p:txBody>
      </p:sp>
      <p:sp>
        <p:nvSpPr>
          <p:cNvPr id="26" name="Text 24"/>
          <p:cNvSpPr txBox="1"/>
          <p:nvPr/>
        </p:nvSpPr>
        <p:spPr>
          <a:xfrm>
            <a:off x="3657600" y="4672584"/>
            <a:ext cx="5303520" cy="777240"/>
          </a:xfrm>
          <a:prstGeom prst="rect">
            <a:avLst/>
          </a:prstGeom>
          <a:noFill/>
          <a:ln/>
        </p:spPr>
        <p:txBody>
          <a:bodyPr wrap="square" lIns="0" tIns="0" rIns="0" bIns="0" rtlCol="0" anchor="ctr"/>
          <a:lstStyle/>
          <a:p>
            <a:pPr marL="0" indent="0">
              <a:buNone/>
            </a:pPr>
            <a:r>
              <a:rPr lang="en-US" sz="1400" dirty="0">
                <a:solidFill>
                  <a:schemeClr val="tx1"/>
                </a:solidFill>
                <a:latin typeface="Calibri" pitchFamily="34" charset="0"/>
                <a:ea typeface="Calibri" pitchFamily="34" charset="-122"/>
                <a:cs typeface="Calibri" pitchFamily="34" charset="-120"/>
              </a:rPr>
              <a:t>Builds trees one after another, each fixing the mistakes of the trees before it (histogram based, 400 rounds).</a:t>
            </a:r>
            <a:endParaRPr lang="en-US" sz="1400" dirty="0"/>
          </a:p>
        </p:txBody>
      </p:sp>
      <p:sp>
        <p:nvSpPr>
          <p:cNvPr id="28" name="Shape 26"/>
          <p:cNvSpPr/>
          <p:nvPr/>
        </p:nvSpPr>
        <p:spPr>
          <a:xfrm>
            <a:off x="548640" y="5468112"/>
            <a:ext cx="11091672" cy="0"/>
          </a:xfrm>
          <a:prstGeom prst="line">
            <a:avLst/>
          </a:prstGeom>
          <a:noFill/>
          <a:ln w="9525">
            <a:solidFill>
              <a:schemeClr val="accent3"/>
            </a:solidFill>
            <a:prstDash val="solid"/>
          </a:ln>
        </p:spPr>
        <p:txBody>
          <a:bodyPr/>
          <a:lstStyle/>
          <a:p>
            <a:endParaRPr/>
          </a:p>
        </p:txBody>
      </p:sp>
      <p:sp>
        <p:nvSpPr>
          <p:cNvPr id="29" name="Text 27"/>
          <p:cNvSpPr txBox="1"/>
          <p:nvPr/>
        </p:nvSpPr>
        <p:spPr>
          <a:xfrm>
            <a:off x="685800" y="5513832"/>
            <a:ext cx="457200" cy="777240"/>
          </a:xfrm>
          <a:prstGeom prst="rect">
            <a:avLst/>
          </a:prstGeom>
          <a:noFill/>
          <a:ln/>
        </p:spPr>
        <p:txBody>
          <a:bodyPr wrap="square" lIns="0" tIns="0" rIns="0" bIns="0" rtlCol="0" anchor="ctr"/>
          <a:lstStyle/>
          <a:p>
            <a:pPr marL="0" indent="0">
              <a:buNone/>
            </a:pPr>
            <a:r>
              <a:rPr lang="en-US" sz="2800" b="1" dirty="0">
                <a:solidFill>
                  <a:schemeClr val="accent2"/>
                </a:solidFill>
                <a:latin typeface="Cambria" pitchFamily="34" charset="0"/>
                <a:ea typeface="Cambria" pitchFamily="34" charset="-122"/>
                <a:cs typeface="Cambria" pitchFamily="34" charset="-120"/>
              </a:rPr>
              <a:t>5</a:t>
            </a:r>
            <a:endParaRPr lang="en-US" sz="2800" dirty="0"/>
          </a:p>
        </p:txBody>
      </p:sp>
      <p:sp>
        <p:nvSpPr>
          <p:cNvPr id="30" name="Text 28"/>
          <p:cNvSpPr txBox="1"/>
          <p:nvPr/>
        </p:nvSpPr>
        <p:spPr>
          <a:xfrm>
            <a:off x="1188720" y="5513832"/>
            <a:ext cx="2377440" cy="77724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LightGBM</a:t>
            </a:r>
            <a:endParaRPr lang="en-US" sz="2000" dirty="0"/>
          </a:p>
        </p:txBody>
      </p:sp>
      <p:sp>
        <p:nvSpPr>
          <p:cNvPr id="31" name="Text 29"/>
          <p:cNvSpPr txBox="1"/>
          <p:nvPr/>
        </p:nvSpPr>
        <p:spPr>
          <a:xfrm>
            <a:off x="3657600" y="5513832"/>
            <a:ext cx="5303520" cy="777240"/>
          </a:xfrm>
          <a:prstGeom prst="rect">
            <a:avLst/>
          </a:prstGeom>
          <a:noFill/>
          <a:ln/>
        </p:spPr>
        <p:txBody>
          <a:bodyPr wrap="square" lIns="0" tIns="0" rIns="0" bIns="0" rtlCol="0" anchor="ctr"/>
          <a:lstStyle/>
          <a:p>
            <a:pPr marL="0" indent="0">
              <a:buNone/>
            </a:pPr>
            <a:r>
              <a:rPr lang="en-US" sz="1400" dirty="0">
                <a:solidFill>
                  <a:schemeClr val="tx1"/>
                </a:solidFill>
                <a:latin typeface="Calibri" pitchFamily="34" charset="0"/>
                <a:ea typeface="Calibri" pitchFamily="34" charset="-122"/>
                <a:cs typeface="Calibri" pitchFamily="34" charset="-120"/>
              </a:rPr>
              <a:t>A fast boosting method. It adds 800 small trees, each correcting the remaining errors, and splits the most useful leaf first.</a:t>
            </a:r>
            <a:endParaRPr lang="en-US" sz="1400" dirty="0"/>
          </a:p>
        </p:txBody>
      </p:sp>
      <p:sp>
        <p:nvSpPr>
          <p:cNvPr id="33" name="Shape 31"/>
          <p:cNvSpPr/>
          <p:nvPr/>
        </p:nvSpPr>
        <p:spPr>
          <a:xfrm>
            <a:off x="548640" y="6309360"/>
            <a:ext cx="11091672" cy="0"/>
          </a:xfrm>
          <a:prstGeom prst="line">
            <a:avLst/>
          </a:prstGeom>
          <a:noFill/>
          <a:ln w="9525">
            <a:solidFill>
              <a:schemeClr val="accent3"/>
            </a:solidFill>
            <a:prstDash val="solid"/>
          </a:ln>
        </p:spPr>
        <p:txBody>
          <a:bodyPr/>
          <a:lstStyle/>
          <a:p>
            <a:endParaRPr/>
          </a:p>
        </p:txBody>
      </p:sp>
      <p:sp>
        <p:nvSpPr>
          <p:cNvPr id="34" name="Slide Number Placeholder 0"/>
          <p:cNvSpPr>
            <a:spLocks noGrp="1"/>
          </p:cNvSpPr>
          <p:nvPr>
            <p:ph type="sldNum" sz="quarter" idx="4294967295"/>
          </p:nvPr>
        </p:nvSpPr>
        <p:spPr>
          <a:xfrm>
            <a:off x="10698480" y="6473952"/>
            <a:ext cx="41148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 marker"/>
          <p:cNvSpPr/>
          <p:nvPr/>
        </p:nvSpPr>
        <p:spPr>
          <a:xfrm>
            <a:off x="548640" y="420624"/>
            <a:ext cx="118872" cy="118872"/>
          </a:xfrm>
          <a:prstGeom prst="rect">
            <a:avLst/>
          </a:prstGeom>
          <a:solidFill>
            <a:schemeClr val="accent2"/>
          </a:solidFill>
          <a:ln w="12700">
            <a:solidFill>
              <a:schemeClr val="accent2"/>
            </a:solidFill>
            <a:prstDash val="solid"/>
          </a:ln>
        </p:spPr>
        <p:txBody>
          <a:bodyPr/>
          <a:lstStyle/>
          <a:p>
            <a:endParaRPr/>
          </a:p>
        </p:txBody>
      </p:sp>
      <p:sp>
        <p:nvSpPr>
          <p:cNvPr id="3" name="Section label"/>
          <p:cNvSpPr txBox="1"/>
          <p:nvPr/>
        </p:nvSpPr>
        <p:spPr>
          <a:xfrm>
            <a:off x="777240" y="347472"/>
            <a:ext cx="5486400" cy="274320"/>
          </a:xfrm>
          <a:prstGeom prst="rect">
            <a:avLst/>
          </a:prstGeom>
          <a:noFill/>
          <a:ln/>
        </p:spPr>
        <p:txBody>
          <a:bodyPr wrap="square" lIns="0" tIns="0" rIns="0" bIns="0" rtlCol="0" anchor="ctr"/>
          <a:lstStyle/>
          <a:p>
            <a:pPr marL="0" indent="0">
              <a:buNone/>
            </a:pPr>
            <a:r>
              <a:rPr lang="en-US" sz="1200" b="1" kern="0" spc="300" dirty="0">
                <a:solidFill>
                  <a:schemeClr val="accent5"/>
                </a:solidFill>
              </a:rPr>
              <a:t>09  KDD STAGE 5 | EVALUATION SETUP</a:t>
            </a:r>
            <a:endParaRPr lang="en-US" sz="1200" dirty="0"/>
          </a:p>
        </p:txBody>
      </p:sp>
      <p:sp>
        <p:nvSpPr>
          <p:cNvPr id="4" name="Text 3"/>
          <p:cNvSpPr>
            <a:spLocks noGrp="1"/>
          </p:cNvSpPr>
          <p:nvPr>
            <p:ph idx="103" hasCustomPrompt="1"/>
          </p:nvPr>
        </p:nvSpPr>
        <p:spPr>
          <a:xfrm>
            <a:off x="548640" y="777240"/>
            <a:ext cx="11091672" cy="1005840"/>
          </a:xfrm>
          <a:prstGeom prst="rect">
            <a:avLst/>
          </a:prstGeom>
          <a:noFill/>
          <a:ln/>
        </p:spPr>
        <p:txBody>
          <a:bodyPr wrap="square" lIns="0" tIns="0" rIns="0" bIns="0" rtlCol="0" anchor="t"/>
          <a:lstStyle/>
          <a:p>
            <a:pPr marL="0" indent="0">
              <a:buNone/>
            </a:pPr>
            <a:r>
              <a:rPr lang="en-US" sz="3200" b="1" dirty="0">
                <a:solidFill>
                  <a:schemeClr val="tx1"/>
                </a:solidFill>
                <a:latin typeface="Cambria" pitchFamily="34" charset="0"/>
                <a:ea typeface="Cambria" pitchFamily="34" charset="-122"/>
                <a:cs typeface="Cambria" pitchFamily="34" charset="-120"/>
              </a:rPr>
              <a:t>Stage 5: evaluation metrics and validation setup</a:t>
            </a:r>
            <a:endParaRPr lang="en-US" sz="3200" dirty="0"/>
          </a:p>
        </p:txBody>
      </p:sp>
      <p:sp>
        <p:nvSpPr>
          <p:cNvPr id="5" name="Text 3"/>
          <p:cNvSpPr txBox="1"/>
          <p:nvPr/>
        </p:nvSpPr>
        <p:spPr>
          <a:xfrm>
            <a:off x="3657600" y="1783080"/>
            <a:ext cx="2743200" cy="256032"/>
          </a:xfrm>
          <a:prstGeom prst="rect">
            <a:avLst/>
          </a:prstGeom>
          <a:noFill/>
          <a:ln/>
        </p:spPr>
        <p:txBody>
          <a:bodyPr wrap="square" lIns="0" tIns="0" rIns="0" bIns="0" rtlCol="0" anchor="ctr"/>
          <a:lstStyle/>
          <a:p>
            <a:pPr marL="0" indent="0">
              <a:buNone/>
            </a:pPr>
            <a:r>
              <a:rPr lang="en-US" sz="1200" b="1" kern="0" spc="300" dirty="0">
                <a:solidFill>
                  <a:schemeClr val="accent5"/>
                </a:solidFill>
                <a:latin typeface="Calibri" pitchFamily="34" charset="0"/>
                <a:ea typeface="Calibri" pitchFamily="34" charset="-122"/>
                <a:cs typeface="Calibri" pitchFamily="34" charset="-120"/>
              </a:rPr>
              <a:t>WHAT IT MEASURES</a:t>
            </a:r>
            <a:endParaRPr lang="en-US" sz="1200" dirty="0"/>
          </a:p>
        </p:txBody>
      </p:sp>
      <p:sp>
        <p:nvSpPr>
          <p:cNvPr id="7" name="Shape 5"/>
          <p:cNvSpPr/>
          <p:nvPr/>
        </p:nvSpPr>
        <p:spPr>
          <a:xfrm>
            <a:off x="548640" y="2103120"/>
            <a:ext cx="8412480" cy="0"/>
          </a:xfrm>
          <a:prstGeom prst="line">
            <a:avLst/>
          </a:prstGeom>
          <a:noFill/>
          <a:ln w="9525">
            <a:solidFill>
              <a:schemeClr val="accent3"/>
            </a:solidFill>
            <a:prstDash val="solid"/>
          </a:ln>
        </p:spPr>
        <p:txBody>
          <a:bodyPr/>
          <a:lstStyle/>
          <a:p>
            <a:endParaRPr/>
          </a:p>
        </p:txBody>
      </p:sp>
      <p:sp>
        <p:nvSpPr>
          <p:cNvPr id="8" name="Text 6"/>
          <p:cNvSpPr txBox="1"/>
          <p:nvPr/>
        </p:nvSpPr>
        <p:spPr>
          <a:xfrm>
            <a:off x="685800" y="2148839"/>
            <a:ext cx="457200" cy="777240"/>
          </a:xfrm>
          <a:prstGeom prst="rect">
            <a:avLst/>
          </a:prstGeom>
          <a:noFill/>
          <a:ln/>
        </p:spPr>
        <p:txBody>
          <a:bodyPr wrap="square" lIns="0" tIns="0" rIns="0" bIns="0" rtlCol="0" anchor="ctr"/>
          <a:lstStyle/>
          <a:p>
            <a:pPr marL="0" indent="0">
              <a:buNone/>
            </a:pPr>
            <a:r>
              <a:rPr lang="en-US" sz="2800" b="1" dirty="0">
                <a:solidFill>
                  <a:schemeClr val="accent2"/>
                </a:solidFill>
                <a:latin typeface="Cambria" pitchFamily="34" charset="0"/>
                <a:ea typeface="Cambria" pitchFamily="34" charset="-122"/>
                <a:cs typeface="Cambria" pitchFamily="34" charset="-120"/>
              </a:rPr>
              <a:t>1</a:t>
            </a:r>
            <a:endParaRPr lang="en-US" sz="2800" dirty="0"/>
          </a:p>
        </p:txBody>
      </p:sp>
      <p:sp>
        <p:nvSpPr>
          <p:cNvPr id="9" name="Text 7"/>
          <p:cNvSpPr txBox="1"/>
          <p:nvPr/>
        </p:nvSpPr>
        <p:spPr>
          <a:xfrm>
            <a:off x="1188720" y="2148839"/>
            <a:ext cx="2377440" cy="77724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MAE</a:t>
            </a:r>
            <a:endParaRPr lang="en-US" sz="2000" dirty="0"/>
          </a:p>
        </p:txBody>
      </p:sp>
      <p:sp>
        <p:nvSpPr>
          <p:cNvPr id="10" name="Text 8"/>
          <p:cNvSpPr txBox="1"/>
          <p:nvPr/>
        </p:nvSpPr>
        <p:spPr>
          <a:xfrm>
            <a:off x="3657600" y="2148839"/>
            <a:ext cx="5303520" cy="777240"/>
          </a:xfrm>
          <a:prstGeom prst="rect">
            <a:avLst/>
          </a:prstGeom>
          <a:noFill/>
          <a:ln/>
        </p:spPr>
        <p:txBody>
          <a:bodyPr wrap="square" lIns="0" tIns="0" rIns="0" bIns="0" rtlCol="0" anchor="ctr"/>
          <a:lstStyle/>
          <a:p>
            <a:pPr marL="0" indent="0">
              <a:buNone/>
            </a:pPr>
            <a:r>
              <a:rPr lang="en-US" sz="1400" dirty="0">
                <a:solidFill>
                  <a:schemeClr val="tx1"/>
                </a:solidFill>
                <a:latin typeface="Calibri" pitchFamily="34" charset="0"/>
                <a:ea typeface="Calibri" pitchFamily="34" charset="-122"/>
                <a:cs typeface="Calibri" pitchFamily="34" charset="-120"/>
              </a:rPr>
              <a:t>Mean absolute error: the average size of the miss. An MAE of 6 means the forecast is off by about 6 units on average.</a:t>
            </a:r>
            <a:endParaRPr lang="en-US" sz="1400" dirty="0"/>
          </a:p>
        </p:txBody>
      </p:sp>
      <p:sp>
        <p:nvSpPr>
          <p:cNvPr id="12" name="Shape 10"/>
          <p:cNvSpPr/>
          <p:nvPr/>
        </p:nvSpPr>
        <p:spPr>
          <a:xfrm>
            <a:off x="548640" y="2944368"/>
            <a:ext cx="8412480" cy="0"/>
          </a:xfrm>
          <a:prstGeom prst="line">
            <a:avLst/>
          </a:prstGeom>
          <a:noFill/>
          <a:ln w="9525">
            <a:solidFill>
              <a:schemeClr val="accent3"/>
            </a:solidFill>
            <a:prstDash val="solid"/>
          </a:ln>
        </p:spPr>
        <p:txBody>
          <a:bodyPr/>
          <a:lstStyle/>
          <a:p>
            <a:endParaRPr/>
          </a:p>
        </p:txBody>
      </p:sp>
      <p:sp>
        <p:nvSpPr>
          <p:cNvPr id="13" name="Text 11"/>
          <p:cNvSpPr txBox="1"/>
          <p:nvPr/>
        </p:nvSpPr>
        <p:spPr>
          <a:xfrm>
            <a:off x="685800" y="2990087"/>
            <a:ext cx="457200" cy="777240"/>
          </a:xfrm>
          <a:prstGeom prst="rect">
            <a:avLst/>
          </a:prstGeom>
          <a:noFill/>
          <a:ln/>
        </p:spPr>
        <p:txBody>
          <a:bodyPr wrap="square" lIns="0" tIns="0" rIns="0" bIns="0" rtlCol="0" anchor="ctr"/>
          <a:lstStyle/>
          <a:p>
            <a:pPr marL="0" indent="0">
              <a:buNone/>
            </a:pPr>
            <a:r>
              <a:rPr lang="en-US" sz="2800" b="1" dirty="0">
                <a:solidFill>
                  <a:schemeClr val="accent2"/>
                </a:solidFill>
                <a:latin typeface="Cambria" pitchFamily="34" charset="0"/>
                <a:ea typeface="Cambria" pitchFamily="34" charset="-122"/>
                <a:cs typeface="Cambria" pitchFamily="34" charset="-120"/>
              </a:rPr>
              <a:t>2</a:t>
            </a:r>
            <a:endParaRPr lang="en-US" sz="2800" dirty="0"/>
          </a:p>
        </p:txBody>
      </p:sp>
      <p:sp>
        <p:nvSpPr>
          <p:cNvPr id="14" name="Text 12"/>
          <p:cNvSpPr txBox="1"/>
          <p:nvPr/>
        </p:nvSpPr>
        <p:spPr>
          <a:xfrm>
            <a:off x="1188720" y="2990087"/>
            <a:ext cx="2377440" cy="77724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MSE</a:t>
            </a:r>
            <a:endParaRPr lang="en-US" sz="2000" dirty="0"/>
          </a:p>
        </p:txBody>
      </p:sp>
      <p:sp>
        <p:nvSpPr>
          <p:cNvPr id="15" name="Text 13"/>
          <p:cNvSpPr txBox="1"/>
          <p:nvPr/>
        </p:nvSpPr>
        <p:spPr>
          <a:xfrm>
            <a:off x="3657600" y="2990087"/>
            <a:ext cx="5303520" cy="777240"/>
          </a:xfrm>
          <a:prstGeom prst="rect">
            <a:avLst/>
          </a:prstGeom>
          <a:noFill/>
          <a:ln/>
        </p:spPr>
        <p:txBody>
          <a:bodyPr wrap="square" lIns="0" tIns="0" rIns="0" bIns="0" rtlCol="0" anchor="ctr"/>
          <a:lstStyle/>
          <a:p>
            <a:pPr marL="0" indent="0">
              <a:buNone/>
            </a:pPr>
            <a:r>
              <a:rPr lang="en-US" sz="1400" dirty="0">
                <a:solidFill>
                  <a:schemeClr val="tx1"/>
                </a:solidFill>
                <a:latin typeface="Calibri" pitchFamily="34" charset="0"/>
                <a:ea typeface="Calibri" pitchFamily="34" charset="-122"/>
                <a:cs typeface="Calibri" pitchFamily="34" charset="-120"/>
              </a:rPr>
              <a:t>Mean squared error: the average of the squared misses, so large misses count much more.</a:t>
            </a:r>
            <a:endParaRPr lang="en-US" sz="1400" dirty="0"/>
          </a:p>
        </p:txBody>
      </p:sp>
      <p:sp>
        <p:nvSpPr>
          <p:cNvPr id="17" name="Shape 15"/>
          <p:cNvSpPr/>
          <p:nvPr/>
        </p:nvSpPr>
        <p:spPr>
          <a:xfrm>
            <a:off x="548640" y="3785615"/>
            <a:ext cx="8412480" cy="0"/>
          </a:xfrm>
          <a:prstGeom prst="line">
            <a:avLst/>
          </a:prstGeom>
          <a:noFill/>
          <a:ln w="9525">
            <a:solidFill>
              <a:schemeClr val="accent3"/>
            </a:solidFill>
            <a:prstDash val="solid"/>
          </a:ln>
        </p:spPr>
        <p:txBody>
          <a:bodyPr/>
          <a:lstStyle/>
          <a:p>
            <a:endParaRPr/>
          </a:p>
        </p:txBody>
      </p:sp>
      <p:sp>
        <p:nvSpPr>
          <p:cNvPr id="18" name="Text 16"/>
          <p:cNvSpPr txBox="1"/>
          <p:nvPr/>
        </p:nvSpPr>
        <p:spPr>
          <a:xfrm>
            <a:off x="685800" y="3831335"/>
            <a:ext cx="457200" cy="777240"/>
          </a:xfrm>
          <a:prstGeom prst="rect">
            <a:avLst/>
          </a:prstGeom>
          <a:noFill/>
          <a:ln/>
        </p:spPr>
        <p:txBody>
          <a:bodyPr wrap="square" lIns="0" tIns="0" rIns="0" bIns="0" rtlCol="0" anchor="ctr"/>
          <a:lstStyle/>
          <a:p>
            <a:pPr marL="0" indent="0">
              <a:buNone/>
            </a:pPr>
            <a:r>
              <a:rPr lang="en-US" sz="2800" b="1" dirty="0">
                <a:solidFill>
                  <a:schemeClr val="accent2"/>
                </a:solidFill>
                <a:latin typeface="Cambria" pitchFamily="34" charset="0"/>
                <a:ea typeface="Cambria" pitchFamily="34" charset="-122"/>
                <a:cs typeface="Cambria" pitchFamily="34" charset="-120"/>
              </a:rPr>
              <a:t>3</a:t>
            </a:r>
            <a:endParaRPr lang="en-US" sz="2800" dirty="0"/>
          </a:p>
        </p:txBody>
      </p:sp>
      <p:sp>
        <p:nvSpPr>
          <p:cNvPr id="19" name="Text 17"/>
          <p:cNvSpPr txBox="1"/>
          <p:nvPr/>
        </p:nvSpPr>
        <p:spPr>
          <a:xfrm>
            <a:off x="1188720" y="3831335"/>
            <a:ext cx="2377440" cy="77724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RMSE</a:t>
            </a:r>
            <a:endParaRPr lang="en-US" sz="2000" dirty="0"/>
          </a:p>
        </p:txBody>
      </p:sp>
      <p:sp>
        <p:nvSpPr>
          <p:cNvPr id="20" name="Text 18"/>
          <p:cNvSpPr txBox="1"/>
          <p:nvPr/>
        </p:nvSpPr>
        <p:spPr>
          <a:xfrm>
            <a:off x="3657600" y="3831335"/>
            <a:ext cx="5303520" cy="777240"/>
          </a:xfrm>
          <a:prstGeom prst="rect">
            <a:avLst/>
          </a:prstGeom>
          <a:noFill/>
          <a:ln/>
        </p:spPr>
        <p:txBody>
          <a:bodyPr wrap="square" lIns="0" tIns="0" rIns="0" bIns="0" rtlCol="0" anchor="ctr"/>
          <a:lstStyle/>
          <a:p>
            <a:pPr marL="0" indent="0">
              <a:buNone/>
            </a:pPr>
            <a:r>
              <a:rPr lang="en-US" sz="1400" dirty="0">
                <a:solidFill>
                  <a:schemeClr val="tx1"/>
                </a:solidFill>
                <a:latin typeface="Calibri" pitchFamily="34" charset="0"/>
                <a:ea typeface="Calibri" pitchFamily="34" charset="-122"/>
                <a:cs typeface="Calibri" pitchFamily="34" charset="-120"/>
              </a:rPr>
              <a:t>Square root of MSE, back in sales units. A gap between RMSE and MAE means a few large misses.</a:t>
            </a:r>
            <a:endParaRPr lang="en-US" sz="1400" dirty="0"/>
          </a:p>
        </p:txBody>
      </p:sp>
      <p:sp>
        <p:nvSpPr>
          <p:cNvPr id="22" name="Why panel"/>
          <p:cNvSpPr/>
          <p:nvPr/>
        </p:nvSpPr>
        <p:spPr>
          <a:xfrm>
            <a:off x="9098280" y="2176272"/>
            <a:ext cx="2542032" cy="4023360"/>
          </a:xfrm>
          <a:prstGeom prst="rect">
            <a:avLst/>
          </a:prstGeom>
          <a:solidFill>
            <a:srgbClr val="F4D9CF"/>
          </a:solidFill>
          <a:ln w="12700">
            <a:solidFill>
              <a:srgbClr val="F4D9CF"/>
            </a:solidFill>
            <a:prstDash val="solid"/>
          </a:ln>
        </p:spPr>
        <p:txBody>
          <a:bodyPr/>
          <a:lstStyle/>
          <a:p>
            <a:endParaRPr/>
          </a:p>
        </p:txBody>
      </p:sp>
      <p:sp>
        <p:nvSpPr>
          <p:cNvPr id="23" name="Shape 21"/>
          <p:cNvSpPr/>
          <p:nvPr/>
        </p:nvSpPr>
        <p:spPr>
          <a:xfrm>
            <a:off x="548640" y="4626864"/>
            <a:ext cx="8412480" cy="0"/>
          </a:xfrm>
          <a:prstGeom prst="line">
            <a:avLst/>
          </a:prstGeom>
          <a:noFill/>
          <a:ln w="9525">
            <a:solidFill>
              <a:schemeClr val="accent3"/>
            </a:solidFill>
            <a:prstDash val="solid"/>
          </a:ln>
        </p:spPr>
        <p:txBody>
          <a:bodyPr/>
          <a:lstStyle/>
          <a:p>
            <a:endParaRPr/>
          </a:p>
        </p:txBody>
      </p:sp>
      <p:sp>
        <p:nvSpPr>
          <p:cNvPr id="24" name="Text 22"/>
          <p:cNvSpPr txBox="1"/>
          <p:nvPr/>
        </p:nvSpPr>
        <p:spPr>
          <a:xfrm>
            <a:off x="685800" y="4672584"/>
            <a:ext cx="457200" cy="777240"/>
          </a:xfrm>
          <a:prstGeom prst="rect">
            <a:avLst/>
          </a:prstGeom>
          <a:noFill/>
          <a:ln/>
        </p:spPr>
        <p:txBody>
          <a:bodyPr wrap="square" lIns="0" tIns="0" rIns="0" bIns="0" rtlCol="0" anchor="ctr"/>
          <a:lstStyle/>
          <a:p>
            <a:pPr marL="0" indent="0">
              <a:buNone/>
            </a:pPr>
            <a:r>
              <a:rPr lang="en-US" sz="2800" b="1" dirty="0">
                <a:solidFill>
                  <a:schemeClr val="accent2"/>
                </a:solidFill>
                <a:latin typeface="Cambria" pitchFamily="34" charset="0"/>
                <a:ea typeface="Cambria" pitchFamily="34" charset="-122"/>
                <a:cs typeface="Cambria" pitchFamily="34" charset="-120"/>
              </a:rPr>
              <a:t>4</a:t>
            </a:r>
            <a:endParaRPr lang="en-US" sz="2800" dirty="0"/>
          </a:p>
        </p:txBody>
      </p:sp>
      <p:sp>
        <p:nvSpPr>
          <p:cNvPr id="25" name="Text 23"/>
          <p:cNvSpPr txBox="1"/>
          <p:nvPr/>
        </p:nvSpPr>
        <p:spPr>
          <a:xfrm>
            <a:off x="1188720" y="4672584"/>
            <a:ext cx="2377440" cy="77724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WAPE</a:t>
            </a:r>
            <a:endParaRPr lang="en-US" sz="2000" dirty="0"/>
          </a:p>
        </p:txBody>
      </p:sp>
      <p:sp>
        <p:nvSpPr>
          <p:cNvPr id="26" name="Text 24"/>
          <p:cNvSpPr txBox="1"/>
          <p:nvPr/>
        </p:nvSpPr>
        <p:spPr>
          <a:xfrm>
            <a:off x="3657600" y="4672584"/>
            <a:ext cx="5303520" cy="777240"/>
          </a:xfrm>
          <a:prstGeom prst="rect">
            <a:avLst/>
          </a:prstGeom>
          <a:noFill/>
          <a:ln/>
        </p:spPr>
        <p:txBody>
          <a:bodyPr wrap="square" lIns="0" tIns="0" rIns="0" bIns="0" rtlCol="0" anchor="ctr"/>
          <a:lstStyle/>
          <a:p>
            <a:pPr marL="0" indent="0">
              <a:buNone/>
            </a:pPr>
            <a:r>
              <a:rPr lang="en-US" sz="1400" dirty="0">
                <a:solidFill>
                  <a:schemeClr val="tx1"/>
                </a:solidFill>
                <a:latin typeface="Calibri" pitchFamily="34" charset="0"/>
                <a:ea typeface="Calibri" pitchFamily="34" charset="-122"/>
                <a:cs typeface="Calibri" pitchFamily="34" charset="-120"/>
              </a:rPr>
              <a:t>Total absolute error as a percent of total actual sales. It has no units, so it suits comparing datasets.</a:t>
            </a:r>
            <a:endParaRPr lang="en-US" sz="1400" dirty="0"/>
          </a:p>
        </p:txBody>
      </p:sp>
      <p:sp>
        <p:nvSpPr>
          <p:cNvPr id="28" name="Shape 26"/>
          <p:cNvSpPr/>
          <p:nvPr/>
        </p:nvSpPr>
        <p:spPr>
          <a:xfrm>
            <a:off x="548640" y="5468112"/>
            <a:ext cx="8412480" cy="0"/>
          </a:xfrm>
          <a:prstGeom prst="line">
            <a:avLst/>
          </a:prstGeom>
          <a:noFill/>
          <a:ln w="9525">
            <a:solidFill>
              <a:schemeClr val="accent3"/>
            </a:solidFill>
            <a:prstDash val="solid"/>
          </a:ln>
        </p:spPr>
        <p:txBody>
          <a:bodyPr/>
          <a:lstStyle/>
          <a:p>
            <a:endParaRPr/>
          </a:p>
        </p:txBody>
      </p:sp>
      <p:sp>
        <p:nvSpPr>
          <p:cNvPr id="29" name="Text 27"/>
          <p:cNvSpPr txBox="1"/>
          <p:nvPr/>
        </p:nvSpPr>
        <p:spPr>
          <a:xfrm>
            <a:off x="685800" y="5513832"/>
            <a:ext cx="457200" cy="777240"/>
          </a:xfrm>
          <a:prstGeom prst="rect">
            <a:avLst/>
          </a:prstGeom>
          <a:noFill/>
          <a:ln/>
        </p:spPr>
        <p:txBody>
          <a:bodyPr wrap="square" lIns="0" tIns="0" rIns="0" bIns="0" rtlCol="0" anchor="ctr"/>
          <a:lstStyle/>
          <a:p>
            <a:pPr marL="0" indent="0">
              <a:buNone/>
            </a:pPr>
            <a:r>
              <a:rPr lang="en-US" sz="2800" b="1" dirty="0">
                <a:solidFill>
                  <a:schemeClr val="accent2"/>
                </a:solidFill>
                <a:latin typeface="Cambria" pitchFamily="34" charset="0"/>
                <a:ea typeface="Cambria" pitchFamily="34" charset="-122"/>
                <a:cs typeface="Cambria" pitchFamily="34" charset="-120"/>
              </a:rPr>
              <a:t>5</a:t>
            </a:r>
            <a:endParaRPr lang="en-US" sz="2800" dirty="0"/>
          </a:p>
        </p:txBody>
      </p:sp>
      <p:sp>
        <p:nvSpPr>
          <p:cNvPr id="30" name="Text 28"/>
          <p:cNvSpPr txBox="1"/>
          <p:nvPr/>
        </p:nvSpPr>
        <p:spPr>
          <a:xfrm>
            <a:off x="1188720" y="5513832"/>
            <a:ext cx="2377440" cy="77724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R²</a:t>
            </a:r>
            <a:endParaRPr lang="en-US" sz="2000" dirty="0"/>
          </a:p>
        </p:txBody>
      </p:sp>
      <p:sp>
        <p:nvSpPr>
          <p:cNvPr id="31" name="Text 29"/>
          <p:cNvSpPr txBox="1"/>
          <p:nvPr/>
        </p:nvSpPr>
        <p:spPr>
          <a:xfrm>
            <a:off x="3657600" y="5513832"/>
            <a:ext cx="5303520" cy="777240"/>
          </a:xfrm>
          <a:prstGeom prst="rect">
            <a:avLst/>
          </a:prstGeom>
          <a:noFill/>
          <a:ln/>
        </p:spPr>
        <p:txBody>
          <a:bodyPr wrap="square" lIns="0" tIns="0" rIns="0" bIns="0" rtlCol="0" anchor="ctr"/>
          <a:lstStyle/>
          <a:p>
            <a:pPr marL="0" indent="0">
              <a:buNone/>
            </a:pPr>
            <a:r>
              <a:rPr lang="en-US" sz="1400" dirty="0">
                <a:solidFill>
                  <a:schemeClr val="tx1"/>
                </a:solidFill>
                <a:latin typeface="Calibri" pitchFamily="34" charset="0"/>
                <a:ea typeface="Calibri" pitchFamily="34" charset="-122"/>
                <a:cs typeface="Calibri" pitchFamily="34" charset="-120"/>
              </a:rPr>
              <a:t>The share of the variation in actual sales that the model explains. 1 is perfect; 0 is no better than the average.</a:t>
            </a:r>
            <a:endParaRPr lang="en-US" sz="1400" dirty="0"/>
          </a:p>
        </p:txBody>
      </p:sp>
      <p:sp>
        <p:nvSpPr>
          <p:cNvPr id="33" name="Shape 31"/>
          <p:cNvSpPr/>
          <p:nvPr/>
        </p:nvSpPr>
        <p:spPr>
          <a:xfrm>
            <a:off x="548640" y="6309360"/>
            <a:ext cx="11091672" cy="0"/>
          </a:xfrm>
          <a:prstGeom prst="line">
            <a:avLst/>
          </a:prstGeom>
          <a:noFill/>
          <a:ln w="9525">
            <a:solidFill>
              <a:schemeClr val="accent3"/>
            </a:solidFill>
            <a:prstDash val="solid"/>
          </a:ln>
        </p:spPr>
        <p:txBody>
          <a:bodyPr/>
          <a:lstStyle/>
          <a:p>
            <a:endParaRPr/>
          </a:p>
        </p:txBody>
      </p:sp>
      <p:sp>
        <p:nvSpPr>
          <p:cNvPr id="34" name="Slide Number Placeholder 0"/>
          <p:cNvSpPr>
            <a:spLocks noGrp="1"/>
          </p:cNvSpPr>
          <p:nvPr>
            <p:ph type="sldNum" sz="quarter" idx="4294967295"/>
          </p:nvPr>
        </p:nvSpPr>
        <p:spPr>
          <a:xfrm>
            <a:off x="10698480" y="6473952"/>
            <a:ext cx="41148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lang="en-US" b="0"/>
              <a:t>10</a:t>
            </a:fld>
            <a:endParaRPr lang="en-US"/>
          </a:p>
        </p:txBody>
      </p:sp>
      <p:sp>
        <p:nvSpPr>
          <p:cNvPr id="35" name="Val heading"/>
          <p:cNvSpPr txBox="1"/>
          <p:nvPr/>
        </p:nvSpPr>
        <p:spPr>
          <a:xfrm>
            <a:off x="9281160" y="2359152"/>
            <a:ext cx="2194560" cy="274320"/>
          </a:xfrm>
          <a:prstGeom prst="rect">
            <a:avLst/>
          </a:prstGeom>
          <a:noFill/>
        </p:spPr>
        <p:txBody>
          <a:bodyPr wrap="square" lIns="0" tIns="0" rIns="0" bIns="0">
            <a:spAutoFit/>
          </a:bodyPr>
          <a:lstStyle/>
          <a:p>
            <a:pPr>
              <a:spcAft>
                <a:spcPts val="600"/>
              </a:spcAft>
            </a:pPr>
            <a:r>
              <a:rPr sz="1200" b="1">
                <a:solidFill>
                  <a:srgbClr val="D9674F"/>
                </a:solidFill>
              </a:rPr>
              <a:t>VALIDATION SETUP</a:t>
            </a:r>
          </a:p>
        </p:txBody>
      </p:sp>
      <p:sp>
        <p:nvSpPr>
          <p:cNvPr id="36" name="Val body"/>
          <p:cNvSpPr txBox="1"/>
          <p:nvPr/>
        </p:nvSpPr>
        <p:spPr>
          <a:xfrm>
            <a:off x="9281160" y="2743200"/>
            <a:ext cx="2194560" cy="3383280"/>
          </a:xfrm>
          <a:prstGeom prst="rect">
            <a:avLst/>
          </a:prstGeom>
          <a:noFill/>
        </p:spPr>
        <p:txBody>
          <a:bodyPr wrap="square" lIns="0" tIns="0" rIns="0" bIns="0">
            <a:spAutoFit/>
          </a:bodyPr>
          <a:lstStyle/>
          <a:p>
            <a:pPr>
              <a:spcAft>
                <a:spcPts val="600"/>
              </a:spcAft>
            </a:pPr>
            <a:r>
              <a:rPr sz="1400" b="1">
                <a:solidFill>
                  <a:srgbClr val="2B2B2B"/>
                </a:solidFill>
              </a:rPr>
              <a:t>Chronological split: </a:t>
            </a:r>
            <a:r>
              <a:rPr sz="1400" b="0">
                <a:solidFill>
                  <a:srgbClr val="2B2B2B"/>
                </a:solidFill>
              </a:rPr>
              <a:t>train on earlier days, test on the latest days. No shuffling.</a:t>
            </a:r>
          </a:p>
          <a:p>
            <a:pPr>
              <a:spcAft>
                <a:spcPts val="600"/>
              </a:spcAft>
            </a:pPr>
            <a:r>
              <a:rPr sz="1400" b="1">
                <a:solidFill>
                  <a:srgbClr val="2B2B2B"/>
                </a:solidFill>
              </a:rPr>
              <a:t>Dataset 1: </a:t>
            </a:r>
            <a:r>
              <a:rPr sz="1400" b="0">
                <a:solidFill>
                  <a:srgbClr val="2B2B2B"/>
                </a:solidFill>
              </a:rPr>
              <a:t>last 90 days, 45,000 rows.</a:t>
            </a:r>
          </a:p>
          <a:p>
            <a:pPr>
              <a:spcAft>
                <a:spcPts val="600"/>
              </a:spcAft>
            </a:pPr>
            <a:r>
              <a:rPr sz="1400" b="1">
                <a:solidFill>
                  <a:srgbClr val="2B2B2B"/>
                </a:solidFill>
              </a:rPr>
              <a:t>Dataset 2: </a:t>
            </a:r>
            <a:r>
              <a:rPr sz="1400" b="0">
                <a:solidFill>
                  <a:srgbClr val="2B2B2B"/>
                </a:solidFill>
              </a:rPr>
              <a:t>last 42 days, 40,282 open-store rows.</a:t>
            </a:r>
          </a:p>
          <a:p>
            <a:pPr>
              <a:spcAft>
                <a:spcPts val="600"/>
              </a:spcAft>
            </a:pPr>
            <a:r>
              <a:rPr sz="1400" b="1">
                <a:solidFill>
                  <a:srgbClr val="2B2B2B"/>
                </a:solidFill>
              </a:rPr>
              <a:t>Same features and split </a:t>
            </a:r>
            <a:r>
              <a:rPr sz="1400" b="0">
                <a:solidFill>
                  <a:srgbClr val="2B2B2B"/>
                </a:solidFill>
              </a:rPr>
              <a:t>for all five models. Best model = lowest MAE.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ection marker"/>
          <p:cNvSpPr/>
          <p:nvPr/>
        </p:nvSpPr>
        <p:spPr>
          <a:xfrm>
            <a:off x="548640" y="420624"/>
            <a:ext cx="118872" cy="118872"/>
          </a:xfrm>
          <a:prstGeom prst="rect">
            <a:avLst/>
          </a:prstGeom>
          <a:solidFill>
            <a:schemeClr val="accent2"/>
          </a:solidFill>
          <a:ln w="12700">
            <a:solidFill>
              <a:schemeClr val="accent2"/>
            </a:solidFill>
            <a:prstDash val="solid"/>
          </a:ln>
        </p:spPr>
        <p:txBody>
          <a:bodyPr/>
          <a:lstStyle/>
          <a:p>
            <a:endParaRPr/>
          </a:p>
        </p:txBody>
      </p:sp>
      <p:sp>
        <p:nvSpPr>
          <p:cNvPr id="3" name="Section label"/>
          <p:cNvSpPr txBox="1"/>
          <p:nvPr/>
        </p:nvSpPr>
        <p:spPr>
          <a:xfrm>
            <a:off x="777240" y="347472"/>
            <a:ext cx="5486400" cy="274320"/>
          </a:xfrm>
          <a:prstGeom prst="rect">
            <a:avLst/>
          </a:prstGeom>
          <a:noFill/>
          <a:ln/>
        </p:spPr>
        <p:txBody>
          <a:bodyPr wrap="square" lIns="0" tIns="0" rIns="0" bIns="0" rtlCol="0" anchor="ctr"/>
          <a:lstStyle/>
          <a:p>
            <a:pPr marL="0" indent="0">
              <a:buNone/>
            </a:pPr>
            <a:r>
              <a:rPr lang="en-US" sz="1200" b="1" kern="0" spc="300" dirty="0">
                <a:solidFill>
                  <a:schemeClr val="accent5"/>
                </a:solidFill>
              </a:rPr>
              <a:t>10  KDD STAGE 5 | STORE ITEM DEMAND</a:t>
            </a:r>
            <a:endParaRPr lang="en-US" sz="1200" dirty="0"/>
          </a:p>
        </p:txBody>
      </p:sp>
      <p:sp>
        <p:nvSpPr>
          <p:cNvPr id="4" name="Text 3"/>
          <p:cNvSpPr>
            <a:spLocks noGrp="1"/>
          </p:cNvSpPr>
          <p:nvPr>
            <p:ph idx="103" hasCustomPrompt="1"/>
          </p:nvPr>
        </p:nvSpPr>
        <p:spPr>
          <a:xfrm>
            <a:off x="548640" y="777240"/>
            <a:ext cx="11091672" cy="1005840"/>
          </a:xfrm>
          <a:prstGeom prst="rect">
            <a:avLst/>
          </a:prstGeom>
          <a:noFill/>
          <a:ln/>
        </p:spPr>
        <p:txBody>
          <a:bodyPr wrap="square" lIns="0" tIns="0" rIns="0" bIns="0" rtlCol="0" anchor="t"/>
          <a:lstStyle/>
          <a:p>
            <a:pPr marL="0" indent="0">
              <a:buNone/>
            </a:pPr>
            <a:r>
              <a:rPr lang="en-US" sz="3200" b="1" dirty="0">
                <a:solidFill>
                  <a:schemeClr val="tx1"/>
                </a:solidFill>
                <a:latin typeface="Cambria" pitchFamily="34" charset="0"/>
                <a:ea typeface="Cambria" pitchFamily="34" charset="-122"/>
                <a:cs typeface="Cambria" pitchFamily="34" charset="-120"/>
              </a:rPr>
              <a:t>Results: Store Item Demand</a:t>
            </a:r>
            <a:endParaRPr lang="en-US" sz="3200" dirty="0"/>
          </a:p>
        </p:txBody>
      </p:sp>
      <p:graphicFrame>
        <p:nvGraphicFramePr>
          <p:cNvPr id="13" name="Store Item Demand metrics table"/>
          <p:cNvGraphicFramePr>
            <a:graphicFrameLocks noGrp="1"/>
          </p:cNvGraphicFramePr>
          <p:nvPr>
            <p:extLst>
              <p:ext uri="{D42A27DB-BD31-4B8C-83A1-F6EECF244321}">
                <p14:modId xmlns:p14="http://schemas.microsoft.com/office/powerpoint/2010/main" val="1579011935"/>
              </p:ext>
            </p:extLst>
          </p:nvPr>
        </p:nvGraphicFramePr>
        <p:xfrm>
          <a:off x="548640" y="1874519"/>
          <a:ext cx="5989320" cy="2304288"/>
        </p:xfrm>
        <a:graphic>
          <a:graphicData uri="http://schemas.openxmlformats.org/drawingml/2006/table">
            <a:tbl>
              <a:tblPr/>
              <a:tblGrid>
                <a:gridCol w="173736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1005840">
                  <a:extLst>
                    <a:ext uri="{9D8B030D-6E8A-4147-A177-3AD203B41FA5}">
                      <a16:colId xmlns:a16="http://schemas.microsoft.com/office/drawing/2014/main" val="253957704"/>
                    </a:ext>
                  </a:extLst>
                </a:gridCol>
                <a:gridCol w="77724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tblGrid>
              <a:tr h="384048">
                <a:tc>
                  <a:txBody>
                    <a:bodyPr/>
                    <a:lstStyle/>
                    <a:p>
                      <a:pPr marL="0" indent="0" algn="l">
                        <a:buNone/>
                      </a:pPr>
                      <a:r>
                        <a:rPr lang="en-US" sz="1400" b="1" dirty="0">
                          <a:solidFill>
                            <a:srgbClr val="F6F1E7"/>
                          </a:solidFill>
                          <a:latin typeface="Calibri" pitchFamily="34" charset="0"/>
                          <a:ea typeface="Calibri" pitchFamily="34" charset="-122"/>
                          <a:cs typeface="Calibri" pitchFamily="34" charset="-120"/>
                        </a:rPr>
                        <a:t>Model</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1F3D2E"/>
                    </a:solidFill>
                  </a:tcPr>
                </a:tc>
                <a:tc>
                  <a:txBody>
                    <a:bodyPr/>
                    <a:lstStyle/>
                    <a:p>
                      <a:pPr marL="0" indent="0" algn="r">
                        <a:buNone/>
                      </a:pPr>
                      <a:r>
                        <a:rPr lang="en-US" sz="1400" b="1" dirty="0">
                          <a:solidFill>
                            <a:srgbClr val="F6F1E7"/>
                          </a:solidFill>
                          <a:latin typeface="Calibri" pitchFamily="34" charset="0"/>
                          <a:ea typeface="Calibri" pitchFamily="34" charset="-122"/>
                          <a:cs typeface="Calibri" pitchFamily="34" charset="-120"/>
                        </a:rPr>
                        <a:t>MAE</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1F3D2E"/>
                    </a:solidFill>
                  </a:tcPr>
                </a:tc>
                <a:tc>
                  <a:txBody>
                    <a:bodyPr/>
                    <a:lstStyle/>
                    <a:p>
                      <a:pPr marL="0" indent="0" algn="r">
                        <a:buNone/>
                      </a:pPr>
                      <a:r>
                        <a:rPr lang="en-US" sz="1400" b="1" dirty="0">
                          <a:solidFill>
                            <a:srgbClr val="F6F1E7"/>
                          </a:solidFill>
                          <a:latin typeface="Calibri" pitchFamily="34" charset="0"/>
                          <a:ea typeface="Calibri" pitchFamily="34" charset="-122"/>
                          <a:cs typeface="Calibri" pitchFamily="34" charset="-120"/>
                        </a:rPr>
                        <a:t>MSE</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1F3D2E"/>
                    </a:solidFill>
                  </a:tcPr>
                </a:tc>
                <a:tc>
                  <a:txBody>
                    <a:bodyPr/>
                    <a:lstStyle/>
                    <a:p>
                      <a:pPr marL="0" indent="0" algn="r">
                        <a:buNone/>
                      </a:pPr>
                      <a:r>
                        <a:rPr lang="en-US" sz="1400" b="1" dirty="0">
                          <a:solidFill>
                            <a:srgbClr val="F6F1E7"/>
                          </a:solidFill>
                          <a:latin typeface="Calibri" pitchFamily="34" charset="0"/>
                          <a:ea typeface="Calibri" pitchFamily="34" charset="-122"/>
                          <a:cs typeface="Calibri" pitchFamily="34" charset="-120"/>
                        </a:rPr>
                        <a:t>RMSE</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1F3D2E"/>
                    </a:solidFill>
                  </a:tcPr>
                </a:tc>
                <a:tc>
                  <a:txBody>
                    <a:bodyPr/>
                    <a:lstStyle/>
                    <a:p>
                      <a:pPr marL="0" indent="0" algn="r">
                        <a:buNone/>
                      </a:pPr>
                      <a:r>
                        <a:rPr lang="en-US" sz="1400" b="1" dirty="0">
                          <a:solidFill>
                            <a:srgbClr val="F6F1E7"/>
                          </a:solidFill>
                          <a:latin typeface="Calibri" pitchFamily="34" charset="0"/>
                          <a:ea typeface="Calibri" pitchFamily="34" charset="-122"/>
                          <a:cs typeface="Calibri" pitchFamily="34" charset="-120"/>
                        </a:rPr>
                        <a:t>WAPE %</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1F3D2E"/>
                    </a:solidFill>
                  </a:tcPr>
                </a:tc>
                <a:tc>
                  <a:txBody>
                    <a:bodyPr/>
                    <a:lstStyle/>
                    <a:p>
                      <a:pPr marL="0" indent="0" algn="r">
                        <a:buNone/>
                      </a:pPr>
                      <a:r>
                        <a:rPr lang="en-US" sz="1400" b="1" dirty="0">
                          <a:solidFill>
                            <a:srgbClr val="F6F1E7"/>
                          </a:solidFill>
                          <a:latin typeface="Calibri" pitchFamily="34" charset="0"/>
                          <a:ea typeface="Calibri" pitchFamily="34" charset="-122"/>
                          <a:cs typeface="Calibri" pitchFamily="34" charset="-120"/>
                        </a:rPr>
                        <a:t>R²</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1F3D2E"/>
                    </a:solidFill>
                  </a:tcPr>
                </a:tc>
                <a:extLst>
                  <a:ext uri="{0D108BD9-81ED-4DB2-BD59-A6C34878D82A}">
                    <a16:rowId xmlns:a16="http://schemas.microsoft.com/office/drawing/2014/main" val="10000"/>
                  </a:ext>
                </a:extLst>
              </a:tr>
              <a:tr h="384048">
                <a:tc>
                  <a:txBody>
                    <a:bodyPr/>
                    <a:lstStyle/>
                    <a:p>
                      <a:pPr marL="0" indent="0">
                        <a:buNone/>
                      </a:pPr>
                      <a:r>
                        <a:rPr lang="en-US" sz="1400" b="1" dirty="0">
                          <a:solidFill>
                            <a:srgbClr val="2B2B2B"/>
                          </a:solidFill>
                          <a:latin typeface="Calibri" pitchFamily="34" charset="0"/>
                          <a:ea typeface="Calibri" pitchFamily="34" charset="-122"/>
                          <a:cs typeface="Calibri" pitchFamily="34" charset="-120"/>
                        </a:rPr>
                        <a:t>LightGBM</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4D9CF"/>
                    </a:solidFill>
                  </a:tcPr>
                </a:tc>
                <a:tc>
                  <a:txBody>
                    <a:bodyPr/>
                    <a:lstStyle/>
                    <a:p>
                      <a:pPr marL="0" indent="0" algn="r">
                        <a:buNone/>
                      </a:pPr>
                      <a:r>
                        <a:rPr lang="en-US" sz="1400" b="1" dirty="0">
                          <a:solidFill>
                            <a:srgbClr val="2B2B2B"/>
                          </a:solidFill>
                          <a:latin typeface="Calibri" pitchFamily="34" charset="0"/>
                          <a:ea typeface="Calibri" pitchFamily="34" charset="-122"/>
                          <a:cs typeface="Calibri" pitchFamily="34" charset="-120"/>
                        </a:rPr>
                        <a:t>5.87</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4D9CF"/>
                    </a:solidFill>
                  </a:tcPr>
                </a:tc>
                <a:tc>
                  <a:txBody>
                    <a:bodyPr/>
                    <a:lstStyle/>
                    <a:p>
                      <a:pPr marL="0" indent="0" algn="r">
                        <a:buNone/>
                      </a:pPr>
                      <a:r>
                        <a:rPr lang="en-US" sz="1400" b="1" dirty="0">
                          <a:solidFill>
                            <a:srgbClr val="2B2B2B"/>
                          </a:solidFill>
                          <a:latin typeface="Calibri" pitchFamily="34" charset="0"/>
                          <a:ea typeface="Calibri" pitchFamily="34" charset="-122"/>
                          <a:cs typeface="Calibri" pitchFamily="34" charset="-120"/>
                        </a:rPr>
                        <a:t>57.91</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4D9CF"/>
                    </a:solidFill>
                  </a:tcPr>
                </a:tc>
                <a:tc>
                  <a:txBody>
                    <a:bodyPr/>
                    <a:lstStyle/>
                    <a:p>
                      <a:pPr marL="0" indent="0" algn="r">
                        <a:buNone/>
                      </a:pPr>
                      <a:r>
                        <a:rPr lang="en-US" sz="1400" b="1" dirty="0">
                          <a:solidFill>
                            <a:srgbClr val="2B2B2B"/>
                          </a:solidFill>
                          <a:latin typeface="Calibri" pitchFamily="34" charset="0"/>
                          <a:ea typeface="Calibri" pitchFamily="34" charset="-122"/>
                          <a:cs typeface="Calibri" pitchFamily="34" charset="-120"/>
                        </a:rPr>
                        <a:t>7.61</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4D9CF"/>
                    </a:solidFill>
                  </a:tcPr>
                </a:tc>
                <a:tc>
                  <a:txBody>
                    <a:bodyPr/>
                    <a:lstStyle/>
                    <a:p>
                      <a:pPr marL="0" indent="0" algn="r">
                        <a:buNone/>
                      </a:pPr>
                      <a:r>
                        <a:rPr lang="en-US" sz="1400" b="1" dirty="0">
                          <a:solidFill>
                            <a:srgbClr val="2B2B2B"/>
                          </a:solidFill>
                          <a:latin typeface="Calibri" pitchFamily="34" charset="0"/>
                          <a:ea typeface="Calibri" pitchFamily="34" charset="-122"/>
                          <a:cs typeface="Calibri" pitchFamily="34" charset="-120"/>
                        </a:rPr>
                        <a:t>10.75</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4D9CF"/>
                    </a:solidFill>
                  </a:tcPr>
                </a:tc>
                <a:tc>
                  <a:txBody>
                    <a:bodyPr/>
                    <a:lstStyle/>
                    <a:p>
                      <a:pPr marL="0" indent="0" algn="r">
                        <a:buNone/>
                      </a:pPr>
                      <a:r>
                        <a:rPr lang="en-US" sz="1400" b="1" dirty="0">
                          <a:solidFill>
                            <a:srgbClr val="2B2B2B"/>
                          </a:solidFill>
                          <a:latin typeface="Calibri" pitchFamily="34" charset="0"/>
                          <a:ea typeface="Calibri" pitchFamily="34" charset="-122"/>
                          <a:cs typeface="Calibri" pitchFamily="34" charset="-120"/>
                        </a:rPr>
                        <a:t>0.9284</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4D9CF"/>
                    </a:solidFill>
                  </a:tcPr>
                </a:tc>
                <a:extLst>
                  <a:ext uri="{0D108BD9-81ED-4DB2-BD59-A6C34878D82A}">
                    <a16:rowId xmlns:a16="http://schemas.microsoft.com/office/drawing/2014/main" val="10001"/>
                  </a:ext>
                </a:extLst>
              </a:tr>
              <a:tr h="384048">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Gradient Boosting</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5.91</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58.66</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7.66</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10.82</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0.9275</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extLst>
                  <a:ext uri="{0D108BD9-81ED-4DB2-BD59-A6C34878D82A}">
                    <a16:rowId xmlns:a16="http://schemas.microsoft.com/office/drawing/2014/main" val="10002"/>
                  </a:ext>
                </a:extLst>
              </a:tr>
              <a:tr h="384048">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Random Forest</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6.12</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63.54</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7.97</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11.20</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0.9215</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extLst>
                  <a:ext uri="{0D108BD9-81ED-4DB2-BD59-A6C34878D82A}">
                    <a16:rowId xmlns:a16="http://schemas.microsoft.com/office/drawing/2014/main" val="10003"/>
                  </a:ext>
                </a:extLst>
              </a:tr>
              <a:tr h="384048">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Decision Tree</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6.53</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73.06</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8.55</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11.96</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0.9097</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extLst>
                  <a:ext uri="{0D108BD9-81ED-4DB2-BD59-A6C34878D82A}">
                    <a16:rowId xmlns:a16="http://schemas.microsoft.com/office/drawing/2014/main" val="10004"/>
                  </a:ext>
                </a:extLst>
              </a:tr>
              <a:tr h="384048">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Linear Regression</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6.77</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77.77</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8.82</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12.38</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0.9039</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extLst>
                  <a:ext uri="{0D108BD9-81ED-4DB2-BD59-A6C34878D82A}">
                    <a16:rowId xmlns:a16="http://schemas.microsoft.com/office/drawing/2014/main" val="10005"/>
                  </a:ext>
                </a:extLst>
              </a:tr>
            </a:tbl>
          </a:graphicData>
        </a:graphic>
      </p:graphicFrame>
      <p:sp>
        <p:nvSpPr>
          <p:cNvPr id="28" name="Slide Number Placeholder 0"/>
          <p:cNvSpPr>
            <a:spLocks noGrp="1"/>
          </p:cNvSpPr>
          <p:nvPr>
            <p:ph type="sldNum" sz="quarter" idx="4294967295"/>
          </p:nvPr>
        </p:nvSpPr>
        <p:spPr>
          <a:xfrm>
            <a:off x="10698480" y="6473952"/>
            <a:ext cx="41148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lang="en-US" b="0"/>
              <a:t>11</a:t>
            </a:fld>
            <a:endParaRPr lang="en-US"/>
          </a:p>
        </p:txBody>
      </p:sp>
      <p:pic>
        <p:nvPicPr>
          <p:cNvPr id="29" name="Actual vs predicted chart" descr="image.png"/>
          <p:cNvPicPr>
            <a:picLocks noChangeAspect="1"/>
          </p:cNvPicPr>
          <p:nvPr/>
        </p:nvPicPr>
        <p:blipFill>
          <a:blip r:embed="rId3"/>
          <a:stretch>
            <a:fillRect/>
          </a:stretch>
        </p:blipFill>
        <p:spPr>
          <a:xfrm>
            <a:off x="6903720" y="1874519"/>
            <a:ext cx="4736592" cy="1942003"/>
          </a:xfrm>
          <a:prstGeom prst="rect">
            <a:avLst/>
          </a:prstGeom>
        </p:spPr>
      </p:pic>
      <p:sp>
        <p:nvSpPr>
          <p:cNvPr id="30" name="Chart caption"/>
          <p:cNvSpPr txBox="1"/>
          <p:nvPr/>
        </p:nvSpPr>
        <p:spPr>
          <a:xfrm>
            <a:off x="6903720" y="3931920"/>
            <a:ext cx="4736592" cy="731520"/>
          </a:xfrm>
          <a:prstGeom prst="rect">
            <a:avLst/>
          </a:prstGeom>
          <a:noFill/>
        </p:spPr>
        <p:txBody>
          <a:bodyPr wrap="square" lIns="0" tIns="0" rIns="0" bIns="0">
            <a:spAutoFit/>
          </a:bodyPr>
          <a:lstStyle/>
          <a:p>
            <a:pPr>
              <a:spcAft>
                <a:spcPts val="600"/>
              </a:spcAft>
            </a:pPr>
            <a:r>
              <a:rPr sz="1200" b="0">
                <a:solidFill>
                  <a:srgbClr val="6B6B5E"/>
                </a:solidFill>
              </a:rPr>
              <a:t>Total units per day over the 90-day test period, summed across all 500 store-items for display. Metrics are scored per store-item-day.</a:t>
            </a:r>
          </a:p>
        </p:txBody>
      </p:sp>
      <p:sp>
        <p:nvSpPr>
          <p:cNvPr id="31" name="Reading heading"/>
          <p:cNvSpPr txBox="1"/>
          <p:nvPr/>
        </p:nvSpPr>
        <p:spPr>
          <a:xfrm>
            <a:off x="548640" y="4389120"/>
            <a:ext cx="5989320" cy="274320"/>
          </a:xfrm>
          <a:prstGeom prst="rect">
            <a:avLst/>
          </a:prstGeom>
          <a:noFill/>
        </p:spPr>
        <p:txBody>
          <a:bodyPr wrap="square" lIns="0" tIns="0" rIns="0" bIns="0">
            <a:spAutoFit/>
          </a:bodyPr>
          <a:lstStyle/>
          <a:p>
            <a:pPr>
              <a:spcAft>
                <a:spcPts val="600"/>
              </a:spcAft>
            </a:pPr>
            <a:r>
              <a:rPr sz="1200" b="1">
                <a:solidFill>
                  <a:srgbClr val="D9674F"/>
                </a:solidFill>
              </a:rPr>
              <a:t>READING THE RESULT</a:t>
            </a:r>
          </a:p>
        </p:txBody>
      </p:sp>
      <p:sp>
        <p:nvSpPr>
          <p:cNvPr id="32" name="Reading body"/>
          <p:cNvSpPr txBox="1"/>
          <p:nvPr/>
        </p:nvSpPr>
        <p:spPr>
          <a:xfrm>
            <a:off x="548640" y="4709160"/>
            <a:ext cx="5989320" cy="1554480"/>
          </a:xfrm>
          <a:prstGeom prst="rect">
            <a:avLst/>
          </a:prstGeom>
          <a:noFill/>
        </p:spPr>
        <p:txBody>
          <a:bodyPr wrap="square" lIns="0" tIns="0" rIns="0" bIns="0">
            <a:spAutoFit/>
          </a:bodyPr>
          <a:lstStyle/>
          <a:p>
            <a:pPr>
              <a:spcAft>
                <a:spcPts val="600"/>
              </a:spcAft>
            </a:pPr>
            <a:r>
              <a:rPr sz="1400" b="0">
                <a:solidFill>
                  <a:srgbClr val="2B2B2B"/>
                </a:solidFill>
              </a:rPr>
              <a:t>LightGBM is best on every metric. On average its forecast is off by 5.87 units for a typical value of about 55 units a day (10.75% WAPE). It explains 92.8% of the variation in sales.</a:t>
            </a:r>
          </a:p>
        </p:txBody>
      </p:sp>
      <p:sp>
        <p:nvSpPr>
          <p:cNvPr id="33" name="Stat R²"/>
          <p:cNvSpPr txBox="1"/>
          <p:nvPr/>
        </p:nvSpPr>
        <p:spPr>
          <a:xfrm>
            <a:off x="6903720" y="4846320"/>
            <a:ext cx="1554480" cy="548640"/>
          </a:xfrm>
          <a:prstGeom prst="rect">
            <a:avLst/>
          </a:prstGeom>
          <a:noFill/>
        </p:spPr>
        <p:txBody>
          <a:bodyPr wrap="square" lIns="0" tIns="0" rIns="0" bIns="0">
            <a:spAutoFit/>
          </a:bodyPr>
          <a:lstStyle/>
          <a:p>
            <a:pPr>
              <a:spcAft>
                <a:spcPts val="0"/>
              </a:spcAft>
            </a:pPr>
            <a:r>
              <a:rPr sz="3000" b="1">
                <a:solidFill>
                  <a:srgbClr val="D9674F"/>
                </a:solidFill>
                <a:latin typeface="+mj-lt"/>
              </a:rPr>
              <a:t>0.9284</a:t>
            </a:r>
          </a:p>
        </p:txBody>
      </p:sp>
      <p:sp>
        <p:nvSpPr>
          <p:cNvPr id="34" name="Stat R² label"/>
          <p:cNvSpPr txBox="1"/>
          <p:nvPr/>
        </p:nvSpPr>
        <p:spPr>
          <a:xfrm>
            <a:off x="6903720" y="5440680"/>
            <a:ext cx="1554480" cy="274320"/>
          </a:xfrm>
          <a:prstGeom prst="rect">
            <a:avLst/>
          </a:prstGeom>
          <a:noFill/>
        </p:spPr>
        <p:txBody>
          <a:bodyPr wrap="square" lIns="0" tIns="0" rIns="0" bIns="0">
            <a:spAutoFit/>
          </a:bodyPr>
          <a:lstStyle/>
          <a:p>
            <a:pPr>
              <a:spcAft>
                <a:spcPts val="600"/>
              </a:spcAft>
            </a:pPr>
            <a:r>
              <a:rPr sz="1200" b="1">
                <a:solidFill>
                  <a:srgbClr val="6B6B5E"/>
                </a:solidFill>
              </a:rPr>
              <a:t>R²</a:t>
            </a:r>
          </a:p>
        </p:txBody>
      </p:sp>
      <p:sp>
        <p:nvSpPr>
          <p:cNvPr id="35" name="Stat MAE"/>
          <p:cNvSpPr txBox="1"/>
          <p:nvPr/>
        </p:nvSpPr>
        <p:spPr>
          <a:xfrm>
            <a:off x="8503920" y="4846320"/>
            <a:ext cx="1554480" cy="548640"/>
          </a:xfrm>
          <a:prstGeom prst="rect">
            <a:avLst/>
          </a:prstGeom>
          <a:noFill/>
        </p:spPr>
        <p:txBody>
          <a:bodyPr wrap="square" lIns="0" tIns="0" rIns="0" bIns="0">
            <a:spAutoFit/>
          </a:bodyPr>
          <a:lstStyle/>
          <a:p>
            <a:pPr>
              <a:spcAft>
                <a:spcPts val="0"/>
              </a:spcAft>
            </a:pPr>
            <a:r>
              <a:rPr sz="3000" b="1">
                <a:solidFill>
                  <a:srgbClr val="2B2B2B"/>
                </a:solidFill>
                <a:latin typeface="+mj-lt"/>
              </a:rPr>
              <a:t>5.87</a:t>
            </a:r>
          </a:p>
        </p:txBody>
      </p:sp>
      <p:sp>
        <p:nvSpPr>
          <p:cNvPr id="36" name="Stat MAE label"/>
          <p:cNvSpPr txBox="1"/>
          <p:nvPr/>
        </p:nvSpPr>
        <p:spPr>
          <a:xfrm>
            <a:off x="8503920" y="5440680"/>
            <a:ext cx="1554480" cy="274320"/>
          </a:xfrm>
          <a:prstGeom prst="rect">
            <a:avLst/>
          </a:prstGeom>
          <a:noFill/>
        </p:spPr>
        <p:txBody>
          <a:bodyPr wrap="square" lIns="0" tIns="0" rIns="0" bIns="0">
            <a:spAutoFit/>
          </a:bodyPr>
          <a:lstStyle/>
          <a:p>
            <a:pPr>
              <a:spcAft>
                <a:spcPts val="600"/>
              </a:spcAft>
            </a:pPr>
            <a:r>
              <a:rPr sz="1200" b="1">
                <a:solidFill>
                  <a:srgbClr val="6B6B5E"/>
                </a:solidFill>
              </a:rPr>
              <a:t>MAE</a:t>
            </a:r>
          </a:p>
        </p:txBody>
      </p:sp>
      <p:sp>
        <p:nvSpPr>
          <p:cNvPr id="37" name="Stat WAPE"/>
          <p:cNvSpPr txBox="1"/>
          <p:nvPr/>
        </p:nvSpPr>
        <p:spPr>
          <a:xfrm>
            <a:off x="10104120" y="4846320"/>
            <a:ext cx="1554480" cy="548640"/>
          </a:xfrm>
          <a:prstGeom prst="rect">
            <a:avLst/>
          </a:prstGeom>
          <a:noFill/>
        </p:spPr>
        <p:txBody>
          <a:bodyPr wrap="square" lIns="0" tIns="0" rIns="0" bIns="0">
            <a:spAutoFit/>
          </a:bodyPr>
          <a:lstStyle/>
          <a:p>
            <a:pPr>
              <a:spcAft>
                <a:spcPts val="0"/>
              </a:spcAft>
            </a:pPr>
            <a:r>
              <a:rPr sz="3000" b="1">
                <a:solidFill>
                  <a:srgbClr val="2B2B2B"/>
                </a:solidFill>
                <a:latin typeface="+mj-lt"/>
              </a:rPr>
              <a:t>10.75%</a:t>
            </a:r>
          </a:p>
        </p:txBody>
      </p:sp>
      <p:sp>
        <p:nvSpPr>
          <p:cNvPr id="38" name="Stat WAPE label"/>
          <p:cNvSpPr txBox="1"/>
          <p:nvPr/>
        </p:nvSpPr>
        <p:spPr>
          <a:xfrm>
            <a:off x="10104120" y="5440680"/>
            <a:ext cx="1554480" cy="274320"/>
          </a:xfrm>
          <a:prstGeom prst="rect">
            <a:avLst/>
          </a:prstGeom>
          <a:noFill/>
        </p:spPr>
        <p:txBody>
          <a:bodyPr wrap="square" lIns="0" tIns="0" rIns="0" bIns="0">
            <a:spAutoFit/>
          </a:bodyPr>
          <a:lstStyle/>
          <a:p>
            <a:pPr>
              <a:spcAft>
                <a:spcPts val="600"/>
              </a:spcAft>
            </a:pPr>
            <a:r>
              <a:rPr sz="1200" b="1">
                <a:solidFill>
                  <a:srgbClr val="6B6B5E"/>
                </a:solidFill>
              </a:rPr>
              <a:t>WAPE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ection marker"/>
          <p:cNvSpPr/>
          <p:nvPr/>
        </p:nvSpPr>
        <p:spPr>
          <a:xfrm>
            <a:off x="548640" y="420624"/>
            <a:ext cx="118872" cy="118872"/>
          </a:xfrm>
          <a:prstGeom prst="rect">
            <a:avLst/>
          </a:prstGeom>
          <a:solidFill>
            <a:schemeClr val="accent2"/>
          </a:solidFill>
          <a:ln w="12700">
            <a:solidFill>
              <a:schemeClr val="accent2"/>
            </a:solidFill>
            <a:prstDash val="solid"/>
          </a:ln>
        </p:spPr>
        <p:txBody>
          <a:bodyPr/>
          <a:lstStyle/>
          <a:p>
            <a:endParaRPr/>
          </a:p>
        </p:txBody>
      </p:sp>
      <p:sp>
        <p:nvSpPr>
          <p:cNvPr id="3" name="Section label"/>
          <p:cNvSpPr txBox="1"/>
          <p:nvPr/>
        </p:nvSpPr>
        <p:spPr>
          <a:xfrm>
            <a:off x="777240" y="347472"/>
            <a:ext cx="5486400" cy="274320"/>
          </a:xfrm>
          <a:prstGeom prst="rect">
            <a:avLst/>
          </a:prstGeom>
          <a:noFill/>
          <a:ln/>
        </p:spPr>
        <p:txBody>
          <a:bodyPr wrap="square" lIns="0" tIns="0" rIns="0" bIns="0" rtlCol="0" anchor="ctr"/>
          <a:lstStyle/>
          <a:p>
            <a:pPr marL="0" indent="0">
              <a:buNone/>
            </a:pPr>
            <a:r>
              <a:rPr lang="en-US" sz="1200" b="1" kern="0" spc="300" dirty="0">
                <a:solidFill>
                  <a:schemeClr val="accent5"/>
                </a:solidFill>
              </a:rPr>
              <a:t>11  KDD STAGE 5 | ROSSMANN</a:t>
            </a:r>
            <a:endParaRPr lang="en-US" sz="1200" dirty="0"/>
          </a:p>
        </p:txBody>
      </p:sp>
      <p:sp>
        <p:nvSpPr>
          <p:cNvPr id="4" name="Text 3"/>
          <p:cNvSpPr>
            <a:spLocks noGrp="1"/>
          </p:cNvSpPr>
          <p:nvPr>
            <p:ph idx="103" hasCustomPrompt="1"/>
          </p:nvPr>
        </p:nvSpPr>
        <p:spPr>
          <a:xfrm>
            <a:off x="548640" y="777240"/>
            <a:ext cx="11091672" cy="1005840"/>
          </a:xfrm>
          <a:prstGeom prst="rect">
            <a:avLst/>
          </a:prstGeom>
          <a:noFill/>
          <a:ln/>
        </p:spPr>
        <p:txBody>
          <a:bodyPr wrap="square" lIns="0" tIns="0" rIns="0" bIns="0" rtlCol="0" anchor="t"/>
          <a:lstStyle/>
          <a:p>
            <a:pPr marL="0" indent="0">
              <a:buNone/>
            </a:pPr>
            <a:r>
              <a:rPr lang="en-US" sz="3200" b="1" dirty="0">
                <a:solidFill>
                  <a:schemeClr val="tx1"/>
                </a:solidFill>
                <a:latin typeface="Cambria" pitchFamily="34" charset="0"/>
                <a:ea typeface="Cambria" pitchFamily="34" charset="-122"/>
                <a:cs typeface="Cambria" pitchFamily="34" charset="-120"/>
              </a:rPr>
              <a:t>Results: Rossmann Store Sales</a:t>
            </a:r>
            <a:endParaRPr lang="en-US" sz="3200" dirty="0"/>
          </a:p>
        </p:txBody>
      </p:sp>
      <p:graphicFrame>
        <p:nvGraphicFramePr>
          <p:cNvPr id="25" name="Rossmann metrics table"/>
          <p:cNvGraphicFramePr>
            <a:graphicFrameLocks noGrp="1"/>
          </p:cNvGraphicFramePr>
          <p:nvPr>
            <p:extLst>
              <p:ext uri="{D42A27DB-BD31-4B8C-83A1-F6EECF244321}">
                <p14:modId xmlns:p14="http://schemas.microsoft.com/office/powerpoint/2010/main" val="1970433830"/>
              </p:ext>
            </p:extLst>
          </p:nvPr>
        </p:nvGraphicFramePr>
        <p:xfrm>
          <a:off x="548640" y="1874519"/>
          <a:ext cx="5989320" cy="2304288"/>
        </p:xfrm>
        <a:graphic>
          <a:graphicData uri="http://schemas.openxmlformats.org/drawingml/2006/table">
            <a:tbl>
              <a:tblPr/>
              <a:tblGrid>
                <a:gridCol w="173736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1005840">
                  <a:extLst>
                    <a:ext uri="{9D8B030D-6E8A-4147-A177-3AD203B41FA5}">
                      <a16:colId xmlns:a16="http://schemas.microsoft.com/office/drawing/2014/main" val="1433364952"/>
                    </a:ext>
                  </a:extLst>
                </a:gridCol>
                <a:gridCol w="77724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tblGrid>
              <a:tr h="384048">
                <a:tc>
                  <a:txBody>
                    <a:bodyPr/>
                    <a:lstStyle/>
                    <a:p>
                      <a:pPr marL="0" indent="0" algn="l">
                        <a:buNone/>
                      </a:pPr>
                      <a:r>
                        <a:rPr lang="en-US" sz="1400" b="1" dirty="0">
                          <a:solidFill>
                            <a:srgbClr val="F6F1E7"/>
                          </a:solidFill>
                          <a:latin typeface="Calibri" pitchFamily="34" charset="0"/>
                          <a:ea typeface="Calibri" pitchFamily="34" charset="-122"/>
                          <a:cs typeface="Calibri" pitchFamily="34" charset="-120"/>
                        </a:rPr>
                        <a:t>Model</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1F3D2E"/>
                    </a:solidFill>
                  </a:tcPr>
                </a:tc>
                <a:tc>
                  <a:txBody>
                    <a:bodyPr/>
                    <a:lstStyle/>
                    <a:p>
                      <a:pPr marL="0" indent="0" algn="r">
                        <a:buNone/>
                      </a:pPr>
                      <a:r>
                        <a:rPr lang="en-US" sz="1400" b="1" dirty="0">
                          <a:solidFill>
                            <a:srgbClr val="F6F1E7"/>
                          </a:solidFill>
                          <a:latin typeface="Calibri" pitchFamily="34" charset="0"/>
                          <a:ea typeface="Calibri" pitchFamily="34" charset="-122"/>
                          <a:cs typeface="Calibri" pitchFamily="34" charset="-120"/>
                        </a:rPr>
                        <a:t>MAE</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1F3D2E"/>
                    </a:solidFill>
                  </a:tcPr>
                </a:tc>
                <a:tc>
                  <a:txBody>
                    <a:bodyPr/>
                    <a:lstStyle/>
                    <a:p>
                      <a:pPr marL="0" indent="0" algn="r">
                        <a:buNone/>
                      </a:pPr>
                      <a:r>
                        <a:rPr lang="en-US" sz="1400" b="1" dirty="0">
                          <a:solidFill>
                            <a:srgbClr val="F6F1E7"/>
                          </a:solidFill>
                          <a:latin typeface="Calibri" pitchFamily="34" charset="0"/>
                          <a:ea typeface="Calibri" pitchFamily="34" charset="-122"/>
                          <a:cs typeface="Calibri" pitchFamily="34" charset="-120"/>
                        </a:rPr>
                        <a:t>MSE</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1F3D2E"/>
                    </a:solidFill>
                  </a:tcPr>
                </a:tc>
                <a:tc>
                  <a:txBody>
                    <a:bodyPr/>
                    <a:lstStyle/>
                    <a:p>
                      <a:pPr marL="0" indent="0" algn="r">
                        <a:buNone/>
                      </a:pPr>
                      <a:r>
                        <a:rPr lang="en-US" sz="1400" b="1" dirty="0">
                          <a:solidFill>
                            <a:srgbClr val="F6F1E7"/>
                          </a:solidFill>
                          <a:latin typeface="Calibri" pitchFamily="34" charset="0"/>
                          <a:ea typeface="Calibri" pitchFamily="34" charset="-122"/>
                          <a:cs typeface="Calibri" pitchFamily="34" charset="-120"/>
                        </a:rPr>
                        <a:t>RMSE</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1F3D2E"/>
                    </a:solidFill>
                  </a:tcPr>
                </a:tc>
                <a:tc>
                  <a:txBody>
                    <a:bodyPr/>
                    <a:lstStyle/>
                    <a:p>
                      <a:pPr marL="0" indent="0" algn="r">
                        <a:buNone/>
                      </a:pPr>
                      <a:r>
                        <a:rPr lang="en-US" sz="1400" b="1" dirty="0">
                          <a:solidFill>
                            <a:srgbClr val="F6F1E7"/>
                          </a:solidFill>
                          <a:latin typeface="Calibri" pitchFamily="34" charset="0"/>
                          <a:ea typeface="Calibri" pitchFamily="34" charset="-122"/>
                          <a:cs typeface="Calibri" pitchFamily="34" charset="-120"/>
                        </a:rPr>
                        <a:t>WAPE %</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1F3D2E"/>
                    </a:solidFill>
                  </a:tcPr>
                </a:tc>
                <a:tc>
                  <a:txBody>
                    <a:bodyPr/>
                    <a:lstStyle/>
                    <a:p>
                      <a:pPr marL="0" indent="0" algn="r">
                        <a:buNone/>
                      </a:pPr>
                      <a:r>
                        <a:rPr lang="en-US" sz="1400" b="1" dirty="0">
                          <a:solidFill>
                            <a:srgbClr val="F6F1E7"/>
                          </a:solidFill>
                          <a:latin typeface="Calibri" pitchFamily="34" charset="0"/>
                          <a:ea typeface="Calibri" pitchFamily="34" charset="-122"/>
                          <a:cs typeface="Calibri" pitchFamily="34" charset="-120"/>
                        </a:rPr>
                        <a:t>R²</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1F3D2E"/>
                    </a:solidFill>
                  </a:tcPr>
                </a:tc>
                <a:extLst>
                  <a:ext uri="{0D108BD9-81ED-4DB2-BD59-A6C34878D82A}">
                    <a16:rowId xmlns:a16="http://schemas.microsoft.com/office/drawing/2014/main" val="10000"/>
                  </a:ext>
                </a:extLst>
              </a:tr>
              <a:tr h="384048">
                <a:tc>
                  <a:txBody>
                    <a:bodyPr/>
                    <a:lstStyle/>
                    <a:p>
                      <a:pPr marL="0" indent="0">
                        <a:buNone/>
                      </a:pPr>
                      <a:r>
                        <a:rPr lang="en-US" sz="1400" b="1" dirty="0">
                          <a:solidFill>
                            <a:srgbClr val="2B2B2B"/>
                          </a:solidFill>
                          <a:latin typeface="Calibri" pitchFamily="34" charset="0"/>
                          <a:ea typeface="Calibri" pitchFamily="34" charset="-122"/>
                          <a:cs typeface="Calibri" pitchFamily="34" charset="-120"/>
                        </a:rPr>
                        <a:t>LightGBM</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4D9CF"/>
                    </a:solidFill>
                  </a:tcPr>
                </a:tc>
                <a:tc>
                  <a:txBody>
                    <a:bodyPr/>
                    <a:lstStyle/>
                    <a:p>
                      <a:pPr marL="0" indent="0" algn="r">
                        <a:buNone/>
                      </a:pPr>
                      <a:r>
                        <a:rPr lang="en-US" sz="1400" b="1" dirty="0" smtClean="0">
                          <a:solidFill>
                            <a:srgbClr val="2B2B2B"/>
                          </a:solidFill>
                          <a:latin typeface="Calibri" pitchFamily="34" charset="0"/>
                          <a:ea typeface="Calibri" pitchFamily="34" charset="-122"/>
                          <a:cs typeface="Calibri" pitchFamily="34" charset="-120"/>
                        </a:rPr>
                        <a:t>551.7</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4D9CF"/>
                    </a:solidFill>
                  </a:tcPr>
                </a:tc>
                <a:tc>
                  <a:txBody>
                    <a:bodyPr/>
                    <a:lstStyle/>
                    <a:p>
                      <a:pPr marL="0" indent="0" algn="r">
                        <a:buNone/>
                      </a:pPr>
                      <a:r>
                        <a:rPr lang="en-AE" sz="1400" b="1" dirty="0" smtClean="0">
                          <a:solidFill>
                            <a:srgbClr val="2B2B2B"/>
                          </a:solidFill>
                          <a:latin typeface="Calibri" pitchFamily="34" charset="0"/>
                          <a:ea typeface="Calibri" pitchFamily="34" charset="-122"/>
                          <a:cs typeface="Calibri" pitchFamily="34" charset="-120"/>
                        </a:rPr>
                        <a:t>645,598</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4D9CF"/>
                    </a:solidFill>
                  </a:tcPr>
                </a:tc>
                <a:tc>
                  <a:txBody>
                    <a:bodyPr/>
                    <a:lstStyle/>
                    <a:p>
                      <a:pPr marL="0" indent="0" algn="r">
                        <a:buNone/>
                      </a:pPr>
                      <a:r>
                        <a:rPr lang="en-US" sz="1400" b="1" dirty="0" smtClean="0">
                          <a:solidFill>
                            <a:srgbClr val="2B2B2B"/>
                          </a:solidFill>
                          <a:latin typeface="Calibri" pitchFamily="34" charset="0"/>
                          <a:ea typeface="Calibri" pitchFamily="34" charset="-122"/>
                          <a:cs typeface="Calibri" pitchFamily="34" charset="-120"/>
                        </a:rPr>
                        <a:t>803.4</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4D9CF"/>
                    </a:solidFill>
                  </a:tcPr>
                </a:tc>
                <a:tc>
                  <a:txBody>
                    <a:bodyPr/>
                    <a:lstStyle/>
                    <a:p>
                      <a:pPr marL="0" indent="0" algn="r">
                        <a:buNone/>
                      </a:pPr>
                      <a:r>
                        <a:rPr lang="en-US" sz="1400" b="1" dirty="0" smtClean="0">
                          <a:solidFill>
                            <a:srgbClr val="2B2B2B"/>
                          </a:solidFill>
                          <a:latin typeface="Calibri" pitchFamily="34" charset="0"/>
                          <a:ea typeface="Calibri" pitchFamily="34" charset="-122"/>
                          <a:cs typeface="Calibri" pitchFamily="34" charset="-120"/>
                        </a:rPr>
                        <a:t>7.97</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4D9CF"/>
                    </a:solidFill>
                  </a:tcPr>
                </a:tc>
                <a:tc>
                  <a:txBody>
                    <a:bodyPr/>
                    <a:lstStyle/>
                    <a:p>
                      <a:pPr marL="0" indent="0" algn="r">
                        <a:buNone/>
                      </a:pPr>
                      <a:r>
                        <a:rPr lang="en-US" sz="1400" b="1" dirty="0">
                          <a:solidFill>
                            <a:srgbClr val="2B2B2B"/>
                          </a:solidFill>
                          <a:latin typeface="Calibri" pitchFamily="34" charset="0"/>
                          <a:ea typeface="Calibri" pitchFamily="34" charset="-122"/>
                          <a:cs typeface="Calibri" pitchFamily="34" charset="-120"/>
                        </a:rPr>
                        <a:t>0.9300</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4D9CF"/>
                    </a:solidFill>
                  </a:tcPr>
                </a:tc>
                <a:extLst>
                  <a:ext uri="{0D108BD9-81ED-4DB2-BD59-A6C34878D82A}">
                    <a16:rowId xmlns:a16="http://schemas.microsoft.com/office/drawing/2014/main" val="10001"/>
                  </a:ext>
                </a:extLst>
              </a:tr>
              <a:tr h="384048">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Random Forest</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569.2</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694,168</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833.2</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8.16</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0.9256</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extLst>
                  <a:ext uri="{0D108BD9-81ED-4DB2-BD59-A6C34878D82A}">
                    <a16:rowId xmlns:a16="http://schemas.microsoft.com/office/drawing/2014/main" val="10002"/>
                  </a:ext>
                </a:extLst>
              </a:tr>
              <a:tr h="384048">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Gradient Boosting</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570.8</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685,687</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828.1</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8.18</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0.9265</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extLst>
                  <a:ext uri="{0D108BD9-81ED-4DB2-BD59-A6C34878D82A}">
                    <a16:rowId xmlns:a16="http://schemas.microsoft.com/office/drawing/2014/main" val="10003"/>
                  </a:ext>
                </a:extLst>
              </a:tr>
              <a:tr h="384048">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Decision Tree</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657.9</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912,439</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955.2</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9.43</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0.9022</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extLst>
                  <a:ext uri="{0D108BD9-81ED-4DB2-BD59-A6C34878D82A}">
                    <a16:rowId xmlns:a16="http://schemas.microsoft.com/office/drawing/2014/main" val="10004"/>
                  </a:ext>
                </a:extLst>
              </a:tr>
              <a:tr h="384048">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Linear Regression</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790.4</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1,231,990</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1,110.0</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11.33</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0.8680</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extLst>
                  <a:ext uri="{0D108BD9-81ED-4DB2-BD59-A6C34878D82A}">
                    <a16:rowId xmlns:a16="http://schemas.microsoft.com/office/drawing/2014/main" val="10005"/>
                  </a:ext>
                </a:extLst>
              </a:tr>
            </a:tbl>
          </a:graphicData>
        </a:graphic>
      </p:graphicFrame>
      <p:sp>
        <p:nvSpPr>
          <p:cNvPr id="28" name="Slide Number Placeholder 0"/>
          <p:cNvSpPr>
            <a:spLocks noGrp="1"/>
          </p:cNvSpPr>
          <p:nvPr>
            <p:ph type="sldNum" sz="quarter" idx="4294967295"/>
          </p:nvPr>
        </p:nvSpPr>
        <p:spPr>
          <a:xfrm>
            <a:off x="10698480" y="6473952"/>
            <a:ext cx="41148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lang="en-US" b="0"/>
              <a:t>12</a:t>
            </a:fld>
            <a:endParaRPr lang="en-US"/>
          </a:p>
        </p:txBody>
      </p:sp>
      <p:pic>
        <p:nvPicPr>
          <p:cNvPr id="29" name="Actual vs predicted chart" descr="image.png"/>
          <p:cNvPicPr>
            <a:picLocks noChangeAspect="1"/>
          </p:cNvPicPr>
          <p:nvPr/>
        </p:nvPicPr>
        <p:blipFill>
          <a:blip r:embed="rId3"/>
          <a:stretch>
            <a:fillRect/>
          </a:stretch>
        </p:blipFill>
        <p:spPr>
          <a:xfrm>
            <a:off x="6903720" y="1874519"/>
            <a:ext cx="4736592" cy="1942003"/>
          </a:xfrm>
          <a:prstGeom prst="rect">
            <a:avLst/>
          </a:prstGeom>
        </p:spPr>
      </p:pic>
      <p:sp>
        <p:nvSpPr>
          <p:cNvPr id="30" name="Chart caption"/>
          <p:cNvSpPr txBox="1"/>
          <p:nvPr/>
        </p:nvSpPr>
        <p:spPr>
          <a:xfrm>
            <a:off x="6903720" y="3931920"/>
            <a:ext cx="4736592" cy="731520"/>
          </a:xfrm>
          <a:prstGeom prst="rect">
            <a:avLst/>
          </a:prstGeom>
          <a:noFill/>
        </p:spPr>
        <p:txBody>
          <a:bodyPr wrap="square" lIns="0" tIns="0" rIns="0" bIns="0">
            <a:spAutoFit/>
          </a:bodyPr>
          <a:lstStyle/>
          <a:p>
            <a:pPr>
              <a:spcAft>
                <a:spcPts val="600"/>
              </a:spcAft>
            </a:pPr>
            <a:r>
              <a:rPr sz="1200" b="0">
                <a:solidFill>
                  <a:srgbClr val="6B6B5E"/>
                </a:solidFill>
              </a:rPr>
              <a:t>Total sales per day over the 42-day test period, summed across open stores for display. Metrics are scored per store-day.</a:t>
            </a:r>
          </a:p>
        </p:txBody>
      </p:sp>
      <p:sp>
        <p:nvSpPr>
          <p:cNvPr id="31" name="Reading heading"/>
          <p:cNvSpPr txBox="1"/>
          <p:nvPr/>
        </p:nvSpPr>
        <p:spPr>
          <a:xfrm>
            <a:off x="548640" y="4389120"/>
            <a:ext cx="5989320" cy="274320"/>
          </a:xfrm>
          <a:prstGeom prst="rect">
            <a:avLst/>
          </a:prstGeom>
          <a:noFill/>
        </p:spPr>
        <p:txBody>
          <a:bodyPr wrap="square" lIns="0" tIns="0" rIns="0" bIns="0">
            <a:spAutoFit/>
          </a:bodyPr>
          <a:lstStyle/>
          <a:p>
            <a:pPr>
              <a:spcAft>
                <a:spcPts val="600"/>
              </a:spcAft>
            </a:pPr>
            <a:r>
              <a:rPr sz="1200" b="1">
                <a:solidFill>
                  <a:srgbClr val="D9674F"/>
                </a:solidFill>
              </a:rPr>
              <a:t>READING THE RESULT</a:t>
            </a:r>
          </a:p>
        </p:txBody>
      </p:sp>
      <p:sp>
        <p:nvSpPr>
          <p:cNvPr id="32" name="Reading body"/>
          <p:cNvSpPr txBox="1"/>
          <p:nvPr/>
        </p:nvSpPr>
        <p:spPr>
          <a:xfrm>
            <a:off x="548640" y="4709160"/>
            <a:ext cx="5989320" cy="646331"/>
          </a:xfrm>
          <a:prstGeom prst="rect">
            <a:avLst/>
          </a:prstGeom>
          <a:noFill/>
        </p:spPr>
        <p:txBody>
          <a:bodyPr wrap="square" lIns="0" tIns="0" rIns="0" bIns="0">
            <a:spAutoFit/>
          </a:bodyPr>
          <a:lstStyle/>
          <a:p>
            <a:pPr>
              <a:spcAft>
                <a:spcPts val="600"/>
              </a:spcAft>
            </a:pPr>
            <a:r>
              <a:rPr sz="1400" b="0" dirty="0" err="1">
                <a:solidFill>
                  <a:srgbClr val="2B2B2B"/>
                </a:solidFill>
              </a:rPr>
              <a:t>LightGBM</a:t>
            </a:r>
            <a:r>
              <a:rPr sz="1400" b="0" dirty="0">
                <a:solidFill>
                  <a:srgbClr val="2B2B2B"/>
                </a:solidFill>
              </a:rPr>
              <a:t> is best on every metric. On average its forecast is off by </a:t>
            </a:r>
            <a:r>
              <a:rPr sz="1400" b="0" dirty="0" smtClean="0">
                <a:solidFill>
                  <a:srgbClr val="2B2B2B"/>
                </a:solidFill>
              </a:rPr>
              <a:t>55</a:t>
            </a:r>
            <a:r>
              <a:rPr lang="en-US" sz="1400" b="0" dirty="0" smtClean="0">
                <a:solidFill>
                  <a:srgbClr val="2B2B2B"/>
                </a:solidFill>
              </a:rPr>
              <a:t>2</a:t>
            </a:r>
            <a:r>
              <a:rPr sz="1400" b="0" dirty="0" smtClean="0">
                <a:solidFill>
                  <a:srgbClr val="2B2B2B"/>
                </a:solidFill>
              </a:rPr>
              <a:t> </a:t>
            </a:r>
            <a:r>
              <a:rPr sz="1400" b="0" dirty="0">
                <a:solidFill>
                  <a:srgbClr val="2B2B2B"/>
                </a:solidFill>
              </a:rPr>
              <a:t>for a typical value of about 6,979 a day (7.97% WAPE). It explains 93.0% of the variation in sales.</a:t>
            </a:r>
          </a:p>
        </p:txBody>
      </p:sp>
      <p:sp>
        <p:nvSpPr>
          <p:cNvPr id="33" name="Stat R²"/>
          <p:cNvSpPr txBox="1"/>
          <p:nvPr/>
        </p:nvSpPr>
        <p:spPr>
          <a:xfrm>
            <a:off x="6903720" y="4846320"/>
            <a:ext cx="1554480" cy="548640"/>
          </a:xfrm>
          <a:prstGeom prst="rect">
            <a:avLst/>
          </a:prstGeom>
          <a:noFill/>
        </p:spPr>
        <p:txBody>
          <a:bodyPr wrap="square" lIns="0" tIns="0" rIns="0" bIns="0">
            <a:spAutoFit/>
          </a:bodyPr>
          <a:lstStyle/>
          <a:p>
            <a:pPr>
              <a:spcAft>
                <a:spcPts val="0"/>
              </a:spcAft>
            </a:pPr>
            <a:r>
              <a:rPr sz="3000" b="1">
                <a:solidFill>
                  <a:srgbClr val="D9674F"/>
                </a:solidFill>
                <a:latin typeface="+mj-lt"/>
              </a:rPr>
              <a:t>0.9300</a:t>
            </a:r>
          </a:p>
        </p:txBody>
      </p:sp>
      <p:sp>
        <p:nvSpPr>
          <p:cNvPr id="34" name="Stat R² label"/>
          <p:cNvSpPr txBox="1"/>
          <p:nvPr/>
        </p:nvSpPr>
        <p:spPr>
          <a:xfrm>
            <a:off x="6903720" y="5440680"/>
            <a:ext cx="1554480" cy="274320"/>
          </a:xfrm>
          <a:prstGeom prst="rect">
            <a:avLst/>
          </a:prstGeom>
          <a:noFill/>
        </p:spPr>
        <p:txBody>
          <a:bodyPr wrap="square" lIns="0" tIns="0" rIns="0" bIns="0">
            <a:spAutoFit/>
          </a:bodyPr>
          <a:lstStyle/>
          <a:p>
            <a:pPr>
              <a:spcAft>
                <a:spcPts val="600"/>
              </a:spcAft>
            </a:pPr>
            <a:r>
              <a:rPr sz="1200" b="1">
                <a:solidFill>
                  <a:srgbClr val="6B6B5E"/>
                </a:solidFill>
              </a:rPr>
              <a:t>R²</a:t>
            </a:r>
          </a:p>
        </p:txBody>
      </p:sp>
      <p:sp>
        <p:nvSpPr>
          <p:cNvPr id="35" name="Stat MAE"/>
          <p:cNvSpPr txBox="1"/>
          <p:nvPr/>
        </p:nvSpPr>
        <p:spPr>
          <a:xfrm>
            <a:off x="8503920" y="4846320"/>
            <a:ext cx="1554480" cy="461665"/>
          </a:xfrm>
          <a:prstGeom prst="rect">
            <a:avLst/>
          </a:prstGeom>
          <a:noFill/>
        </p:spPr>
        <p:txBody>
          <a:bodyPr wrap="square" lIns="0" tIns="0" rIns="0" bIns="0">
            <a:spAutoFit/>
          </a:bodyPr>
          <a:lstStyle/>
          <a:p>
            <a:pPr>
              <a:spcAft>
                <a:spcPts val="0"/>
              </a:spcAft>
            </a:pPr>
            <a:r>
              <a:rPr sz="3000" b="1" dirty="0" smtClean="0">
                <a:solidFill>
                  <a:srgbClr val="2B2B2B"/>
                </a:solidFill>
                <a:latin typeface="+mj-lt"/>
              </a:rPr>
              <a:t>55</a:t>
            </a:r>
            <a:r>
              <a:rPr lang="en-US" sz="3000" b="1" dirty="0" smtClean="0">
                <a:solidFill>
                  <a:srgbClr val="2B2B2B"/>
                </a:solidFill>
                <a:latin typeface="+mj-lt"/>
              </a:rPr>
              <a:t>2</a:t>
            </a:r>
            <a:endParaRPr sz="3000" b="1" dirty="0">
              <a:solidFill>
                <a:srgbClr val="2B2B2B"/>
              </a:solidFill>
              <a:latin typeface="+mj-lt"/>
            </a:endParaRPr>
          </a:p>
        </p:txBody>
      </p:sp>
      <p:sp>
        <p:nvSpPr>
          <p:cNvPr id="36" name="Stat MAE label"/>
          <p:cNvSpPr txBox="1"/>
          <p:nvPr/>
        </p:nvSpPr>
        <p:spPr>
          <a:xfrm>
            <a:off x="8503920" y="5440680"/>
            <a:ext cx="1554480" cy="274320"/>
          </a:xfrm>
          <a:prstGeom prst="rect">
            <a:avLst/>
          </a:prstGeom>
          <a:noFill/>
        </p:spPr>
        <p:txBody>
          <a:bodyPr wrap="square" lIns="0" tIns="0" rIns="0" bIns="0">
            <a:spAutoFit/>
          </a:bodyPr>
          <a:lstStyle/>
          <a:p>
            <a:pPr>
              <a:spcAft>
                <a:spcPts val="600"/>
              </a:spcAft>
            </a:pPr>
            <a:r>
              <a:rPr sz="1200" b="1">
                <a:solidFill>
                  <a:srgbClr val="6B6B5E"/>
                </a:solidFill>
              </a:rPr>
              <a:t>MAE</a:t>
            </a:r>
          </a:p>
        </p:txBody>
      </p:sp>
      <p:sp>
        <p:nvSpPr>
          <p:cNvPr id="37" name="Stat WAPE"/>
          <p:cNvSpPr txBox="1"/>
          <p:nvPr/>
        </p:nvSpPr>
        <p:spPr>
          <a:xfrm>
            <a:off x="10104120" y="4846320"/>
            <a:ext cx="1554480" cy="548640"/>
          </a:xfrm>
          <a:prstGeom prst="rect">
            <a:avLst/>
          </a:prstGeom>
          <a:noFill/>
        </p:spPr>
        <p:txBody>
          <a:bodyPr wrap="square" lIns="0" tIns="0" rIns="0" bIns="0">
            <a:spAutoFit/>
          </a:bodyPr>
          <a:lstStyle/>
          <a:p>
            <a:pPr>
              <a:spcAft>
                <a:spcPts val="0"/>
              </a:spcAft>
            </a:pPr>
            <a:r>
              <a:rPr sz="3000" b="1">
                <a:solidFill>
                  <a:srgbClr val="2B2B2B"/>
                </a:solidFill>
                <a:latin typeface="+mj-lt"/>
              </a:rPr>
              <a:t>7.97%</a:t>
            </a:r>
          </a:p>
        </p:txBody>
      </p:sp>
      <p:sp>
        <p:nvSpPr>
          <p:cNvPr id="38" name="Stat WAPE label"/>
          <p:cNvSpPr txBox="1"/>
          <p:nvPr/>
        </p:nvSpPr>
        <p:spPr>
          <a:xfrm>
            <a:off x="10104120" y="5440680"/>
            <a:ext cx="1554480" cy="274320"/>
          </a:xfrm>
          <a:prstGeom prst="rect">
            <a:avLst/>
          </a:prstGeom>
          <a:noFill/>
        </p:spPr>
        <p:txBody>
          <a:bodyPr wrap="square" lIns="0" tIns="0" rIns="0" bIns="0">
            <a:spAutoFit/>
          </a:bodyPr>
          <a:lstStyle/>
          <a:p>
            <a:pPr>
              <a:spcAft>
                <a:spcPts val="600"/>
              </a:spcAft>
            </a:pPr>
            <a:r>
              <a:rPr sz="1200" b="1">
                <a:solidFill>
                  <a:srgbClr val="6B6B5E"/>
                </a:solidFill>
              </a:rPr>
              <a:t>WAPE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ection marker"/>
          <p:cNvSpPr/>
          <p:nvPr/>
        </p:nvSpPr>
        <p:spPr>
          <a:xfrm>
            <a:off x="548640" y="420624"/>
            <a:ext cx="118872" cy="118872"/>
          </a:xfrm>
          <a:prstGeom prst="rect">
            <a:avLst/>
          </a:prstGeom>
          <a:solidFill>
            <a:schemeClr val="accent2"/>
          </a:solidFill>
          <a:ln w="12700">
            <a:solidFill>
              <a:schemeClr val="accent2"/>
            </a:solidFill>
            <a:prstDash val="solid"/>
          </a:ln>
        </p:spPr>
        <p:txBody>
          <a:bodyPr/>
          <a:lstStyle/>
          <a:p>
            <a:endParaRPr/>
          </a:p>
        </p:txBody>
      </p:sp>
      <p:sp>
        <p:nvSpPr>
          <p:cNvPr id="3" name="Section label"/>
          <p:cNvSpPr txBox="1"/>
          <p:nvPr/>
        </p:nvSpPr>
        <p:spPr>
          <a:xfrm>
            <a:off x="777240" y="347472"/>
            <a:ext cx="5486400" cy="274320"/>
          </a:xfrm>
          <a:prstGeom prst="rect">
            <a:avLst/>
          </a:prstGeom>
          <a:noFill/>
          <a:ln/>
        </p:spPr>
        <p:txBody>
          <a:bodyPr wrap="square" lIns="0" tIns="0" rIns="0" bIns="0" rtlCol="0" anchor="ctr"/>
          <a:lstStyle/>
          <a:p>
            <a:pPr marL="0" indent="0">
              <a:buNone/>
            </a:pPr>
            <a:r>
              <a:rPr lang="en-US" sz="1200" b="1" kern="0" spc="300" dirty="0">
                <a:solidFill>
                  <a:schemeClr val="accent5"/>
                </a:solidFill>
              </a:rPr>
              <a:t>12  KDD STAGE 5 | MODEL COMPARISON</a:t>
            </a:r>
            <a:endParaRPr lang="en-US" sz="1200" dirty="0"/>
          </a:p>
        </p:txBody>
      </p:sp>
      <p:sp>
        <p:nvSpPr>
          <p:cNvPr id="4" name="Text 3"/>
          <p:cNvSpPr>
            <a:spLocks noGrp="1"/>
          </p:cNvSpPr>
          <p:nvPr>
            <p:ph idx="103" hasCustomPrompt="1"/>
          </p:nvPr>
        </p:nvSpPr>
        <p:spPr>
          <a:xfrm>
            <a:off x="548640" y="777240"/>
            <a:ext cx="11091672" cy="1005840"/>
          </a:xfrm>
          <a:prstGeom prst="rect">
            <a:avLst/>
          </a:prstGeom>
          <a:noFill/>
          <a:ln/>
        </p:spPr>
        <p:txBody>
          <a:bodyPr wrap="square" lIns="0" tIns="0" rIns="0" bIns="0" rtlCol="0" anchor="t"/>
          <a:lstStyle/>
          <a:p>
            <a:pPr marL="0" indent="0">
              <a:buNone/>
            </a:pPr>
            <a:r>
              <a:rPr lang="en-US" sz="3200" b="1" dirty="0">
                <a:solidFill>
                  <a:schemeClr val="tx1"/>
                </a:solidFill>
                <a:latin typeface="Cambria" pitchFamily="34" charset="0"/>
                <a:ea typeface="Cambria" pitchFamily="34" charset="-122"/>
                <a:cs typeface="Cambria" pitchFamily="34" charset="-120"/>
              </a:rPr>
              <a:t>Model comparison: LightGBM is lowest on both datasets</a:t>
            </a:r>
            <a:endParaRPr lang="en-US" sz="3200" dirty="0"/>
          </a:p>
        </p:txBody>
      </p:sp>
      <p:sp>
        <p:nvSpPr>
          <p:cNvPr id="5" name="Text 3"/>
          <p:cNvSpPr txBox="1"/>
          <p:nvPr/>
        </p:nvSpPr>
        <p:spPr>
          <a:xfrm>
            <a:off x="548640" y="1874520"/>
            <a:ext cx="5394960" cy="36576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Store Item Demand</a:t>
            </a:r>
            <a:endParaRPr lang="en-US" sz="1800" dirty="0"/>
          </a:p>
        </p:txBody>
      </p:sp>
      <p:sp>
        <p:nvSpPr>
          <p:cNvPr id="6" name="Text 4"/>
          <p:cNvSpPr txBox="1"/>
          <p:nvPr/>
        </p:nvSpPr>
        <p:spPr>
          <a:xfrm>
            <a:off x="548640" y="2240280"/>
            <a:ext cx="5394960" cy="274320"/>
          </a:xfrm>
          <a:prstGeom prst="rect">
            <a:avLst/>
          </a:prstGeom>
          <a:noFill/>
          <a:ln/>
        </p:spPr>
        <p:txBody>
          <a:bodyPr wrap="square" lIns="0" tIns="0" rIns="0" bIns="0" rtlCol="0" anchor="ctr"/>
          <a:lstStyle/>
          <a:p>
            <a:pPr marL="0" indent="0">
              <a:buNone/>
            </a:pPr>
            <a:r>
              <a:rPr lang="en-US" sz="1200" b="1" kern="0" spc="200" dirty="0">
                <a:solidFill>
                  <a:schemeClr val="accent5"/>
                </a:solidFill>
                <a:latin typeface="Calibri" pitchFamily="34" charset="0"/>
                <a:ea typeface="Calibri" pitchFamily="34" charset="-122"/>
                <a:cs typeface="Calibri" pitchFamily="34" charset="-120"/>
              </a:rPr>
              <a:t>WAPE (%), lower is better</a:t>
            </a:r>
            <a:endParaRPr lang="en-US" sz="1200" dirty="0"/>
          </a:p>
        </p:txBody>
      </p:sp>
      <p:graphicFrame>
        <p:nvGraphicFramePr>
          <p:cNvPr id="7" name="Store Item Demand ranked WAPE chart"/>
          <p:cNvGraphicFramePr/>
          <p:nvPr/>
        </p:nvGraphicFramePr>
        <p:xfrm>
          <a:off x="548640" y="2560320"/>
          <a:ext cx="539496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txBox="1"/>
          <p:nvPr/>
        </p:nvSpPr>
        <p:spPr>
          <a:xfrm>
            <a:off x="548640" y="5623560"/>
            <a:ext cx="5394960" cy="548640"/>
          </a:xfrm>
          <a:prstGeom prst="rect">
            <a:avLst/>
          </a:prstGeom>
          <a:noFill/>
          <a:ln/>
        </p:spPr>
        <p:txBody>
          <a:bodyPr wrap="square" lIns="0" tIns="0" rIns="0" bIns="0" rtlCol="0" anchor="t"/>
          <a:lstStyle/>
          <a:p>
            <a:pPr marL="0" indent="0">
              <a:buNone/>
            </a:pPr>
            <a:r>
              <a:rPr lang="en-US" sz="1300" dirty="0">
                <a:solidFill>
                  <a:schemeClr val="accent5"/>
                </a:solidFill>
                <a:latin typeface="Calibri" pitchFamily="34" charset="0"/>
                <a:ea typeface="Calibri" pitchFamily="34" charset="-122"/>
                <a:cs typeface="Calibri" pitchFamily="34" charset="-120"/>
              </a:rPr>
              <a:t>Mean sales per store-item-day: 54.6. Bars start at 9.5% (not 0), so small gaps show.</a:t>
            </a:r>
            <a:endParaRPr lang="en-US" sz="1400" dirty="0"/>
          </a:p>
        </p:txBody>
      </p:sp>
      <p:sp>
        <p:nvSpPr>
          <p:cNvPr id="9" name="Shape 6"/>
          <p:cNvSpPr/>
          <p:nvPr/>
        </p:nvSpPr>
        <p:spPr>
          <a:xfrm>
            <a:off x="6099048" y="1874520"/>
            <a:ext cx="0" cy="4297680"/>
          </a:xfrm>
          <a:prstGeom prst="line">
            <a:avLst/>
          </a:prstGeom>
          <a:noFill/>
          <a:ln w="9525">
            <a:solidFill>
              <a:schemeClr val="accent3"/>
            </a:solidFill>
            <a:prstDash val="solid"/>
          </a:ln>
        </p:spPr>
        <p:txBody>
          <a:bodyPr/>
          <a:lstStyle/>
          <a:p>
            <a:endParaRPr/>
          </a:p>
        </p:txBody>
      </p:sp>
      <p:sp>
        <p:nvSpPr>
          <p:cNvPr id="10" name="Text 7"/>
          <p:cNvSpPr txBox="1"/>
          <p:nvPr/>
        </p:nvSpPr>
        <p:spPr>
          <a:xfrm>
            <a:off x="6245352" y="1874520"/>
            <a:ext cx="5394960" cy="36576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Rossmann</a:t>
            </a:r>
            <a:endParaRPr lang="en-US" sz="1800" dirty="0"/>
          </a:p>
        </p:txBody>
      </p:sp>
      <p:sp>
        <p:nvSpPr>
          <p:cNvPr id="11" name="Text 8"/>
          <p:cNvSpPr txBox="1"/>
          <p:nvPr/>
        </p:nvSpPr>
        <p:spPr>
          <a:xfrm>
            <a:off x="6245352" y="2240280"/>
            <a:ext cx="5394960" cy="274320"/>
          </a:xfrm>
          <a:prstGeom prst="rect">
            <a:avLst/>
          </a:prstGeom>
          <a:noFill/>
          <a:ln/>
        </p:spPr>
        <p:txBody>
          <a:bodyPr wrap="square" lIns="0" tIns="0" rIns="0" bIns="0" rtlCol="0" anchor="ctr"/>
          <a:lstStyle/>
          <a:p>
            <a:pPr marL="0" indent="0">
              <a:buNone/>
            </a:pPr>
            <a:r>
              <a:rPr lang="en-US" sz="1200" b="1" kern="0" spc="200" dirty="0">
                <a:solidFill>
                  <a:schemeClr val="accent5"/>
                </a:solidFill>
                <a:latin typeface="Calibri" pitchFamily="34" charset="0"/>
                <a:ea typeface="Calibri" pitchFamily="34" charset="-122"/>
                <a:cs typeface="Calibri" pitchFamily="34" charset="-120"/>
              </a:rPr>
              <a:t>WAPE (%), lower is better</a:t>
            </a:r>
            <a:endParaRPr lang="en-US" sz="1200" dirty="0"/>
          </a:p>
        </p:txBody>
      </p:sp>
      <p:graphicFrame>
        <p:nvGraphicFramePr>
          <p:cNvPr id="12" name="Rossmann ranked WAPE chart"/>
          <p:cNvGraphicFramePr/>
          <p:nvPr/>
        </p:nvGraphicFramePr>
        <p:xfrm>
          <a:off x="6245352" y="2560320"/>
          <a:ext cx="5394960" cy="3017520"/>
        </p:xfrm>
        <a:graphic>
          <a:graphicData uri="http://schemas.openxmlformats.org/drawingml/2006/chart">
            <c:chart xmlns:c="http://schemas.openxmlformats.org/drawingml/2006/chart" xmlns:r="http://schemas.openxmlformats.org/officeDocument/2006/relationships" r:id="rId4"/>
          </a:graphicData>
        </a:graphic>
      </p:graphicFrame>
      <p:sp>
        <p:nvSpPr>
          <p:cNvPr id="13" name="Text 9"/>
          <p:cNvSpPr txBox="1"/>
          <p:nvPr/>
        </p:nvSpPr>
        <p:spPr>
          <a:xfrm>
            <a:off x="6245352" y="5623560"/>
            <a:ext cx="5394960" cy="548640"/>
          </a:xfrm>
          <a:prstGeom prst="rect">
            <a:avLst/>
          </a:prstGeom>
          <a:noFill/>
          <a:ln/>
        </p:spPr>
        <p:txBody>
          <a:bodyPr wrap="square" lIns="0" tIns="0" rIns="0" bIns="0" rtlCol="0" anchor="t"/>
          <a:lstStyle/>
          <a:p>
            <a:pPr marL="0" indent="0">
              <a:buNone/>
            </a:pPr>
            <a:r>
              <a:rPr lang="en-US" sz="1300" dirty="0">
                <a:solidFill>
                  <a:schemeClr val="accent5"/>
                </a:solidFill>
                <a:latin typeface="Calibri" pitchFamily="34" charset="0"/>
                <a:ea typeface="Calibri" pitchFamily="34" charset="-122"/>
                <a:cs typeface="Calibri" pitchFamily="34" charset="-120"/>
              </a:rPr>
              <a:t>Mean sales per store-day: 6,979. Bars start at 7% (not 0), so small gaps show.</a:t>
            </a:r>
            <a:endParaRPr lang="en-US" sz="1400" dirty="0"/>
          </a:p>
        </p:txBody>
      </p:sp>
      <p:sp>
        <p:nvSpPr>
          <p:cNvPr id="25" name="Slide Number Placeholder 0"/>
          <p:cNvSpPr>
            <a:spLocks noGrp="1"/>
          </p:cNvSpPr>
          <p:nvPr>
            <p:ph type="sldNum" sz="quarter" idx="4294967295"/>
          </p:nvPr>
        </p:nvSpPr>
        <p:spPr>
          <a:xfrm>
            <a:off x="10698480" y="6473952"/>
            <a:ext cx="41148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lang="en-US" b="0"/>
              <a:t>13</a:t>
            </a:fld>
            <a:endParaRPr lang="en-US"/>
          </a:p>
        </p:txBody>
      </p:sp>
      <p:sp>
        <p:nvSpPr>
          <p:cNvPr id="26" name="Scale note"/>
          <p:cNvSpPr txBox="1"/>
          <p:nvPr/>
        </p:nvSpPr>
        <p:spPr>
          <a:xfrm>
            <a:off x="548640" y="6144768"/>
            <a:ext cx="11091672" cy="256032"/>
          </a:xfrm>
          <a:prstGeom prst="rect">
            <a:avLst/>
          </a:prstGeom>
          <a:noFill/>
        </p:spPr>
        <p:txBody>
          <a:bodyPr wrap="square" lIns="0" tIns="0" rIns="0" bIns="0">
            <a:spAutoFit/>
          </a:bodyPr>
          <a:lstStyle/>
          <a:p>
            <a:pPr>
              <a:spcAft>
                <a:spcPts val="600"/>
              </a:spcAft>
            </a:pPr>
            <a:r>
              <a:rPr sz="1200" b="0">
                <a:solidFill>
                  <a:srgbClr val="6B6B5E"/>
                </a:solidFill>
              </a:rPr>
              <a:t>MAE, MSE and RMSE are in each dataset's own sales units, so compare the two datasets by WAPE and R², not by raw errors.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ection marker"/>
          <p:cNvSpPr/>
          <p:nvPr/>
        </p:nvSpPr>
        <p:spPr>
          <a:xfrm>
            <a:off x="548640" y="420624"/>
            <a:ext cx="118872" cy="118872"/>
          </a:xfrm>
          <a:prstGeom prst="rect">
            <a:avLst/>
          </a:prstGeom>
          <a:solidFill>
            <a:schemeClr val="accent2"/>
          </a:solidFill>
          <a:ln w="12700">
            <a:solidFill>
              <a:schemeClr val="accent2"/>
            </a:solidFill>
            <a:prstDash val="solid"/>
          </a:ln>
        </p:spPr>
        <p:txBody>
          <a:bodyPr/>
          <a:lstStyle/>
          <a:p>
            <a:endParaRPr/>
          </a:p>
        </p:txBody>
      </p:sp>
      <p:sp>
        <p:nvSpPr>
          <p:cNvPr id="3" name="Section label"/>
          <p:cNvSpPr txBox="1"/>
          <p:nvPr/>
        </p:nvSpPr>
        <p:spPr>
          <a:xfrm>
            <a:off x="777240" y="347472"/>
            <a:ext cx="5486400" cy="274320"/>
          </a:xfrm>
          <a:prstGeom prst="rect">
            <a:avLst/>
          </a:prstGeom>
          <a:noFill/>
          <a:ln/>
        </p:spPr>
        <p:txBody>
          <a:bodyPr wrap="square" lIns="0" tIns="0" rIns="0" bIns="0" rtlCol="0" anchor="ctr"/>
          <a:lstStyle/>
          <a:p>
            <a:pPr marL="0" indent="0">
              <a:buNone/>
            </a:pPr>
            <a:r>
              <a:rPr lang="en-US" sz="1200" b="1" kern="0" spc="300" dirty="0">
                <a:solidFill>
                  <a:schemeClr val="accent5"/>
                </a:solidFill>
              </a:rPr>
              <a:t>13  KDD STAGE 5 | INTERPRETATION</a:t>
            </a:r>
            <a:endParaRPr lang="en-US" sz="1200" dirty="0"/>
          </a:p>
        </p:txBody>
      </p:sp>
      <p:sp>
        <p:nvSpPr>
          <p:cNvPr id="4" name="Text 3"/>
          <p:cNvSpPr>
            <a:spLocks noGrp="1"/>
          </p:cNvSpPr>
          <p:nvPr>
            <p:ph idx="103" hasCustomPrompt="1"/>
          </p:nvPr>
        </p:nvSpPr>
        <p:spPr>
          <a:xfrm>
            <a:off x="548640" y="777240"/>
            <a:ext cx="11091672" cy="1005840"/>
          </a:xfrm>
          <a:prstGeom prst="rect">
            <a:avLst/>
          </a:prstGeom>
          <a:noFill/>
          <a:ln/>
        </p:spPr>
        <p:txBody>
          <a:bodyPr wrap="square" lIns="0" tIns="0" rIns="0" bIns="0" rtlCol="0" anchor="t"/>
          <a:lstStyle/>
          <a:p>
            <a:pPr marL="0" indent="0">
              <a:buNone/>
            </a:pPr>
            <a:r>
              <a:rPr lang="en-US" sz="3200" b="1" dirty="0">
                <a:solidFill>
                  <a:schemeClr val="tx1"/>
                </a:solidFill>
                <a:latin typeface="Cambria" pitchFamily="34" charset="0"/>
                <a:ea typeface="Cambria" pitchFamily="34" charset="-122"/>
                <a:cs typeface="Cambria" pitchFamily="34" charset="-120"/>
              </a:rPr>
              <a:t>Interpretation: what drives the forecast</a:t>
            </a:r>
            <a:endParaRPr lang="en-US" sz="3200" dirty="0"/>
          </a:p>
        </p:txBody>
      </p:sp>
      <p:sp>
        <p:nvSpPr>
          <p:cNvPr id="5" name="Text 3"/>
          <p:cNvSpPr txBox="1"/>
          <p:nvPr/>
        </p:nvSpPr>
        <p:spPr>
          <a:xfrm>
            <a:off x="548640" y="1874520"/>
            <a:ext cx="5394960" cy="36576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Store Item Demand</a:t>
            </a:r>
            <a:endParaRPr lang="en-US" sz="1800" dirty="0"/>
          </a:p>
        </p:txBody>
      </p:sp>
      <p:sp>
        <p:nvSpPr>
          <p:cNvPr id="6" name="Text 4"/>
          <p:cNvSpPr txBox="1"/>
          <p:nvPr/>
        </p:nvSpPr>
        <p:spPr>
          <a:xfrm>
            <a:off x="548640" y="2240280"/>
            <a:ext cx="5394960" cy="274320"/>
          </a:xfrm>
          <a:prstGeom prst="rect">
            <a:avLst/>
          </a:prstGeom>
          <a:noFill/>
          <a:ln/>
        </p:spPr>
        <p:txBody>
          <a:bodyPr wrap="square" lIns="0" tIns="0" rIns="0" bIns="0" rtlCol="0" anchor="ctr"/>
          <a:lstStyle/>
          <a:p>
            <a:pPr marL="0" indent="0">
              <a:buNone/>
            </a:pPr>
            <a:r>
              <a:rPr lang="en-US" sz="1200" b="1" kern="0" spc="200" dirty="0">
                <a:solidFill>
                  <a:schemeClr val="accent5"/>
                </a:solidFill>
                <a:latin typeface="Calibri" pitchFamily="34" charset="0"/>
                <a:ea typeface="Calibri" pitchFamily="34" charset="-122"/>
                <a:cs typeface="Calibri" pitchFamily="34" charset="-120"/>
              </a:rPr>
              <a:t>Share of LightGBM's importance (%)</a:t>
            </a:r>
            <a:endParaRPr lang="en-US" sz="1200" dirty="0"/>
          </a:p>
        </p:txBody>
      </p:sp>
      <p:sp>
        <p:nvSpPr>
          <p:cNvPr id="8" name="Text 5"/>
          <p:cNvSpPr txBox="1"/>
          <p:nvPr/>
        </p:nvSpPr>
        <p:spPr>
          <a:xfrm>
            <a:off x="548640" y="5623560"/>
            <a:ext cx="5394960" cy="548640"/>
          </a:xfrm>
          <a:prstGeom prst="rect">
            <a:avLst/>
          </a:prstGeom>
          <a:noFill/>
          <a:ln/>
        </p:spPr>
        <p:txBody>
          <a:bodyPr wrap="square" lIns="0" tIns="0" rIns="0" bIns="0" rtlCol="0" anchor="t"/>
          <a:lstStyle/>
          <a:p>
            <a:pPr marL="0" indent="0">
              <a:buNone/>
            </a:pPr>
            <a:r>
              <a:rPr lang="en-US" sz="1300" dirty="0">
                <a:solidFill>
                  <a:schemeClr val="accent5"/>
                </a:solidFill>
                <a:latin typeface="Calibri" pitchFamily="34" charset="0"/>
                <a:ea typeface="Calibri" pitchFamily="34" charset="-122"/>
                <a:cs typeface="Calibri" pitchFamily="34" charset="-120"/>
              </a:rPr>
              <a:t>Past sales (dark bars) carry 98% of the importance. Sales from the same day last year matter most.</a:t>
            </a:r>
            <a:endParaRPr lang="en-US" sz="1400" dirty="0"/>
          </a:p>
        </p:txBody>
      </p:sp>
      <p:sp>
        <p:nvSpPr>
          <p:cNvPr id="9" name="Shape 6"/>
          <p:cNvSpPr/>
          <p:nvPr/>
        </p:nvSpPr>
        <p:spPr>
          <a:xfrm>
            <a:off x="6099048" y="1874520"/>
            <a:ext cx="0" cy="4297680"/>
          </a:xfrm>
          <a:prstGeom prst="line">
            <a:avLst/>
          </a:prstGeom>
          <a:noFill/>
          <a:ln w="9525">
            <a:solidFill>
              <a:schemeClr val="accent3"/>
            </a:solidFill>
            <a:prstDash val="solid"/>
          </a:ln>
        </p:spPr>
        <p:txBody>
          <a:bodyPr/>
          <a:lstStyle/>
          <a:p>
            <a:endParaRPr/>
          </a:p>
        </p:txBody>
      </p:sp>
      <p:sp>
        <p:nvSpPr>
          <p:cNvPr id="10" name="Text 7"/>
          <p:cNvSpPr txBox="1"/>
          <p:nvPr/>
        </p:nvSpPr>
        <p:spPr>
          <a:xfrm>
            <a:off x="6245352" y="1874520"/>
            <a:ext cx="5394960" cy="36576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Rossmann</a:t>
            </a:r>
            <a:endParaRPr lang="en-US" sz="1800" dirty="0"/>
          </a:p>
        </p:txBody>
      </p:sp>
      <p:sp>
        <p:nvSpPr>
          <p:cNvPr id="11" name="Text 8"/>
          <p:cNvSpPr txBox="1"/>
          <p:nvPr/>
        </p:nvSpPr>
        <p:spPr>
          <a:xfrm>
            <a:off x="6245352" y="2240280"/>
            <a:ext cx="5394960" cy="274320"/>
          </a:xfrm>
          <a:prstGeom prst="rect">
            <a:avLst/>
          </a:prstGeom>
          <a:noFill/>
          <a:ln/>
        </p:spPr>
        <p:txBody>
          <a:bodyPr wrap="square" lIns="0" tIns="0" rIns="0" bIns="0" rtlCol="0" anchor="ctr"/>
          <a:lstStyle/>
          <a:p>
            <a:pPr marL="0" indent="0">
              <a:buNone/>
            </a:pPr>
            <a:r>
              <a:rPr lang="en-US" sz="1200" b="1" kern="0" spc="200" dirty="0">
                <a:solidFill>
                  <a:schemeClr val="accent5"/>
                </a:solidFill>
                <a:latin typeface="Calibri" pitchFamily="34" charset="0"/>
                <a:ea typeface="Calibri" pitchFamily="34" charset="-122"/>
                <a:cs typeface="Calibri" pitchFamily="34" charset="-120"/>
              </a:rPr>
              <a:t>Share of LightGBM's importance (%)</a:t>
            </a:r>
            <a:endParaRPr lang="en-US" sz="1200" dirty="0"/>
          </a:p>
        </p:txBody>
      </p:sp>
      <p:sp>
        <p:nvSpPr>
          <p:cNvPr id="13" name="Text 9"/>
          <p:cNvSpPr txBox="1"/>
          <p:nvPr/>
        </p:nvSpPr>
        <p:spPr>
          <a:xfrm>
            <a:off x="6245352" y="5623560"/>
            <a:ext cx="5394960" cy="548640"/>
          </a:xfrm>
          <a:prstGeom prst="rect">
            <a:avLst/>
          </a:prstGeom>
          <a:noFill/>
          <a:ln/>
        </p:spPr>
        <p:txBody>
          <a:bodyPr wrap="square" lIns="0" tIns="0" rIns="0" bIns="0" rtlCol="0" anchor="t"/>
          <a:lstStyle/>
          <a:p>
            <a:pPr marL="0" indent="0">
              <a:buNone/>
            </a:pPr>
            <a:r>
              <a:rPr lang="en-US" sz="1300" dirty="0">
                <a:solidFill>
                  <a:schemeClr val="accent5"/>
                </a:solidFill>
                <a:latin typeface="Calibri" pitchFamily="34" charset="0"/>
                <a:ea typeface="Calibri" pitchFamily="34" charset="-122"/>
                <a:cs typeface="Calibri" pitchFamily="34" charset="-120"/>
              </a:rPr>
              <a:t>Past sales carry 86%. Promo (coral) is the main non-sales driver at about 7%.</a:t>
            </a:r>
            <a:endParaRPr lang="en-US" sz="1400" dirty="0"/>
          </a:p>
        </p:txBody>
      </p:sp>
      <p:sp>
        <p:nvSpPr>
          <p:cNvPr id="25" name="Slide Number Placeholder 0"/>
          <p:cNvSpPr>
            <a:spLocks noGrp="1"/>
          </p:cNvSpPr>
          <p:nvPr>
            <p:ph type="sldNum" sz="quarter" idx="4294967295"/>
          </p:nvPr>
        </p:nvSpPr>
        <p:spPr>
          <a:xfrm>
            <a:off x="10698480" y="6473952"/>
            <a:ext cx="41148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lang="en-US" b="0"/>
              <a:t>14</a:t>
            </a:fld>
            <a:endParaRPr lang="en-US"/>
          </a:p>
        </p:txBody>
      </p:sp>
      <p:graphicFrame>
        <p:nvGraphicFramePr>
          <p:cNvPr id="26" name="Chart 25"/>
          <p:cNvGraphicFramePr>
            <a:graphicFrameLocks noGrp="1"/>
          </p:cNvGraphicFramePr>
          <p:nvPr/>
        </p:nvGraphicFramePr>
        <p:xfrm>
          <a:off x="548640" y="2560320"/>
          <a:ext cx="5394960" cy="30175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7" name="Chart 26"/>
          <p:cNvGraphicFramePr>
            <a:graphicFrameLocks noGrp="1"/>
          </p:cNvGraphicFramePr>
          <p:nvPr/>
        </p:nvGraphicFramePr>
        <p:xfrm>
          <a:off x="6245352" y="2560320"/>
          <a:ext cx="5394960" cy="301752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ection marker"/>
          <p:cNvSpPr/>
          <p:nvPr/>
        </p:nvSpPr>
        <p:spPr>
          <a:xfrm>
            <a:off x="548640" y="420624"/>
            <a:ext cx="118872" cy="118872"/>
          </a:xfrm>
          <a:prstGeom prst="rect">
            <a:avLst/>
          </a:prstGeom>
          <a:solidFill>
            <a:schemeClr val="accent2"/>
          </a:solidFill>
          <a:ln w="12700">
            <a:solidFill>
              <a:schemeClr val="accent2"/>
            </a:solidFill>
            <a:prstDash val="solid"/>
          </a:ln>
        </p:spPr>
        <p:txBody>
          <a:bodyPr/>
          <a:lstStyle/>
          <a:p>
            <a:endParaRPr/>
          </a:p>
        </p:txBody>
      </p:sp>
      <p:sp>
        <p:nvSpPr>
          <p:cNvPr id="3" name="Section label"/>
          <p:cNvSpPr txBox="1"/>
          <p:nvPr/>
        </p:nvSpPr>
        <p:spPr>
          <a:xfrm>
            <a:off x="777240" y="347472"/>
            <a:ext cx="5486400" cy="274320"/>
          </a:xfrm>
          <a:prstGeom prst="rect">
            <a:avLst/>
          </a:prstGeom>
          <a:noFill/>
          <a:ln/>
        </p:spPr>
        <p:txBody>
          <a:bodyPr wrap="square" lIns="0" tIns="0" rIns="0" bIns="0" rtlCol="0" anchor="ctr"/>
          <a:lstStyle/>
          <a:p>
            <a:pPr marL="0" indent="0">
              <a:buNone/>
            </a:pPr>
            <a:r>
              <a:rPr lang="en-US" sz="1200" b="1" kern="0" spc="300" dirty="0">
                <a:solidFill>
                  <a:schemeClr val="accent5"/>
                </a:solidFill>
              </a:rPr>
              <a:t>14  KDD STAGE 6 | CONCLUSION</a:t>
            </a:r>
            <a:endParaRPr lang="en-US" sz="1200" dirty="0"/>
          </a:p>
        </p:txBody>
      </p:sp>
      <p:sp>
        <p:nvSpPr>
          <p:cNvPr id="4" name="Text 3"/>
          <p:cNvSpPr>
            <a:spLocks noGrp="1"/>
          </p:cNvSpPr>
          <p:nvPr>
            <p:ph idx="103" hasCustomPrompt="1"/>
          </p:nvPr>
        </p:nvSpPr>
        <p:spPr>
          <a:xfrm>
            <a:off x="548640" y="777240"/>
            <a:ext cx="11091672" cy="1005840"/>
          </a:xfrm>
          <a:prstGeom prst="rect">
            <a:avLst/>
          </a:prstGeom>
          <a:noFill/>
          <a:ln/>
        </p:spPr>
        <p:txBody>
          <a:bodyPr wrap="square" lIns="0" tIns="0" rIns="0" bIns="0" rtlCol="0" anchor="t"/>
          <a:lstStyle/>
          <a:p>
            <a:pPr marL="0" indent="0">
              <a:buNone/>
            </a:pPr>
            <a:r>
              <a:rPr lang="en-US" sz="3200" b="1" dirty="0">
                <a:solidFill>
                  <a:schemeClr val="tx1"/>
                </a:solidFill>
                <a:latin typeface="Cambria" pitchFamily="34" charset="0"/>
                <a:ea typeface="Cambria" pitchFamily="34" charset="-122"/>
                <a:cs typeface="Cambria" pitchFamily="34" charset="-120"/>
              </a:rPr>
              <a:t>Conclusion: LightGBM is best on both datasets</a:t>
            </a:r>
            <a:endParaRPr lang="en-US" sz="3200" dirty="0"/>
          </a:p>
        </p:txBody>
      </p:sp>
      <p:sp>
        <p:nvSpPr>
          <p:cNvPr id="5" name="Shape 3"/>
          <p:cNvSpPr/>
          <p:nvPr/>
        </p:nvSpPr>
        <p:spPr>
          <a:xfrm>
            <a:off x="548640" y="1920240"/>
            <a:ext cx="6675120" cy="0"/>
          </a:xfrm>
          <a:prstGeom prst="line">
            <a:avLst/>
          </a:prstGeom>
          <a:noFill/>
          <a:ln w="19050">
            <a:solidFill>
              <a:schemeClr val="tx2"/>
            </a:solidFill>
            <a:prstDash val="solid"/>
          </a:ln>
        </p:spPr>
        <p:txBody>
          <a:bodyPr/>
          <a:lstStyle/>
          <a:p>
            <a:endParaRPr/>
          </a:p>
        </p:txBody>
      </p:sp>
      <p:sp>
        <p:nvSpPr>
          <p:cNvPr id="6" name="Text 4"/>
          <p:cNvSpPr txBox="1"/>
          <p:nvPr/>
        </p:nvSpPr>
        <p:spPr>
          <a:xfrm>
            <a:off x="548640" y="2011680"/>
            <a:ext cx="6675120" cy="274320"/>
          </a:xfrm>
          <a:prstGeom prst="rect">
            <a:avLst/>
          </a:prstGeom>
          <a:noFill/>
          <a:ln/>
        </p:spPr>
        <p:txBody>
          <a:bodyPr wrap="square" lIns="0" tIns="0" rIns="0" bIns="0" rtlCol="0" anchor="ctr"/>
          <a:lstStyle/>
          <a:p>
            <a:pPr marL="0" indent="0">
              <a:buNone/>
            </a:pPr>
            <a:r>
              <a:rPr lang="en-US" sz="1200" b="1" kern="0" spc="300" dirty="0">
                <a:solidFill>
                  <a:schemeClr val="accent2"/>
                </a:solidFill>
                <a:latin typeface="Calibri" pitchFamily="34" charset="0"/>
                <a:ea typeface="Calibri" pitchFamily="34" charset="-122"/>
                <a:cs typeface="Calibri" pitchFamily="34" charset="-120"/>
              </a:rPr>
              <a:t>FINDING</a:t>
            </a:r>
            <a:endParaRPr lang="en-US" sz="1200" dirty="0"/>
          </a:p>
        </p:txBody>
      </p:sp>
      <p:sp>
        <p:nvSpPr>
          <p:cNvPr id="7" name="Text 5"/>
          <p:cNvSpPr txBox="1"/>
          <p:nvPr/>
        </p:nvSpPr>
        <p:spPr>
          <a:xfrm>
            <a:off x="548640" y="2331720"/>
            <a:ext cx="6675120" cy="960120"/>
          </a:xfrm>
          <a:prstGeom prst="rect">
            <a:avLst/>
          </a:prstGeom>
          <a:noFill/>
          <a:ln/>
        </p:spPr>
        <p:txBody>
          <a:bodyPr wrap="square" lIns="0" tIns="0" rIns="0" bIns="0" rtlCol="0" anchor="t"/>
          <a:lstStyle/>
          <a:p>
            <a:pPr marL="0" indent="0">
              <a:buNone/>
            </a:pPr>
            <a:r>
              <a:rPr lang="en-US" sz="1600" dirty="0">
                <a:solidFill>
                  <a:schemeClr val="tx1"/>
                </a:solidFill>
                <a:latin typeface="Calibri" pitchFamily="34" charset="0"/>
                <a:ea typeface="Calibri" pitchFamily="34" charset="-122"/>
                <a:cs typeface="Calibri" pitchFamily="34" charset="-120"/>
              </a:rPr>
              <a:t>LightGBM gave the lowest MAE, MSE, RMSE and WAPE and the highest R² on both datasets: MAE 5.87 and R² 0.928 for Store Item Demand, MAE </a:t>
            </a:r>
            <a:r>
              <a:rPr lang="en-US" sz="1600" dirty="0" smtClean="0">
                <a:solidFill>
                  <a:schemeClr val="tx1"/>
                </a:solidFill>
                <a:latin typeface="Calibri" pitchFamily="34" charset="0"/>
                <a:ea typeface="Calibri" pitchFamily="34" charset="-122"/>
                <a:cs typeface="Calibri" pitchFamily="34" charset="-120"/>
              </a:rPr>
              <a:t>552 and </a:t>
            </a:r>
            <a:r>
              <a:rPr lang="en-US" sz="1600" dirty="0">
                <a:solidFill>
                  <a:schemeClr val="tx1"/>
                </a:solidFill>
                <a:latin typeface="Calibri" pitchFamily="34" charset="0"/>
                <a:ea typeface="Calibri" pitchFamily="34" charset="-122"/>
                <a:cs typeface="Calibri" pitchFamily="34" charset="-120"/>
              </a:rPr>
              <a:t>R² 0.930 for Rossmann.</a:t>
            </a:r>
            <a:endParaRPr lang="en-US" sz="1600" dirty="0"/>
          </a:p>
        </p:txBody>
      </p:sp>
      <p:sp>
        <p:nvSpPr>
          <p:cNvPr id="8" name="Shape 6"/>
          <p:cNvSpPr/>
          <p:nvPr/>
        </p:nvSpPr>
        <p:spPr>
          <a:xfrm>
            <a:off x="548640" y="3383280"/>
            <a:ext cx="6675120" cy="0"/>
          </a:xfrm>
          <a:prstGeom prst="line">
            <a:avLst/>
          </a:prstGeom>
          <a:noFill/>
          <a:ln w="19050">
            <a:solidFill>
              <a:schemeClr val="tx2"/>
            </a:solidFill>
            <a:prstDash val="solid"/>
          </a:ln>
        </p:spPr>
        <p:txBody>
          <a:bodyPr/>
          <a:lstStyle/>
          <a:p>
            <a:endParaRPr/>
          </a:p>
        </p:txBody>
      </p:sp>
      <p:sp>
        <p:nvSpPr>
          <p:cNvPr id="9" name="Text 7"/>
          <p:cNvSpPr txBox="1"/>
          <p:nvPr/>
        </p:nvSpPr>
        <p:spPr>
          <a:xfrm>
            <a:off x="548640" y="3474720"/>
            <a:ext cx="6675120" cy="274320"/>
          </a:xfrm>
          <a:prstGeom prst="rect">
            <a:avLst/>
          </a:prstGeom>
          <a:noFill/>
          <a:ln/>
        </p:spPr>
        <p:txBody>
          <a:bodyPr wrap="square" lIns="0" tIns="0" rIns="0" bIns="0" rtlCol="0" anchor="ctr"/>
          <a:lstStyle/>
          <a:p>
            <a:pPr marL="0" indent="0">
              <a:buNone/>
            </a:pPr>
            <a:r>
              <a:rPr lang="en-US" sz="1200" b="1" kern="0" spc="300" dirty="0">
                <a:solidFill>
                  <a:schemeClr val="accent2"/>
                </a:solidFill>
                <a:latin typeface="Calibri" pitchFamily="34" charset="0"/>
                <a:ea typeface="Calibri" pitchFamily="34" charset="-122"/>
                <a:cs typeface="Calibri" pitchFamily="34" charset="-120"/>
              </a:rPr>
              <a:t>IMPLICATION</a:t>
            </a:r>
            <a:endParaRPr lang="en-US" sz="1200" dirty="0"/>
          </a:p>
        </p:txBody>
      </p:sp>
      <p:sp>
        <p:nvSpPr>
          <p:cNvPr id="10" name="Text 8"/>
          <p:cNvSpPr txBox="1"/>
          <p:nvPr/>
        </p:nvSpPr>
        <p:spPr>
          <a:xfrm>
            <a:off x="548640" y="3794760"/>
            <a:ext cx="6675120" cy="960120"/>
          </a:xfrm>
          <a:prstGeom prst="rect">
            <a:avLst/>
          </a:prstGeom>
          <a:noFill/>
          <a:ln/>
        </p:spPr>
        <p:txBody>
          <a:bodyPr wrap="square" lIns="0" tIns="0" rIns="0" bIns="0" rtlCol="0" anchor="t"/>
          <a:lstStyle/>
          <a:p>
            <a:pPr marL="0" indent="0">
              <a:buNone/>
            </a:pPr>
            <a:r>
              <a:rPr lang="en-US" sz="1600" dirty="0">
                <a:solidFill>
                  <a:schemeClr val="tx1"/>
                </a:solidFill>
                <a:latin typeface="Calibri" pitchFamily="34" charset="0"/>
                <a:ea typeface="Calibri" pitchFamily="34" charset="-122"/>
                <a:cs typeface="Calibri" pitchFamily="34" charset="-120"/>
              </a:rPr>
              <a:t>Average errors of about 11% (store-item level) and 8% (store level) make the forecast a useful guide for replenishment and safety-stock planning.</a:t>
            </a:r>
            <a:endParaRPr lang="en-US" sz="1600" dirty="0"/>
          </a:p>
        </p:txBody>
      </p:sp>
      <p:sp>
        <p:nvSpPr>
          <p:cNvPr id="11" name="Shape 9"/>
          <p:cNvSpPr/>
          <p:nvPr/>
        </p:nvSpPr>
        <p:spPr>
          <a:xfrm>
            <a:off x="548640" y="4846320"/>
            <a:ext cx="6675120" cy="0"/>
          </a:xfrm>
          <a:prstGeom prst="line">
            <a:avLst/>
          </a:prstGeom>
          <a:noFill/>
          <a:ln w="19050">
            <a:solidFill>
              <a:schemeClr val="tx2"/>
            </a:solidFill>
            <a:prstDash val="solid"/>
          </a:ln>
        </p:spPr>
        <p:txBody>
          <a:bodyPr/>
          <a:lstStyle/>
          <a:p>
            <a:endParaRPr/>
          </a:p>
        </p:txBody>
      </p:sp>
      <p:sp>
        <p:nvSpPr>
          <p:cNvPr id="12" name="Text 10"/>
          <p:cNvSpPr txBox="1"/>
          <p:nvPr/>
        </p:nvSpPr>
        <p:spPr>
          <a:xfrm>
            <a:off x="548640" y="4937760"/>
            <a:ext cx="6675120" cy="274320"/>
          </a:xfrm>
          <a:prstGeom prst="rect">
            <a:avLst/>
          </a:prstGeom>
          <a:noFill/>
          <a:ln/>
        </p:spPr>
        <p:txBody>
          <a:bodyPr wrap="square" lIns="0" tIns="0" rIns="0" bIns="0" rtlCol="0" anchor="ctr"/>
          <a:lstStyle/>
          <a:p>
            <a:pPr marL="0" indent="0">
              <a:buNone/>
            </a:pPr>
            <a:r>
              <a:rPr lang="en-US" sz="1200" b="1" kern="0" spc="300" dirty="0">
                <a:solidFill>
                  <a:schemeClr val="accent2"/>
                </a:solidFill>
                <a:latin typeface="Calibri" pitchFamily="34" charset="0"/>
                <a:ea typeface="Calibri" pitchFamily="34" charset="-122"/>
                <a:cs typeface="Calibri" pitchFamily="34" charset="-120"/>
              </a:rPr>
              <a:t>LIMITATIONS</a:t>
            </a:r>
            <a:endParaRPr lang="en-US" sz="1200" dirty="0"/>
          </a:p>
        </p:txBody>
      </p:sp>
      <p:sp>
        <p:nvSpPr>
          <p:cNvPr id="13" name="Text 11"/>
          <p:cNvSpPr txBox="1"/>
          <p:nvPr/>
        </p:nvSpPr>
        <p:spPr>
          <a:xfrm>
            <a:off x="548640" y="5257800"/>
            <a:ext cx="6675120" cy="960120"/>
          </a:xfrm>
          <a:prstGeom prst="rect">
            <a:avLst/>
          </a:prstGeom>
          <a:noFill/>
          <a:ln/>
        </p:spPr>
        <p:txBody>
          <a:bodyPr wrap="square" lIns="0" tIns="0" rIns="0" bIns="0" rtlCol="0" anchor="t"/>
          <a:lstStyle/>
          <a:p>
            <a:pPr marL="0" indent="0">
              <a:buNone/>
            </a:pPr>
            <a:r>
              <a:rPr lang="en-US" sz="1600" dirty="0">
                <a:solidFill>
                  <a:schemeClr val="tx1"/>
                </a:solidFill>
                <a:latin typeface="Calibri" pitchFamily="34" charset="0"/>
                <a:ea typeface="Calibri" pitchFamily="34" charset="-122"/>
                <a:cs typeface="Calibri" pitchFamily="34" charset="-120"/>
              </a:rPr>
              <a:t>One-day-ahead forecasts that use actual recent sales, one chronological split and fixed model settings. Error values of the two datasets are on different scales.</a:t>
            </a:r>
            <a:endParaRPr lang="en-US" sz="1600" dirty="0"/>
          </a:p>
        </p:txBody>
      </p:sp>
      <p:sp>
        <p:nvSpPr>
          <p:cNvPr id="25" name="Slide Number Placeholder 0"/>
          <p:cNvSpPr>
            <a:spLocks noGrp="1"/>
          </p:cNvSpPr>
          <p:nvPr>
            <p:ph type="sldNum" sz="quarter" idx="4294967295"/>
          </p:nvPr>
        </p:nvSpPr>
        <p:spPr>
          <a:xfrm>
            <a:off x="10698480" y="6473952"/>
            <a:ext cx="41148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lang="en-US" b="0"/>
              <a:t>15</a:t>
            </a:fld>
            <a:endParaRPr lang="en-US"/>
          </a:p>
        </p:txBody>
      </p:sp>
      <p:sp>
        <p:nvSpPr>
          <p:cNvPr id="26" name="Future heading"/>
          <p:cNvSpPr txBox="1"/>
          <p:nvPr/>
        </p:nvSpPr>
        <p:spPr>
          <a:xfrm>
            <a:off x="7909560" y="1920240"/>
            <a:ext cx="3520440" cy="274320"/>
          </a:xfrm>
          <a:prstGeom prst="rect">
            <a:avLst/>
          </a:prstGeom>
          <a:noFill/>
        </p:spPr>
        <p:txBody>
          <a:bodyPr wrap="square" lIns="0" tIns="0" rIns="0" bIns="0">
            <a:spAutoFit/>
          </a:bodyPr>
          <a:lstStyle/>
          <a:p>
            <a:pPr>
              <a:spcAft>
                <a:spcPts val="600"/>
              </a:spcAft>
            </a:pPr>
            <a:r>
              <a:rPr sz="1200" b="1">
                <a:solidFill>
                  <a:srgbClr val="D9674F"/>
                </a:solidFill>
              </a:rPr>
              <a:t>FUTURE SCOPE</a:t>
            </a:r>
          </a:p>
        </p:txBody>
      </p:sp>
      <p:sp>
        <p:nvSpPr>
          <p:cNvPr id="27" name="Future body"/>
          <p:cNvSpPr txBox="1"/>
          <p:nvPr/>
        </p:nvSpPr>
        <p:spPr>
          <a:xfrm>
            <a:off x="7909560" y="2286000"/>
            <a:ext cx="3520440" cy="3931920"/>
          </a:xfrm>
          <a:prstGeom prst="rect">
            <a:avLst/>
          </a:prstGeom>
          <a:noFill/>
        </p:spPr>
        <p:txBody>
          <a:bodyPr wrap="square" lIns="0" tIns="0" rIns="0" bIns="0">
            <a:spAutoFit/>
          </a:bodyPr>
          <a:lstStyle/>
          <a:p>
            <a:pPr>
              <a:spcAft>
                <a:spcPts val="800"/>
              </a:spcAft>
            </a:pPr>
            <a:r>
              <a:rPr sz="1400" b="0">
                <a:solidFill>
                  <a:srgbClr val="2B2B2B"/>
                </a:solidFill>
              </a:rPr>
              <a:t>Forecast several weeks ahead</a:t>
            </a:r>
          </a:p>
          <a:p>
            <a:pPr>
              <a:spcAft>
                <a:spcPts val="800"/>
              </a:spcAft>
            </a:pPr>
            <a:r>
              <a:rPr sz="1400" b="0">
                <a:solidFill>
                  <a:srgbClr val="2B2B2B"/>
                </a:solidFill>
              </a:rPr>
              <a:t>Validate on rolling time windows</a:t>
            </a:r>
          </a:p>
          <a:p>
            <a:pPr>
              <a:spcAft>
                <a:spcPts val="800"/>
              </a:spcAft>
            </a:pPr>
            <a:r>
              <a:rPr sz="1400" b="0">
                <a:solidFill>
                  <a:srgbClr val="2B2B2B"/>
                </a:solidFill>
              </a:rPr>
              <a:t>Tune model settings</a:t>
            </a:r>
          </a:p>
          <a:p>
            <a:pPr>
              <a:spcAft>
                <a:spcPts val="800"/>
              </a:spcAft>
            </a:pPr>
            <a:r>
              <a:rPr sz="1400" b="0">
                <a:solidFill>
                  <a:srgbClr val="2B2B2B"/>
                </a:solidFill>
              </a:rPr>
              <a:t>Add more demand drivers, such as price or local events</a:t>
            </a:r>
          </a:p>
        </p:txBody>
      </p:sp>
    </p:spTree>
  </p:cSld>
  <p:clrMapOvr>
    <a:masterClrMapping/>
  </p:clrMapOvr>
</p:sld>
</file>

<file path=ppt/theme/theme1.xml><?xml version="1.0" encoding="utf-8"?>
<a:theme xmlns:a="http://schemas.openxmlformats.org/drawingml/2006/main" name="Editorial Forest">
  <a:themeElements>
    <a:clrScheme name="Editorial Forest">
      <a:dk1>
        <a:srgbClr val="2B2B2B"/>
      </a:dk1>
      <a:lt1>
        <a:srgbClr val="F6F1E7"/>
      </a:lt1>
      <a:dk2>
        <a:srgbClr val="1F3D2E"/>
      </a:dk2>
      <a:lt2>
        <a:srgbClr val="E6DCC8"/>
      </a:lt2>
      <a:accent1>
        <a:srgbClr val="1F3D2E"/>
      </a:accent1>
      <a:accent2>
        <a:srgbClr val="D9674F"/>
      </a:accent2>
      <a:accent3>
        <a:srgbClr val="8FA595"/>
      </a:accent3>
      <a:accent4>
        <a:srgbClr val="E6DCC8"/>
      </a:accent4>
      <a:accent5>
        <a:srgbClr val="6B6B63"/>
      </a:accent5>
      <a:accent6>
        <a:srgbClr val="2E5A44"/>
      </a:accent6>
      <a:hlink>
        <a:srgbClr val="D9674F"/>
      </a:hlink>
      <a:folHlink>
        <a:srgbClr val="6B6B63"/>
      </a:folHlink>
    </a:clrScheme>
    <a:fontScheme name="Editorial Fores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TotalTime>
  <Words>2405</Words>
  <Application>Microsoft Office PowerPoint</Application>
  <PresentationFormat>Widescreen</PresentationFormat>
  <Paragraphs>368</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vt:lpstr>
      <vt:lpstr>Consolas</vt:lpstr>
      <vt:lpstr>Editorial Forest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Demand Forecasting for Supply Chain Optimization Using Historical Sales Data</dc:title>
  <dc:subject>PptxGenJS Presentation</dc:subject>
  <dc:creator>Akshu</dc:creator>
  <cp:lastModifiedBy>HP</cp:lastModifiedBy>
  <cp:revision>6</cp:revision>
  <dcterms:created xsi:type="dcterms:W3CDTF">2026-10-18T04:40:53Z</dcterms:created>
  <dcterms:modified xsi:type="dcterms:W3CDTF">2026-10-23T11:58:02Z</dcterms:modified>
</cp:coreProperties>
</file>